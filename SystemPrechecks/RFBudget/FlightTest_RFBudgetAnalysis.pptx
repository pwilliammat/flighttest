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7"/>
  </p:notesMasterIdLst>
  <p:handoutMasterIdLst>
    <p:handoutMasterId r:id="rId18"/>
  </p:handoutMasterIdLst>
  <p:sldIdLst>
    <p:sldId id="256" r:id="rId5"/>
    <p:sldId id="330" r:id="rId6"/>
    <p:sldId id="300" r:id="rId7"/>
    <p:sldId id="324" r:id="rId8"/>
    <p:sldId id="322" r:id="rId9"/>
    <p:sldId id="325" r:id="rId10"/>
    <p:sldId id="329" r:id="rId11"/>
    <p:sldId id="326" r:id="rId12"/>
    <p:sldId id="327" r:id="rId13"/>
    <p:sldId id="328" r:id="rId14"/>
    <p:sldId id="331" r:id="rId15"/>
    <p:sldId id="33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1"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FF6400"/>
    <a:srgbClr val="228B22"/>
    <a:srgbClr val="A020F6"/>
    <a:srgbClr val="0000FF"/>
    <a:srgbClr val="636569"/>
    <a:srgbClr val="715091"/>
    <a:srgbClr val="176DAD"/>
    <a:srgbClr val="0D78C9"/>
    <a:srgbClr val="024C8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941E3DC-91C7-4B68-B0E8-48C3C22EA590}" v="1" dt="2026-02-19T18:38:31.87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4" d="100"/>
          <a:sy n="114" d="100"/>
        </p:scale>
        <p:origin x="-272" y="736"/>
      </p:cViewPr>
      <p:guideLst>
        <p:guide orient="horz" pos="2160"/>
        <p:guide pos="3841"/>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t Williamson" userId="c2622403-1416-4695-8e81-5ad00798e81e" providerId="ADAL" clId="{36F9A799-28FB-40DD-A2E4-6028CB96DAC0}"/>
    <pc:docChg chg="custSel addSld modSld">
      <pc:chgData name="Pat Williamson" userId="c2622403-1416-4695-8e81-5ad00798e81e" providerId="ADAL" clId="{36F9A799-28FB-40DD-A2E4-6028CB96DAC0}" dt="2026-02-19T18:38:31.874" v="636"/>
      <pc:docMkLst>
        <pc:docMk/>
      </pc:docMkLst>
      <pc:sldChg chg="addSp modSp">
        <pc:chgData name="Pat Williamson" userId="c2622403-1416-4695-8e81-5ad00798e81e" providerId="ADAL" clId="{36F9A799-28FB-40DD-A2E4-6028CB96DAC0}" dt="2026-02-19T18:38:31.874" v="636"/>
        <pc:sldMkLst>
          <pc:docMk/>
          <pc:sldMk cId="0" sldId="256"/>
        </pc:sldMkLst>
        <pc:spChg chg="add mod">
          <ac:chgData name="Pat Williamson" userId="c2622403-1416-4695-8e81-5ad00798e81e" providerId="ADAL" clId="{36F9A799-28FB-40DD-A2E4-6028CB96DAC0}" dt="2026-02-19T18:38:31.874" v="636"/>
          <ac:spMkLst>
            <pc:docMk/>
            <pc:sldMk cId="0" sldId="256"/>
            <ac:spMk id="4" creationId="{DAD0AC4C-F428-0F79-4985-6B855778D27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F993C83-2184-4286-ABE1-941A40B40C8F}" type="datetimeFigureOut">
              <a:rPr lang="en-US" smtClean="0"/>
              <a:pPr/>
              <a:t>2/19/2026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F7603001-E0F2-47E5-A338-816CC267AF60}" type="slidenum">
              <a:rPr lang="en-US" smtClean="0"/>
              <a:pPr/>
              <a:t>‹#›</a:t>
            </a:fld>
            <a:endParaRPr lang="en-US"/>
          </a:p>
        </p:txBody>
      </p:sp>
    </p:spTree>
    <p:extLst>
      <p:ext uri="{BB962C8B-B14F-4D97-AF65-F5344CB8AC3E}">
        <p14:creationId xmlns:p14="http://schemas.microsoft.com/office/powerpoint/2010/main" val="21536578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053241F-7ED4-45AC-844C-15DB0D5F9CCD}" type="datetimeFigureOut">
              <a:rPr lang="en-US" smtClean="0"/>
              <a:pPr/>
              <a:t>2/19/2026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D73B8C3-A209-4A55-9261-22C2A02B3159}" type="slidenum">
              <a:rPr lang="en-US" smtClean="0"/>
              <a:pPr/>
              <a:t>‹#›</a:t>
            </a:fld>
            <a:endParaRPr lang="en-US"/>
          </a:p>
        </p:txBody>
      </p:sp>
    </p:spTree>
    <p:extLst>
      <p:ext uri="{BB962C8B-B14F-4D97-AF65-F5344CB8AC3E}">
        <p14:creationId xmlns:p14="http://schemas.microsoft.com/office/powerpoint/2010/main" val="1744081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Background" descr="bluemesh.jpg"/>
          <p:cNvPicPr>
            <a:picLocks noChangeAspect="1"/>
          </p:cNvPicPr>
          <p:nvPr userDrawn="1"/>
        </p:nvPicPr>
        <p:blipFill>
          <a:blip r:embed="rId2" cstate="print"/>
          <a:stretch>
            <a:fillRect/>
          </a:stretch>
        </p:blipFill>
        <p:spPr>
          <a:xfrm>
            <a:off x="-4067" y="1287"/>
            <a:ext cx="12209092" cy="6856713"/>
          </a:xfrm>
          <a:prstGeom prst="rect">
            <a:avLst/>
          </a:prstGeom>
        </p:spPr>
      </p:pic>
      <p:sp>
        <p:nvSpPr>
          <p:cNvPr id="21" name="Title"/>
          <p:cNvSpPr>
            <a:spLocks noGrp="1"/>
          </p:cNvSpPr>
          <p:nvPr>
            <p:ph type="ctrTitle"/>
          </p:nvPr>
        </p:nvSpPr>
        <p:spPr>
          <a:xfrm>
            <a:off x="914400" y="914400"/>
            <a:ext cx="10363200" cy="1828800"/>
          </a:xfrm>
        </p:spPr>
        <p:txBody>
          <a:bodyPr/>
          <a:lstStyle>
            <a:lvl1pPr algn="l">
              <a:defRPr sz="3200">
                <a:solidFill>
                  <a:schemeClr val="tx2"/>
                </a:solidFill>
              </a:defRPr>
            </a:lvl1pPr>
          </a:lstStyle>
          <a:p>
            <a:r>
              <a:rPr lang="en-US"/>
              <a:t>Click to edit Master title style</a:t>
            </a:r>
          </a:p>
        </p:txBody>
      </p:sp>
      <p:sp>
        <p:nvSpPr>
          <p:cNvPr id="22" name="Subtitle"/>
          <p:cNvSpPr>
            <a:spLocks noGrp="1"/>
          </p:cNvSpPr>
          <p:nvPr>
            <p:ph type="subTitle" idx="1"/>
          </p:nvPr>
        </p:nvSpPr>
        <p:spPr>
          <a:xfrm>
            <a:off x="914400" y="3203579"/>
            <a:ext cx="10363200" cy="987425"/>
          </a:xfrm>
        </p:spPr>
        <p:txBody>
          <a:bodyPr>
            <a:normAutofit/>
          </a:bodyPr>
          <a:lstStyle>
            <a:lvl1pPr marL="0" indent="0" algn="l">
              <a:buNone/>
              <a:defRPr sz="1604" b="0">
                <a:solidFill>
                  <a:schemeClr val="tx1"/>
                </a:solidFill>
              </a:defRPr>
            </a:lvl1pPr>
            <a:lvl2pPr marL="458340" indent="0" algn="ctr">
              <a:buNone/>
              <a:defRPr>
                <a:solidFill>
                  <a:schemeClr val="tx1">
                    <a:tint val="75000"/>
                  </a:schemeClr>
                </a:solidFill>
              </a:defRPr>
            </a:lvl2pPr>
            <a:lvl3pPr marL="916680" indent="0" algn="ctr">
              <a:buNone/>
              <a:defRPr>
                <a:solidFill>
                  <a:schemeClr val="tx1">
                    <a:tint val="75000"/>
                  </a:schemeClr>
                </a:solidFill>
              </a:defRPr>
            </a:lvl3pPr>
            <a:lvl4pPr marL="1375020" indent="0" algn="ctr">
              <a:buNone/>
              <a:defRPr>
                <a:solidFill>
                  <a:schemeClr val="tx1">
                    <a:tint val="75000"/>
                  </a:schemeClr>
                </a:solidFill>
              </a:defRPr>
            </a:lvl4pPr>
            <a:lvl5pPr marL="1833361" indent="0" algn="ctr">
              <a:buNone/>
              <a:defRPr>
                <a:solidFill>
                  <a:schemeClr val="tx1">
                    <a:tint val="75000"/>
                  </a:schemeClr>
                </a:solidFill>
              </a:defRPr>
            </a:lvl5pPr>
            <a:lvl6pPr marL="2291701" indent="0" algn="ctr">
              <a:buNone/>
              <a:defRPr>
                <a:solidFill>
                  <a:schemeClr val="tx1">
                    <a:tint val="75000"/>
                  </a:schemeClr>
                </a:solidFill>
              </a:defRPr>
            </a:lvl6pPr>
            <a:lvl7pPr marL="2750041" indent="0" algn="ctr">
              <a:buNone/>
              <a:defRPr>
                <a:solidFill>
                  <a:schemeClr val="tx1">
                    <a:tint val="75000"/>
                  </a:schemeClr>
                </a:solidFill>
              </a:defRPr>
            </a:lvl7pPr>
            <a:lvl8pPr marL="3208381" indent="0" algn="ctr">
              <a:buNone/>
              <a:defRPr>
                <a:solidFill>
                  <a:schemeClr val="tx1">
                    <a:tint val="75000"/>
                  </a:schemeClr>
                </a:solidFill>
              </a:defRPr>
            </a:lvl8pPr>
            <a:lvl9pPr marL="3666721" indent="0" algn="ctr">
              <a:buNone/>
              <a:defRPr>
                <a:solidFill>
                  <a:schemeClr val="tx1">
                    <a:tint val="75000"/>
                  </a:schemeClr>
                </a:solidFill>
              </a:defRPr>
            </a:lvl9pPr>
          </a:lstStyle>
          <a:p>
            <a:r>
              <a:rPr lang="en-US"/>
              <a:t>Click to edit Master subtitle style</a:t>
            </a:r>
          </a:p>
        </p:txBody>
      </p:sp>
      <p:sp>
        <p:nvSpPr>
          <p:cNvPr id="23" name="Copyright"/>
          <p:cNvSpPr txBox="1"/>
          <p:nvPr userDrawn="1"/>
        </p:nvSpPr>
        <p:spPr>
          <a:xfrm>
            <a:off x="10227052" y="6527632"/>
            <a:ext cx="2438400" cy="246221"/>
          </a:xfrm>
          <a:prstGeom prst="rect">
            <a:avLst/>
          </a:prstGeom>
          <a:noFill/>
        </p:spPr>
        <p:txBody>
          <a:bodyPr wrap="square" rtlCol="0">
            <a:spAutoFit/>
          </a:bodyPr>
          <a:lstStyle/>
          <a:p>
            <a:r>
              <a:rPr lang="en-US" sz="1003">
                <a:solidFill>
                  <a:schemeClr val="bg1"/>
                </a:solidFill>
                <a:latin typeface="Arial" pitchFamily="34" charset="0"/>
                <a:cs typeface="Arial" pitchFamily="34" charset="0"/>
              </a:rPr>
              <a:t>© </a:t>
            </a:r>
            <a:fld id="{43FEC7B2-4A3C-43EA-A52A-F8DED3FD6DAC}" type="datetimeyyyy">
              <a:rPr lang="en-US" sz="1003" smtClean="0">
                <a:solidFill>
                  <a:schemeClr val="bg1"/>
                </a:solidFill>
                <a:latin typeface="Arial" pitchFamily="34" charset="0"/>
                <a:cs typeface="Arial" pitchFamily="34" charset="0"/>
              </a:rPr>
              <a:t>2026</a:t>
            </a:fld>
            <a:r>
              <a:rPr lang="en-US" sz="1003">
                <a:solidFill>
                  <a:schemeClr val="bg1"/>
                </a:solidFill>
                <a:latin typeface="Arial" pitchFamily="34" charset="0"/>
                <a:cs typeface="Arial" pitchFamily="34" charset="0"/>
              </a:rPr>
              <a:t> The MathWorks, Inc.</a:t>
            </a:r>
          </a:p>
        </p:txBody>
      </p:sp>
      <p:cxnSp>
        <p:nvCxnSpPr>
          <p:cNvPr id="26" name="GrayLine"/>
          <p:cNvCxnSpPr/>
          <p:nvPr userDrawn="1"/>
        </p:nvCxnSpPr>
        <p:spPr>
          <a:xfrm>
            <a:off x="-4067" y="4376652"/>
            <a:ext cx="12209092" cy="0"/>
          </a:xfrm>
          <a:prstGeom prst="line">
            <a:avLst/>
          </a:prstGeom>
          <a:ln w="57150">
            <a:solidFill>
              <a:schemeClr val="bg1">
                <a:lumMod val="65000"/>
              </a:schemeClr>
            </a:solidFill>
          </a:ln>
        </p:spPr>
        <p:style>
          <a:lnRef idx="1">
            <a:schemeClr val="dk1"/>
          </a:lnRef>
          <a:fillRef idx="0">
            <a:schemeClr val="dk1"/>
          </a:fillRef>
          <a:effectRef idx="0">
            <a:schemeClr val="dk1"/>
          </a:effectRef>
          <a:fontRef idx="minor">
            <a:schemeClr val="tx1"/>
          </a:fontRef>
        </p:style>
      </p:cxnSp>
      <p:pic>
        <p:nvPicPr>
          <p:cNvPr id="9" name="Logo" descr="09_MW_logo_CMYK_REV.png"/>
          <p:cNvPicPr>
            <a:picLocks noChangeAspect="1"/>
          </p:cNvPicPr>
          <p:nvPr userDrawn="1"/>
        </p:nvPicPr>
        <p:blipFill>
          <a:blip r:embed="rId3" cstate="print"/>
          <a:stretch>
            <a:fillRect/>
          </a:stretch>
        </p:blipFill>
        <p:spPr>
          <a:xfrm>
            <a:off x="10330730" y="141139"/>
            <a:ext cx="1620665" cy="320591"/>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p:cNvSpPr>
            <a:spLocks noGrp="1"/>
          </p:cNvSpPr>
          <p:nvPr>
            <p:ph type="title"/>
          </p:nvPr>
        </p:nvSpPr>
        <p:spPr>
          <a:xfrm>
            <a:off x="609602" y="457200"/>
            <a:ext cx="10769600" cy="990600"/>
          </a:xfrm>
        </p:spPr>
        <p:txBody>
          <a:bodyPr/>
          <a:lstStyle>
            <a:lvl1pPr>
              <a:defRPr sz="2800" baseline="0">
                <a:solidFill>
                  <a:schemeClr val="tx2"/>
                </a:solidFill>
              </a:defRPr>
            </a:lvl1pPr>
          </a:lstStyle>
          <a:p>
            <a:r>
              <a:rPr lang="en-US"/>
              <a:t>Click to edit Master title style</a:t>
            </a:r>
          </a:p>
        </p:txBody>
      </p:sp>
      <p:sp>
        <p:nvSpPr>
          <p:cNvPr id="3" name="Content"/>
          <p:cNvSpPr>
            <a:spLocks noGrp="1"/>
          </p:cNvSpPr>
          <p:nvPr>
            <p:ph idx="1"/>
          </p:nvPr>
        </p:nvSpPr>
        <p:spPr>
          <a:xfrm>
            <a:off x="609602" y="1600200"/>
            <a:ext cx="10769600" cy="4648200"/>
          </a:xfrm>
        </p:spPr>
        <p:txBody>
          <a:bodyPr/>
          <a:lstStyle>
            <a:lvl1pPr>
              <a:buSzPct val="75000"/>
              <a:defRPr sz="2400"/>
            </a:lvl1pPr>
            <a:lvl2pPr>
              <a:lnSpc>
                <a:spcPct val="105000"/>
              </a:lnSpc>
              <a:defRPr sz="2000"/>
            </a:lvl2pPr>
            <a:lvl3pPr>
              <a:lnSpc>
                <a:spcPct val="105000"/>
              </a:lnSpc>
              <a:buSzPct val="75000"/>
              <a:defRPr sz="1604"/>
            </a:lvl3pPr>
            <a:lvl4pPr>
              <a:lnSpc>
                <a:spcPct val="105000"/>
              </a:lnSpc>
              <a:defRPr/>
            </a:lvl4pPr>
            <a:lvl5pPr>
              <a:lnSpc>
                <a:spcPct val="105000"/>
              </a:lnSpc>
              <a:defRPr/>
            </a:lvl5pPr>
          </a:lstStyle>
          <a:p>
            <a:pPr lvl="0"/>
            <a:r>
              <a:rPr lang="en-US"/>
              <a:t>Click to edit Master text styles</a:t>
            </a:r>
          </a:p>
          <a:p>
            <a:pPr lvl="1"/>
            <a:r>
              <a:rPr lang="en-US"/>
              <a:t>Second level</a:t>
            </a:r>
          </a:p>
          <a:p>
            <a:pPr lvl="2"/>
            <a:r>
              <a:rPr lang="en-US"/>
              <a:t>Third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p:cNvSpPr>
            <a:spLocks noGrp="1"/>
          </p:cNvSpPr>
          <p:nvPr>
            <p:ph type="title"/>
          </p:nvPr>
        </p:nvSpPr>
        <p:spPr>
          <a:xfrm>
            <a:off x="609602" y="457200"/>
            <a:ext cx="10769600" cy="990600"/>
          </a:xfrm>
        </p:spPr>
        <p:txBody>
          <a:bodyPr/>
          <a:lstStyle/>
          <a:p>
            <a:r>
              <a:rPr lang="en-US"/>
              <a:t>Click to edit Master title style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Feature">
    <p:spTree>
      <p:nvGrpSpPr>
        <p:cNvPr id="1" name=""/>
        <p:cNvGrpSpPr/>
        <p:nvPr/>
      </p:nvGrpSpPr>
      <p:grpSpPr>
        <a:xfrm>
          <a:off x="0" y="0"/>
          <a:ext cx="0" cy="0"/>
          <a:chOff x="0" y="0"/>
          <a:chExt cx="0" cy="0"/>
        </a:xfrm>
      </p:grpSpPr>
      <p:sp>
        <p:nvSpPr>
          <p:cNvPr id="10" name="Title"/>
          <p:cNvSpPr>
            <a:spLocks noGrp="1"/>
          </p:cNvSpPr>
          <p:nvPr>
            <p:ph type="title"/>
          </p:nvPr>
        </p:nvSpPr>
        <p:spPr>
          <a:xfrm>
            <a:off x="609600" y="457200"/>
            <a:ext cx="9448800" cy="990600"/>
          </a:xfrm>
        </p:spPr>
        <p:txBody>
          <a:bodyPr anchor="t" anchorCtr="0"/>
          <a:lstStyle>
            <a:lvl1pPr algn="l">
              <a:defRPr sz="2800" b="0" i="0">
                <a:solidFill>
                  <a:schemeClr val="tx2"/>
                </a:solidFill>
              </a:defRPr>
            </a:lvl1pPr>
          </a:lstStyle>
          <a:p>
            <a:r>
              <a:rPr lang="en-US"/>
              <a:t>Click to edit Master title style</a:t>
            </a:r>
          </a:p>
        </p:txBody>
      </p:sp>
      <p:sp>
        <p:nvSpPr>
          <p:cNvPr id="11" name="Content"/>
          <p:cNvSpPr>
            <a:spLocks noGrp="1"/>
          </p:cNvSpPr>
          <p:nvPr>
            <p:ph sz="half" idx="10" hasCustomPrompt="1"/>
          </p:nvPr>
        </p:nvSpPr>
        <p:spPr>
          <a:xfrm>
            <a:off x="609601" y="2819400"/>
            <a:ext cx="5080001" cy="3200400"/>
          </a:xfrm>
        </p:spPr>
        <p:txBody>
          <a:bodyPr/>
          <a:lstStyle>
            <a:lvl1pPr>
              <a:buClr>
                <a:srgbClr val="125687"/>
              </a:buClr>
              <a:buSzTx/>
              <a:defRPr sz="1800" baseline="0"/>
            </a:lvl1pPr>
            <a:lvl2pPr>
              <a:defRPr sz="1604"/>
            </a:lvl2pPr>
            <a:lvl3pPr>
              <a:buNone/>
              <a:defRPr sz="1604"/>
            </a:lvl3pPr>
            <a:lvl4pPr>
              <a:defRPr sz="1805"/>
            </a:lvl4pPr>
            <a:lvl5pPr>
              <a:defRPr sz="1805"/>
            </a:lvl5pPr>
            <a:lvl6pPr>
              <a:defRPr sz="1805"/>
            </a:lvl6pPr>
            <a:lvl7pPr>
              <a:defRPr sz="1805"/>
            </a:lvl7pPr>
            <a:lvl8pPr>
              <a:defRPr sz="1805"/>
            </a:lvl8pPr>
            <a:lvl9pPr>
              <a:defRPr sz="1805"/>
            </a:lvl9pPr>
          </a:lstStyle>
          <a:p>
            <a:pPr lvl="0">
              <a:buClr>
                <a:srgbClr val="125687"/>
              </a:buClr>
              <a:buSzTx/>
            </a:pPr>
            <a:r>
              <a:rPr lang="en-US"/>
              <a:t>Click to add b</a:t>
            </a:r>
            <a:r>
              <a:rPr lang="en-US" sz="1805">
                <a:solidFill>
                  <a:prstClr val="black"/>
                </a:solidFill>
              </a:rPr>
              <a:t>rief summary and benefits of feature (ideally three bullets)</a:t>
            </a:r>
          </a:p>
          <a:p>
            <a:pPr lvl="1"/>
            <a:r>
              <a:rPr lang="en-US"/>
              <a:t>Second level</a:t>
            </a:r>
          </a:p>
        </p:txBody>
      </p:sp>
      <p:sp>
        <p:nvSpPr>
          <p:cNvPr id="13" name="Headline"/>
          <p:cNvSpPr>
            <a:spLocks noGrp="1"/>
          </p:cNvSpPr>
          <p:nvPr>
            <p:ph type="body" sz="quarter" idx="11" hasCustomPrompt="1"/>
          </p:nvPr>
        </p:nvSpPr>
        <p:spPr>
          <a:xfrm>
            <a:off x="609601" y="1600200"/>
            <a:ext cx="5080001" cy="838200"/>
          </a:xfrm>
        </p:spPr>
        <p:txBody>
          <a:bodyPr anchor="t"/>
          <a:lstStyle>
            <a:lvl1pPr marL="0" indent="0" algn="l">
              <a:buNone/>
              <a:defRPr sz="2000" b="0" i="0" baseline="0"/>
            </a:lvl1pPr>
          </a:lstStyle>
          <a:p>
            <a:pPr lvl="0"/>
            <a:r>
              <a:rPr lang="en-US"/>
              <a:t>Click to add headline</a:t>
            </a:r>
            <a:r>
              <a:rPr lang="en-US" sz="2005" b="1">
                <a:solidFill>
                  <a:prstClr val="black"/>
                </a:solidFill>
              </a:rPr>
              <a:t> providing value of feature</a:t>
            </a:r>
            <a:endParaRPr lang="en-US"/>
          </a:p>
        </p:txBody>
      </p:sp>
      <p:sp>
        <p:nvSpPr>
          <p:cNvPr id="14" name="ProductName"/>
          <p:cNvSpPr>
            <a:spLocks noGrp="1"/>
          </p:cNvSpPr>
          <p:nvPr>
            <p:ph type="body" sz="half" idx="12" hasCustomPrompt="1"/>
          </p:nvPr>
        </p:nvSpPr>
        <p:spPr>
          <a:xfrm>
            <a:off x="609602" y="6172200"/>
            <a:ext cx="5473700" cy="533400"/>
          </a:xfrm>
        </p:spPr>
        <p:txBody>
          <a:bodyPr anchor="b" anchorCtr="0"/>
          <a:lstStyle>
            <a:lvl1pPr marL="230761" indent="-229170">
              <a:buClrTx/>
              <a:buSzPct val="125000"/>
              <a:buFont typeface="Courier New" pitchFamily="49" charset="0"/>
              <a:buChar char="»"/>
              <a:defRPr sz="1604" b="0">
                <a:latin typeface="Courier New" pitchFamily="49" charset="0"/>
                <a:cs typeface="Courier New" pitchFamily="49" charset="0"/>
              </a:defRPr>
            </a:lvl1pPr>
          </a:lstStyle>
          <a:p>
            <a:pPr lvl="0"/>
            <a:r>
              <a:rPr lang="en-US"/>
              <a:t>Click to add </a:t>
            </a:r>
            <a:r>
              <a:rPr lang="en-US" sz="1604" err="1">
                <a:latin typeface="Courier New" pitchFamily="49" charset="0"/>
                <a:cs typeface="Courier New" pitchFamily="49" charset="0"/>
              </a:rPr>
              <a:t>product_example_name</a:t>
            </a:r>
            <a:r>
              <a:rPr lang="en-US" sz="1604">
                <a:latin typeface="Courier New" pitchFamily="49" charset="0"/>
                <a:cs typeface="Courier New" pitchFamily="49" charset="0"/>
              </a:rPr>
              <a:t>.</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963084" y="1914529"/>
            <a:ext cx="10363200" cy="1362075"/>
          </a:xfrm>
        </p:spPr>
        <p:txBody>
          <a:bodyPr anchor="t"/>
          <a:lstStyle>
            <a:lvl1pPr algn="ctr">
              <a:defRPr sz="3200" b="0" cap="none">
                <a:solidFill>
                  <a:schemeClr val="tx2"/>
                </a:solidFill>
              </a:defRPr>
            </a:lvl1pPr>
          </a:lstStyle>
          <a:p>
            <a:r>
              <a:rPr lang="en-US"/>
              <a:t>Click to edit Section Header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p:cNvSpPr>
            <a:spLocks noGrp="1"/>
          </p:cNvSpPr>
          <p:nvPr>
            <p:ph type="title"/>
          </p:nvPr>
        </p:nvSpPr>
        <p:spPr>
          <a:xfrm>
            <a:off x="609602" y="457200"/>
            <a:ext cx="10769600" cy="990600"/>
          </a:xfrm>
        </p:spPr>
        <p:txBody>
          <a:bodyPr/>
          <a:lstStyle>
            <a:lvl1pPr>
              <a:defRPr>
                <a:solidFill>
                  <a:schemeClr val="tx2"/>
                </a:solidFill>
              </a:defRPr>
            </a:lvl1pPr>
          </a:lstStyle>
          <a:p>
            <a:r>
              <a:rPr lang="en-US"/>
              <a:t>Click to edit Master title style</a:t>
            </a:r>
          </a:p>
        </p:txBody>
      </p:sp>
      <p:sp>
        <p:nvSpPr>
          <p:cNvPr id="3" name="LeftContent"/>
          <p:cNvSpPr>
            <a:spLocks noGrp="1"/>
          </p:cNvSpPr>
          <p:nvPr>
            <p:ph sz="half" idx="1"/>
          </p:nvPr>
        </p:nvSpPr>
        <p:spPr>
          <a:xfrm>
            <a:off x="609602" y="1600200"/>
            <a:ext cx="5181600" cy="4648199"/>
          </a:xfrm>
        </p:spPr>
        <p:txBody>
          <a:bodyPr/>
          <a:lstStyle>
            <a:lvl1pPr>
              <a:defRPr sz="2400"/>
            </a:lvl1pPr>
            <a:lvl2pPr>
              <a:defRPr sz="2000"/>
            </a:lvl2pPr>
            <a:lvl3pPr>
              <a:defRPr sz="1604"/>
            </a:lvl3pPr>
            <a:lvl4pPr>
              <a:defRPr sz="1805"/>
            </a:lvl4pPr>
            <a:lvl5pPr>
              <a:defRPr sz="1805"/>
            </a:lvl5pPr>
            <a:lvl6pPr>
              <a:defRPr sz="1805"/>
            </a:lvl6pPr>
            <a:lvl7pPr>
              <a:defRPr sz="1805"/>
            </a:lvl7pPr>
            <a:lvl8pPr>
              <a:defRPr sz="1805"/>
            </a:lvl8pPr>
            <a:lvl9pPr>
              <a:defRPr sz="1805"/>
            </a:lvl9pPr>
          </a:lstStyle>
          <a:p>
            <a:pPr lvl="0"/>
            <a:r>
              <a:rPr lang="en-US"/>
              <a:t>Click to edit Master text styles</a:t>
            </a:r>
          </a:p>
          <a:p>
            <a:pPr lvl="1"/>
            <a:r>
              <a:rPr lang="en-US"/>
              <a:t>Second level</a:t>
            </a:r>
          </a:p>
          <a:p>
            <a:pPr lvl="2"/>
            <a:r>
              <a:rPr lang="en-US"/>
              <a:t>Third level</a:t>
            </a:r>
          </a:p>
        </p:txBody>
      </p:sp>
      <p:sp>
        <p:nvSpPr>
          <p:cNvPr id="4" name="RightContent"/>
          <p:cNvSpPr>
            <a:spLocks noGrp="1"/>
          </p:cNvSpPr>
          <p:nvPr>
            <p:ph sz="half" idx="2"/>
          </p:nvPr>
        </p:nvSpPr>
        <p:spPr>
          <a:xfrm>
            <a:off x="6197602" y="1600200"/>
            <a:ext cx="5181600" cy="4648199"/>
          </a:xfrm>
        </p:spPr>
        <p:txBody>
          <a:bodyPr/>
          <a:lstStyle>
            <a:lvl1pPr>
              <a:defRPr sz="2400"/>
            </a:lvl1pPr>
            <a:lvl2pPr>
              <a:defRPr sz="2000"/>
            </a:lvl2pPr>
            <a:lvl3pPr>
              <a:defRPr sz="1604"/>
            </a:lvl3pPr>
            <a:lvl4pPr>
              <a:defRPr sz="1805"/>
            </a:lvl4pPr>
            <a:lvl5pPr>
              <a:defRPr sz="1805"/>
            </a:lvl5pPr>
            <a:lvl6pPr>
              <a:defRPr sz="1805"/>
            </a:lvl6pPr>
            <a:lvl7pPr>
              <a:defRPr sz="1805"/>
            </a:lvl7pPr>
            <a:lvl8pPr>
              <a:defRPr sz="1805"/>
            </a:lvl8pPr>
            <a:lvl9pPr>
              <a:defRPr sz="1805"/>
            </a:lvl9pPr>
          </a:lstStyle>
          <a:p>
            <a:pPr lvl="0"/>
            <a:r>
              <a:rPr lang="en-US"/>
              <a:t>Click to edit Master text styles</a:t>
            </a:r>
          </a:p>
          <a:p>
            <a:pPr lvl="1"/>
            <a:r>
              <a:rPr lang="en-US"/>
              <a:t>Second level</a:t>
            </a:r>
          </a:p>
          <a:p>
            <a:pPr lvl="2"/>
            <a:r>
              <a:rPr lang="en-US"/>
              <a:t>Third level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4" name="Content"/>
          <p:cNvSpPr txBox="1">
            <a:spLocks noChangeArrowheads="1"/>
          </p:cNvSpPr>
          <p:nvPr userDrawn="1"/>
        </p:nvSpPr>
        <p:spPr bwMode="auto">
          <a:xfrm>
            <a:off x="607484" y="1600200"/>
            <a:ext cx="10765536" cy="4648200"/>
          </a:xfrm>
          <a:prstGeom prst="rect">
            <a:avLst/>
          </a:prstGeom>
          <a:noFill/>
          <a:ln w="9525">
            <a:noFill/>
            <a:miter lim="800000"/>
            <a:headEnd/>
            <a:tailEnd/>
          </a:ln>
          <a:effectLst/>
        </p:spPr>
        <p:txBody>
          <a:bodyPr wrap="none"/>
          <a:lstStyle/>
          <a:p>
            <a:pPr marL="342164" lvl="0" indent="-342164">
              <a:buClr>
                <a:schemeClr val="tx2"/>
              </a:buClr>
              <a:buSzPct val="75000"/>
              <a:buFont typeface="Wingdings" pitchFamily="2" charset="2"/>
              <a:buChar char="§"/>
              <a:tabLst>
                <a:tab pos="458340" algn="l"/>
              </a:tabLst>
            </a:pPr>
            <a:r>
              <a:rPr lang="en-US" sz="2400">
                <a:latin typeface="Arial" pitchFamily="34" charset="0"/>
                <a:cs typeface="Arial" pitchFamily="34" charset="0"/>
              </a:rPr>
              <a:t>Edit</a:t>
            </a:r>
            <a:r>
              <a:rPr lang="en-US" sz="2400" baseline="0">
                <a:latin typeface="Arial" pitchFamily="34" charset="0"/>
                <a:cs typeface="Arial" pitchFamily="34" charset="0"/>
              </a:rPr>
              <a:t> in Slide Master view to e</a:t>
            </a:r>
            <a:r>
              <a:rPr lang="en-US" sz="2400">
                <a:latin typeface="Arial" pitchFamily="34" charset="0"/>
                <a:cs typeface="Arial" pitchFamily="34" charset="0"/>
              </a:rPr>
              <a:t>nter agenda items</a:t>
            </a:r>
          </a:p>
          <a:p>
            <a:pPr marL="342164" lvl="0" indent="-342164">
              <a:buClr>
                <a:schemeClr val="tx2"/>
              </a:buClr>
              <a:buSzPct val="75000"/>
              <a:buFont typeface="Wingdings" pitchFamily="2" charset="2"/>
              <a:buChar char="§"/>
              <a:tabLst>
                <a:tab pos="458340" algn="l"/>
              </a:tabLst>
            </a:pPr>
            <a:r>
              <a:rPr lang="en-US" sz="2400">
                <a:latin typeface="Arial" pitchFamily="34" charset="0"/>
                <a:cs typeface="Arial" pitchFamily="34" charset="0"/>
              </a:rPr>
              <a:t>Bullet 2</a:t>
            </a:r>
          </a:p>
          <a:p>
            <a:pPr marL="342164" lvl="0" indent="-342164">
              <a:buClr>
                <a:schemeClr val="tx2"/>
              </a:buClr>
              <a:buSzPct val="75000"/>
              <a:buFont typeface="Wingdings" pitchFamily="2" charset="2"/>
              <a:buChar char="§"/>
              <a:tabLst>
                <a:tab pos="458340" algn="l"/>
              </a:tabLst>
            </a:pPr>
            <a:r>
              <a:rPr lang="en-US" sz="2400">
                <a:latin typeface="Arial" pitchFamily="34" charset="0"/>
                <a:cs typeface="Arial" pitchFamily="34" charset="0"/>
              </a:rPr>
              <a:t>Bullet</a:t>
            </a:r>
            <a:r>
              <a:rPr lang="en-US" sz="2400" baseline="0">
                <a:latin typeface="Arial" pitchFamily="34" charset="0"/>
                <a:cs typeface="Arial" pitchFamily="34" charset="0"/>
              </a:rPr>
              <a:t> 3</a:t>
            </a:r>
          </a:p>
          <a:p>
            <a:pPr marL="342164" lvl="0" indent="-342164">
              <a:buClr>
                <a:schemeClr val="tx2"/>
              </a:buClr>
              <a:buSzPct val="75000"/>
              <a:buFont typeface="Wingdings" pitchFamily="2" charset="2"/>
              <a:buChar char="§"/>
              <a:tabLst>
                <a:tab pos="458340" algn="l"/>
              </a:tabLst>
            </a:pPr>
            <a:r>
              <a:rPr lang="en-US" sz="2400" baseline="0">
                <a:latin typeface="Arial" pitchFamily="34" charset="0"/>
                <a:cs typeface="Arial" pitchFamily="34" charset="0"/>
              </a:rPr>
              <a:t>Bullet 4</a:t>
            </a:r>
          </a:p>
          <a:p>
            <a:pPr marL="342164" lvl="0" indent="-342164">
              <a:buClr>
                <a:schemeClr val="tx2"/>
              </a:buClr>
              <a:buSzPct val="75000"/>
              <a:buFont typeface="Wingdings" pitchFamily="2" charset="2"/>
              <a:buChar char="§"/>
              <a:tabLst>
                <a:tab pos="458340" algn="l"/>
              </a:tabLst>
            </a:pPr>
            <a:endParaRPr lang="en-US" sz="2400">
              <a:latin typeface="Arial" pitchFamily="34" charset="0"/>
              <a:cs typeface="Arial" pitchFamily="34" charset="0"/>
            </a:endParaRPr>
          </a:p>
        </p:txBody>
      </p:sp>
      <p:sp>
        <p:nvSpPr>
          <p:cNvPr id="5" name="Title"/>
          <p:cNvSpPr txBox="1">
            <a:spLocks noChangeArrowheads="1"/>
          </p:cNvSpPr>
          <p:nvPr userDrawn="1"/>
        </p:nvSpPr>
        <p:spPr bwMode="auto">
          <a:xfrm>
            <a:off x="607484" y="464695"/>
            <a:ext cx="10765536" cy="1143000"/>
          </a:xfrm>
          <a:prstGeom prst="rect">
            <a:avLst/>
          </a:prstGeom>
          <a:noFill/>
          <a:ln w="9525">
            <a:noFill/>
            <a:miter lim="800000"/>
            <a:headEnd/>
            <a:tailEnd/>
          </a:ln>
          <a:effectLst/>
        </p:spPr>
        <p:txBody>
          <a:bodyPr wrap="none"/>
          <a:lstStyle/>
          <a:p>
            <a:pPr marL="0" marR="0" indent="0" algn="l" defTabSz="916680" rtl="0" eaLnBrk="1" fontAlgn="auto" latinLnBrk="0" hangingPunct="1">
              <a:lnSpc>
                <a:spcPct val="100000"/>
              </a:lnSpc>
              <a:spcBef>
                <a:spcPts val="0"/>
              </a:spcBef>
              <a:spcAft>
                <a:spcPts val="0"/>
              </a:spcAft>
              <a:buClrTx/>
              <a:buSzTx/>
              <a:buFontTx/>
              <a:buNone/>
              <a:tabLst/>
              <a:defRPr/>
            </a:pPr>
            <a:r>
              <a:rPr lang="en-US" sz="2800" b="0">
                <a:solidFill>
                  <a:schemeClr val="tx2"/>
                </a:solidFill>
                <a:latin typeface="Arial" pitchFamily="34" charset="0"/>
                <a:cs typeface="Arial" pitchFamily="34" charset="0"/>
              </a:rPr>
              <a:t>Edit in Slide</a:t>
            </a:r>
            <a:r>
              <a:rPr lang="en-US" sz="2800" b="0" baseline="0">
                <a:solidFill>
                  <a:schemeClr val="tx2"/>
                </a:solidFill>
                <a:latin typeface="Arial" pitchFamily="34" charset="0"/>
                <a:cs typeface="Arial" pitchFamily="34" charset="0"/>
              </a:rPr>
              <a:t> Master view to e</a:t>
            </a:r>
            <a:r>
              <a:rPr lang="en-US" sz="2800" b="0">
                <a:solidFill>
                  <a:schemeClr val="tx2"/>
                </a:solidFill>
                <a:latin typeface="Arial" pitchFamily="34" charset="0"/>
                <a:cs typeface="Arial" pitchFamily="34" charset="0"/>
              </a:rPr>
              <a:t>nter agenda</a:t>
            </a:r>
            <a:r>
              <a:rPr lang="en-US" sz="2800" b="0" baseline="0">
                <a:solidFill>
                  <a:schemeClr val="tx2"/>
                </a:solidFill>
                <a:latin typeface="Arial" pitchFamily="34" charset="0"/>
                <a:cs typeface="Arial" pitchFamily="34" charset="0"/>
              </a:rPr>
              <a:t> title</a:t>
            </a:r>
            <a:endParaRPr lang="en-US" sz="2800" b="0">
              <a:solidFill>
                <a:schemeClr val="tx2"/>
              </a:solidFill>
              <a:latin typeface="Arial" pitchFamily="34" charset="0"/>
              <a:cs typeface="Arial"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cNvSpPr>
            <a:spLocks noGrp="1"/>
          </p:cNvSpPr>
          <p:nvPr>
            <p:ph type="title"/>
          </p:nvPr>
        </p:nvSpPr>
        <p:spPr>
          <a:xfrm>
            <a:off x="609602" y="457200"/>
            <a:ext cx="10769600" cy="990600"/>
          </a:xfrm>
          <a:prstGeom prst="rect">
            <a:avLst/>
          </a:prstGeom>
        </p:spPr>
        <p:txBody>
          <a:bodyPr vert="horz" lIns="91440" tIns="45720" rIns="91440" bIns="45720" rtlCol="0" anchor="t" anchorCtr="0">
            <a:noAutofit/>
          </a:bodyPr>
          <a:lstStyle/>
          <a:p>
            <a:r>
              <a:rPr lang="en-US"/>
              <a:t>Click to edit Master title style</a:t>
            </a:r>
          </a:p>
        </p:txBody>
      </p:sp>
      <p:sp>
        <p:nvSpPr>
          <p:cNvPr id="3" name="Content"/>
          <p:cNvSpPr>
            <a:spLocks noGrp="1"/>
          </p:cNvSpPr>
          <p:nvPr>
            <p:ph type="body" idx="1"/>
          </p:nvPr>
        </p:nvSpPr>
        <p:spPr>
          <a:xfrm>
            <a:off x="609602" y="1600200"/>
            <a:ext cx="10769600" cy="4648200"/>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p:txBody>
      </p:sp>
      <p:sp>
        <p:nvSpPr>
          <p:cNvPr id="8" name="SlideNumber"/>
          <p:cNvSpPr/>
          <p:nvPr/>
        </p:nvSpPr>
        <p:spPr>
          <a:xfrm>
            <a:off x="11582400" y="6484954"/>
            <a:ext cx="609600" cy="381001"/>
          </a:xfrm>
          <a:prstGeom prst="rect">
            <a:avLst/>
          </a:prstGeom>
          <a:noFill/>
          <a:ln w="12700">
            <a:noFill/>
          </a:ln>
        </p:spPr>
        <p:txBody>
          <a:bodyPr wrap="square" anchor="ctr">
            <a:noAutofit/>
          </a:bodyPr>
          <a:lstStyle/>
          <a:p>
            <a:pPr algn="ctr"/>
            <a:fld id="{47FBD1EF-0801-4063-B668-C71608ACC70F}" type="slidenum">
              <a:rPr kumimoji="0" lang="en-US" sz="1203" b="1" i="0" u="none" strike="noStrike" kern="1200" cap="none" spc="0" normalizeH="0" baseline="0" noProof="0" smtClean="0">
                <a:ln>
                  <a:noFill/>
                </a:ln>
                <a:solidFill>
                  <a:schemeClr val="tx2"/>
                </a:solidFill>
                <a:effectLst/>
                <a:uLnTx/>
                <a:uFillTx/>
                <a:latin typeface="Arial" pitchFamily="34" charset="0"/>
                <a:ea typeface="+mn-ea"/>
                <a:cs typeface="Arial" pitchFamily="34" charset="0"/>
              </a:rPr>
              <a:pPr algn="ctr"/>
              <a:t>‹#›</a:t>
            </a:fld>
            <a:endParaRPr lang="en-US" sz="1203" b="1">
              <a:solidFill>
                <a:schemeClr val="tx2"/>
              </a:solidFill>
            </a:endParaRPr>
          </a:p>
        </p:txBody>
      </p:sp>
      <p:pic>
        <p:nvPicPr>
          <p:cNvPr id="12" name="Logo" descr="logo647.png"/>
          <p:cNvPicPr>
            <a:picLocks noChangeAspect="1"/>
          </p:cNvPicPr>
          <p:nvPr/>
        </p:nvPicPr>
        <p:blipFill>
          <a:blip r:embed="rId10" cstate="print"/>
          <a:stretch>
            <a:fillRect/>
          </a:stretch>
        </p:blipFill>
        <p:spPr>
          <a:xfrm>
            <a:off x="10679339" y="23675"/>
            <a:ext cx="1327516" cy="360269"/>
          </a:xfrm>
          <a:prstGeom prst="rect">
            <a:avLst/>
          </a:prstGeom>
          <a:noFill/>
          <a:ln>
            <a:noFill/>
          </a:ln>
        </p:spPr>
      </p:pic>
      <p:cxnSp>
        <p:nvCxnSpPr>
          <p:cNvPr id="13" name="Line"/>
          <p:cNvCxnSpPr/>
          <p:nvPr/>
        </p:nvCxnSpPr>
        <p:spPr>
          <a:xfrm rot="10800000" flipV="1">
            <a:off x="229170" y="176521"/>
            <a:ext cx="10297392" cy="211602"/>
          </a:xfrm>
          <a:prstGeom prst="bentConnector3">
            <a:avLst>
              <a:gd name="adj1" fmla="val 100013"/>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62" r:id="rId3"/>
    <p:sldLayoutId id="2147483659" r:id="rId4"/>
    <p:sldLayoutId id="2147483663" r:id="rId5"/>
    <p:sldLayoutId id="2147483651" r:id="rId6"/>
    <p:sldLayoutId id="2147483652" r:id="rId7"/>
    <p:sldLayoutId id="2147483664" r:id="rId8"/>
  </p:sldLayoutIdLst>
  <p:hf hdr="0" ftr="0" dt="0"/>
  <p:txStyles>
    <p:titleStyle>
      <a:lvl1pPr algn="l" defTabSz="916680" rtl="0" eaLnBrk="1" latinLnBrk="0" hangingPunct="1">
        <a:spcBef>
          <a:spcPct val="0"/>
        </a:spcBef>
        <a:buNone/>
        <a:defRPr sz="2800" b="0" kern="1200">
          <a:solidFill>
            <a:schemeClr val="tx2"/>
          </a:solidFill>
          <a:latin typeface="Arial" pitchFamily="34" charset="0"/>
          <a:ea typeface="+mj-ea"/>
          <a:cs typeface="Arial" pitchFamily="34" charset="0"/>
        </a:defRPr>
      </a:lvl1pPr>
    </p:titleStyle>
    <p:bodyStyle>
      <a:lvl1pPr marL="343755" indent="-343755" algn="l" defTabSz="916680" rtl="0" eaLnBrk="1" latinLnBrk="0" hangingPunct="1">
        <a:spcBef>
          <a:spcPct val="20000"/>
        </a:spcBef>
        <a:buClr>
          <a:schemeClr val="tx2"/>
        </a:buClr>
        <a:buSzPct val="75000"/>
        <a:buFont typeface="Wingdings" pitchFamily="2" charset="2"/>
        <a:buChar char="§"/>
        <a:defRPr sz="2400" kern="1200">
          <a:solidFill>
            <a:schemeClr val="tx1"/>
          </a:solidFill>
          <a:latin typeface="Arial" pitchFamily="34" charset="0"/>
          <a:ea typeface="+mn-ea"/>
          <a:cs typeface="Arial" pitchFamily="34" charset="0"/>
        </a:defRPr>
      </a:lvl1pPr>
      <a:lvl2pPr marL="744802" indent="-286462" algn="l" defTabSz="916680" rtl="0" eaLnBrk="1" latinLnBrk="0" hangingPunct="1">
        <a:spcBef>
          <a:spcPct val="20000"/>
        </a:spcBef>
        <a:buClr>
          <a:schemeClr val="tx2"/>
        </a:buClr>
        <a:buFont typeface="Arial" pitchFamily="34" charset="0"/>
        <a:buChar char="–"/>
        <a:defRPr sz="2000" kern="1200">
          <a:solidFill>
            <a:schemeClr val="tx1"/>
          </a:solidFill>
          <a:latin typeface="Arial" pitchFamily="34" charset="0"/>
          <a:ea typeface="+mn-ea"/>
          <a:cs typeface="Arial" pitchFamily="34" charset="0"/>
        </a:defRPr>
      </a:lvl2pPr>
      <a:lvl3pPr marL="1145850" indent="-229170" algn="l" defTabSz="916680" rtl="0" eaLnBrk="1" latinLnBrk="0" hangingPunct="1">
        <a:spcBef>
          <a:spcPct val="20000"/>
        </a:spcBef>
        <a:buClr>
          <a:schemeClr val="tx2"/>
        </a:buClr>
        <a:buSzPct val="75000"/>
        <a:buFont typeface="Wingdings" pitchFamily="2" charset="2"/>
        <a:buChar char="§"/>
        <a:defRPr sz="1604" kern="1200">
          <a:solidFill>
            <a:schemeClr val="tx1"/>
          </a:solidFill>
          <a:latin typeface="Arial" pitchFamily="34" charset="0"/>
          <a:ea typeface="+mn-ea"/>
          <a:cs typeface="Arial" pitchFamily="34" charset="0"/>
        </a:defRPr>
      </a:lvl3pPr>
      <a:lvl4pPr marL="1604190" indent="-229170" algn="l" defTabSz="916680" rtl="0" eaLnBrk="1" latinLnBrk="0" hangingPunct="1">
        <a:spcBef>
          <a:spcPct val="20000"/>
        </a:spcBef>
        <a:buFont typeface="Arial" pitchFamily="34" charset="0"/>
        <a:buNone/>
        <a:defRPr sz="1604" kern="1200">
          <a:solidFill>
            <a:schemeClr val="tx1"/>
          </a:solidFill>
          <a:latin typeface="Arial" pitchFamily="34" charset="0"/>
          <a:ea typeface="+mn-ea"/>
          <a:cs typeface="Arial" pitchFamily="34" charset="0"/>
        </a:defRPr>
      </a:lvl4pPr>
      <a:lvl5pPr marL="2062531" indent="-229170" algn="l" defTabSz="916680" rtl="0" eaLnBrk="1" latinLnBrk="0" hangingPunct="1">
        <a:spcBef>
          <a:spcPct val="20000"/>
        </a:spcBef>
        <a:buClr>
          <a:schemeClr val="tx2"/>
        </a:buClr>
        <a:buFont typeface="Arial" pitchFamily="34" charset="0"/>
        <a:buChar char="»"/>
        <a:defRPr sz="1404" kern="1200">
          <a:solidFill>
            <a:schemeClr val="tx1"/>
          </a:solidFill>
          <a:latin typeface="Arial" pitchFamily="34" charset="0"/>
          <a:ea typeface="+mn-ea"/>
          <a:cs typeface="Arial" pitchFamily="34" charset="0"/>
        </a:defRPr>
      </a:lvl5pPr>
      <a:lvl6pPr marL="252087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6pPr>
      <a:lvl7pPr marL="297921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7pPr>
      <a:lvl8pPr marL="343755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8pPr>
      <a:lvl9pPr marL="389589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9pPr>
    </p:bodyStyle>
    <p:otherStyle>
      <a:defPPr>
        <a:defRPr lang="en-US"/>
      </a:defPPr>
      <a:lvl1pPr marL="0" algn="l" defTabSz="916680" rtl="0" eaLnBrk="1" latinLnBrk="0" hangingPunct="1">
        <a:defRPr sz="1805" kern="1200">
          <a:solidFill>
            <a:schemeClr val="tx1"/>
          </a:solidFill>
          <a:latin typeface="+mn-lt"/>
          <a:ea typeface="+mn-ea"/>
          <a:cs typeface="+mn-cs"/>
        </a:defRPr>
      </a:lvl1pPr>
      <a:lvl2pPr marL="458340" algn="l" defTabSz="916680" rtl="0" eaLnBrk="1" latinLnBrk="0" hangingPunct="1">
        <a:defRPr sz="1805" kern="1200">
          <a:solidFill>
            <a:schemeClr val="tx1"/>
          </a:solidFill>
          <a:latin typeface="+mn-lt"/>
          <a:ea typeface="+mn-ea"/>
          <a:cs typeface="+mn-cs"/>
        </a:defRPr>
      </a:lvl2pPr>
      <a:lvl3pPr marL="916680" algn="l" defTabSz="916680" rtl="0" eaLnBrk="1" latinLnBrk="0" hangingPunct="1">
        <a:defRPr sz="1805" kern="1200">
          <a:solidFill>
            <a:schemeClr val="tx1"/>
          </a:solidFill>
          <a:latin typeface="+mn-lt"/>
          <a:ea typeface="+mn-ea"/>
          <a:cs typeface="+mn-cs"/>
        </a:defRPr>
      </a:lvl3pPr>
      <a:lvl4pPr marL="1375020" algn="l" defTabSz="916680" rtl="0" eaLnBrk="1" latinLnBrk="0" hangingPunct="1">
        <a:defRPr sz="1805" kern="1200">
          <a:solidFill>
            <a:schemeClr val="tx1"/>
          </a:solidFill>
          <a:latin typeface="+mn-lt"/>
          <a:ea typeface="+mn-ea"/>
          <a:cs typeface="+mn-cs"/>
        </a:defRPr>
      </a:lvl4pPr>
      <a:lvl5pPr marL="1833361" algn="l" defTabSz="916680" rtl="0" eaLnBrk="1" latinLnBrk="0" hangingPunct="1">
        <a:defRPr sz="1805" kern="1200">
          <a:solidFill>
            <a:schemeClr val="tx1"/>
          </a:solidFill>
          <a:latin typeface="+mn-lt"/>
          <a:ea typeface="+mn-ea"/>
          <a:cs typeface="+mn-cs"/>
        </a:defRPr>
      </a:lvl5pPr>
      <a:lvl6pPr marL="2291701" algn="l" defTabSz="916680" rtl="0" eaLnBrk="1" latinLnBrk="0" hangingPunct="1">
        <a:defRPr sz="1805" kern="1200">
          <a:solidFill>
            <a:schemeClr val="tx1"/>
          </a:solidFill>
          <a:latin typeface="+mn-lt"/>
          <a:ea typeface="+mn-ea"/>
          <a:cs typeface="+mn-cs"/>
        </a:defRPr>
      </a:lvl6pPr>
      <a:lvl7pPr marL="2750041" algn="l" defTabSz="916680" rtl="0" eaLnBrk="1" latinLnBrk="0" hangingPunct="1">
        <a:defRPr sz="1805" kern="1200">
          <a:solidFill>
            <a:schemeClr val="tx1"/>
          </a:solidFill>
          <a:latin typeface="+mn-lt"/>
          <a:ea typeface="+mn-ea"/>
          <a:cs typeface="+mn-cs"/>
        </a:defRPr>
      </a:lvl7pPr>
      <a:lvl8pPr marL="3208381" algn="l" defTabSz="916680" rtl="0" eaLnBrk="1" latinLnBrk="0" hangingPunct="1">
        <a:defRPr sz="1805" kern="1200">
          <a:solidFill>
            <a:schemeClr val="tx1"/>
          </a:solidFill>
          <a:latin typeface="+mn-lt"/>
          <a:ea typeface="+mn-ea"/>
          <a:cs typeface="+mn-cs"/>
        </a:defRPr>
      </a:lvl8pPr>
      <a:lvl9pPr marL="3666721" algn="l" defTabSz="916680" rtl="0" eaLnBrk="1" latinLnBrk="0" hangingPunct="1">
        <a:defRPr sz="180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mathworks-my.sharepoint.com/:x:/p/pwilliam/EZhzwm_rwgNJjIjMMZ4eZ6EBQMXoD8905LMq-7FBzPjajg?e=rUPFXQ"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mathworks-my.sharepoint.com/:p:/p/pwilliam/IQDB-Igmlf5CRI1jK1NdI2cWAT-TgPAbVusA-W9NLUXYwdM?e=F6afyK"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www.amazon.com/WA-2608-Amplified-Mounting-Wireless-Rotation/dp/B0748KYTZN" TargetMode="Externa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hyperlink" Target="https://maps.app.goo.gl/dPS9DXFWgT8RDDrG9" TargetMode="External"/><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https://mathworks-my.sharepoint.com/:u:/p/pwilliam/IQAFE2VR8_uES5mEVcr-ik4SAXf-5_fVVIV20uMLxoihg1E?e=fPeLCf" TargetMode="External"/><Relationship Id="rId2" Type="http://schemas.openxmlformats.org/officeDocument/2006/relationships/hyperlink" Target="https://mathworks-my.sharepoint.com/:u:/p/pwilliam/IQAU6oyPly7MQYs6hVCOICIDAe5DK0EIiSkQXkzKmi_SyMY?e=48P85L" TargetMode="External"/><Relationship Id="rId1" Type="http://schemas.openxmlformats.org/officeDocument/2006/relationships/slideLayout" Target="../slideLayouts/slideLayout7.xml"/><Relationship Id="rId4" Type="http://schemas.openxmlformats.org/officeDocument/2006/relationships/hyperlink" Target="https://mathworks-my.sharepoint.com/:u:/p/pwilliam/IQBTaW0rmAt3TIoAtdlPAh_TAbvPfxZYfwDBeBuZ-kfRC18?e=ke7doL" TargetMode="Externa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Flight Test: RF Budget Analysis</a:t>
            </a:r>
          </a:p>
        </p:txBody>
      </p:sp>
      <p:sp>
        <p:nvSpPr>
          <p:cNvPr id="3" name="Subtitle 2"/>
          <p:cNvSpPr>
            <a:spLocks noGrp="1"/>
          </p:cNvSpPr>
          <p:nvPr>
            <p:ph type="subTitle" idx="1"/>
          </p:nvPr>
        </p:nvSpPr>
        <p:spPr/>
        <p:txBody>
          <a:bodyPr/>
          <a:lstStyle/>
          <a:p>
            <a:r>
              <a:rPr lang="en-US"/>
              <a:t>Pat Williamson, PhD</a:t>
            </a:r>
          </a:p>
        </p:txBody>
      </p:sp>
      <p:sp>
        <p:nvSpPr>
          <p:cNvPr id="4" name="TextBox 3">
            <a:extLst>
              <a:ext uri="{FF2B5EF4-FFF2-40B4-BE49-F238E27FC236}">
                <a16:creationId xmlns:a16="http://schemas.microsoft.com/office/drawing/2014/main" id="{DAD0AC4C-F428-0F79-4985-6B855778D270}"/>
              </a:ext>
            </a:extLst>
          </p:cNvPr>
          <p:cNvSpPr txBox="1"/>
          <p:nvPr/>
        </p:nvSpPr>
        <p:spPr>
          <a:xfrm>
            <a:off x="8686800" y="3297181"/>
            <a:ext cx="3048000" cy="400110"/>
          </a:xfrm>
          <a:prstGeom prst="rect">
            <a:avLst/>
          </a:prstGeom>
          <a:noFill/>
        </p:spPr>
        <p:txBody>
          <a:bodyPr wrap="square" rtlCol="0">
            <a:spAutoFit/>
          </a:bodyPr>
          <a:lstStyle/>
          <a:p>
            <a:r>
              <a:rPr lang="en-US" sz="2000">
                <a:latin typeface="Arial" pitchFamily="34" charset="0"/>
                <a:cs typeface="Arial" pitchFamily="34" charset="0"/>
                <a:hlinkClick r:id="rId2"/>
              </a:rPr>
              <a:t>Parts List Excel</a:t>
            </a:r>
            <a:endParaRPr lang="en-US" sz="2000">
              <a:latin typeface="Arial" pitchFamily="34" charset="0"/>
              <a:cs typeface="Arial"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1C31A-1BD1-EE0F-86BE-A3196BBF4C47}"/>
              </a:ext>
            </a:extLst>
          </p:cNvPr>
          <p:cNvSpPr>
            <a:spLocks noGrp="1"/>
          </p:cNvSpPr>
          <p:nvPr>
            <p:ph type="title"/>
          </p:nvPr>
        </p:nvSpPr>
        <p:spPr/>
        <p:txBody>
          <a:bodyPr/>
          <a:lstStyle/>
          <a:p>
            <a:r>
              <a:rPr lang="en-US"/>
              <a:t>RF Budget Analysis Based on Link Budget and Previously estimated requirements</a:t>
            </a:r>
          </a:p>
        </p:txBody>
      </p:sp>
      <p:sp>
        <p:nvSpPr>
          <p:cNvPr id="3" name="Content Placeholder 2">
            <a:extLst>
              <a:ext uri="{FF2B5EF4-FFF2-40B4-BE49-F238E27FC236}">
                <a16:creationId xmlns:a16="http://schemas.microsoft.com/office/drawing/2014/main" id="{52EE56D6-B392-F0C2-3893-DC057204E681}"/>
              </a:ext>
            </a:extLst>
          </p:cNvPr>
          <p:cNvSpPr>
            <a:spLocks noGrp="1"/>
          </p:cNvSpPr>
          <p:nvPr>
            <p:ph idx="1"/>
          </p:nvPr>
        </p:nvSpPr>
        <p:spPr/>
        <p:txBody>
          <a:bodyPr/>
          <a:lstStyle/>
          <a:p>
            <a:r>
              <a:rPr lang="en-US"/>
              <a:t>For further info (messier ppt) – </a:t>
            </a:r>
            <a:r>
              <a:rPr lang="en-US">
                <a:hlinkClick r:id="rId2"/>
              </a:rPr>
              <a:t>here are the precursor steps</a:t>
            </a:r>
            <a:r>
              <a:rPr lang="en-US"/>
              <a:t> to this analysis.</a:t>
            </a:r>
          </a:p>
        </p:txBody>
      </p:sp>
    </p:spTree>
    <p:extLst>
      <p:ext uri="{BB962C8B-B14F-4D97-AF65-F5344CB8AC3E}">
        <p14:creationId xmlns:p14="http://schemas.microsoft.com/office/powerpoint/2010/main" val="28882893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32CEA-346A-D69D-5D71-BBB348952343}"/>
              </a:ext>
            </a:extLst>
          </p:cNvPr>
          <p:cNvSpPr>
            <a:spLocks noGrp="1"/>
          </p:cNvSpPr>
          <p:nvPr>
            <p:ph type="title"/>
          </p:nvPr>
        </p:nvSpPr>
        <p:spPr/>
        <p:txBody>
          <a:bodyPr/>
          <a:lstStyle/>
          <a:p>
            <a:r>
              <a:rPr lang="en-US"/>
              <a:t>RF Budget Analysis – Spec out additional filter and amplifier</a:t>
            </a:r>
          </a:p>
        </p:txBody>
      </p:sp>
      <p:sp>
        <p:nvSpPr>
          <p:cNvPr id="3" name="Content Placeholder 2">
            <a:extLst>
              <a:ext uri="{FF2B5EF4-FFF2-40B4-BE49-F238E27FC236}">
                <a16:creationId xmlns:a16="http://schemas.microsoft.com/office/drawing/2014/main" id="{325AF060-2051-3D0B-768C-4E8503D49FE8}"/>
              </a:ext>
            </a:extLst>
          </p:cNvPr>
          <p:cNvSpPr>
            <a:spLocks noGrp="1"/>
          </p:cNvSpPr>
          <p:nvPr>
            <p:ph idx="1"/>
          </p:nvPr>
        </p:nvSpPr>
        <p:spPr>
          <a:xfrm>
            <a:off x="609602" y="1600200"/>
            <a:ext cx="6301561" cy="4648200"/>
          </a:xfrm>
        </p:spPr>
        <p:txBody>
          <a:bodyPr/>
          <a:lstStyle/>
          <a:p>
            <a:r>
              <a:rPr lang="en-US">
                <a:hlinkClick r:id="rId2"/>
              </a:rPr>
              <a:t>Hardware Specs</a:t>
            </a:r>
            <a:r>
              <a:rPr lang="en-US"/>
              <a:t>:</a:t>
            </a:r>
          </a:p>
          <a:p>
            <a:r>
              <a:rPr lang="en-US"/>
              <a:t>Specifications:</a:t>
            </a:r>
          </a:p>
          <a:p>
            <a:pPr lvl="1"/>
            <a:r>
              <a:rPr lang="en-US"/>
              <a:t>Working Frequency: VHF 170230MHz | UHF 470890MHz</a:t>
            </a:r>
          </a:p>
          <a:p>
            <a:pPr lvl="1"/>
            <a:r>
              <a:rPr lang="en-US"/>
              <a:t>Noise Figure: ≤2.5dB</a:t>
            </a:r>
          </a:p>
          <a:p>
            <a:pPr lvl="1"/>
            <a:r>
              <a:rPr lang="en-US"/>
              <a:t>Typical Antenna Gain: VHF 28~32dB | UHF 32~36dB</a:t>
            </a:r>
          </a:p>
          <a:p>
            <a:pPr lvl="1"/>
            <a:r>
              <a:rPr lang="en-US"/>
              <a:t>Impedance: 75 Ohm</a:t>
            </a:r>
          </a:p>
          <a:p>
            <a:pPr lvl="1"/>
            <a:r>
              <a:rPr lang="en-US"/>
              <a:t>Max Output Level: 105dB </a:t>
            </a:r>
            <a:r>
              <a:rPr lang="en-US" err="1"/>
              <a:t>uV</a:t>
            </a:r>
            <a:endParaRPr lang="en-US"/>
          </a:p>
          <a:p>
            <a:pPr lvl="1"/>
            <a:r>
              <a:rPr lang="en-US"/>
              <a:t>Main Voltage: AC120V±10%/60Hz</a:t>
            </a:r>
          </a:p>
          <a:p>
            <a:pPr lvl="1"/>
            <a:r>
              <a:rPr lang="en-US"/>
              <a:t>Operating Temperature: -10°C ~ 50°C</a:t>
            </a:r>
          </a:p>
          <a:p>
            <a:pPr lvl="1"/>
            <a:r>
              <a:rPr lang="en-US"/>
              <a:t>Coaxial Cable Length: 40FT RG6</a:t>
            </a:r>
          </a:p>
          <a:p>
            <a:endParaRPr lang="en-US"/>
          </a:p>
        </p:txBody>
      </p:sp>
      <p:pic>
        <p:nvPicPr>
          <p:cNvPr id="5" name="Picture 4">
            <a:extLst>
              <a:ext uri="{FF2B5EF4-FFF2-40B4-BE49-F238E27FC236}">
                <a16:creationId xmlns:a16="http://schemas.microsoft.com/office/drawing/2014/main" id="{2175E032-57D3-1AF2-8EBC-7FA4322FD506}"/>
              </a:ext>
            </a:extLst>
          </p:cNvPr>
          <p:cNvPicPr>
            <a:picLocks noChangeAspect="1"/>
          </p:cNvPicPr>
          <p:nvPr/>
        </p:nvPicPr>
        <p:blipFill>
          <a:blip r:embed="rId3"/>
          <a:stretch>
            <a:fillRect/>
          </a:stretch>
        </p:blipFill>
        <p:spPr>
          <a:xfrm>
            <a:off x="9401174" y="1188725"/>
            <a:ext cx="2618605" cy="2404603"/>
          </a:xfrm>
          <a:prstGeom prst="rect">
            <a:avLst/>
          </a:prstGeom>
        </p:spPr>
      </p:pic>
      <p:pic>
        <p:nvPicPr>
          <p:cNvPr id="9" name="Picture 8">
            <a:extLst>
              <a:ext uri="{FF2B5EF4-FFF2-40B4-BE49-F238E27FC236}">
                <a16:creationId xmlns:a16="http://schemas.microsoft.com/office/drawing/2014/main" id="{1655EA0A-8E2F-6C3A-C179-49C9CAE3C5A3}"/>
              </a:ext>
            </a:extLst>
          </p:cNvPr>
          <p:cNvPicPr>
            <a:picLocks noChangeAspect="1"/>
          </p:cNvPicPr>
          <p:nvPr/>
        </p:nvPicPr>
        <p:blipFill>
          <a:blip r:embed="rId4"/>
          <a:stretch>
            <a:fillRect/>
          </a:stretch>
        </p:blipFill>
        <p:spPr>
          <a:xfrm>
            <a:off x="7457497" y="4838503"/>
            <a:ext cx="4124901" cy="1409897"/>
          </a:xfrm>
          <a:prstGeom prst="rect">
            <a:avLst/>
          </a:prstGeom>
        </p:spPr>
      </p:pic>
      <p:cxnSp>
        <p:nvCxnSpPr>
          <p:cNvPr id="11" name="Straight Arrow Connector 10">
            <a:extLst>
              <a:ext uri="{FF2B5EF4-FFF2-40B4-BE49-F238E27FC236}">
                <a16:creationId xmlns:a16="http://schemas.microsoft.com/office/drawing/2014/main" id="{717C6C1D-01BE-0FC0-F7AE-105B3FF3DF30}"/>
              </a:ext>
            </a:extLst>
          </p:cNvPr>
          <p:cNvCxnSpPr>
            <a:cxnSpLocks/>
          </p:cNvCxnSpPr>
          <p:nvPr/>
        </p:nvCxnSpPr>
        <p:spPr>
          <a:xfrm>
            <a:off x="6479037" y="2798922"/>
            <a:ext cx="1410586" cy="213360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8FB97482-B7F9-6809-93EA-5626ACC50747}"/>
              </a:ext>
            </a:extLst>
          </p:cNvPr>
          <p:cNvCxnSpPr>
            <a:cxnSpLocks/>
          </p:cNvCxnSpPr>
          <p:nvPr/>
        </p:nvCxnSpPr>
        <p:spPr>
          <a:xfrm>
            <a:off x="6251944" y="2892941"/>
            <a:ext cx="1424763" cy="2326217"/>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F5CD3D57-C8F0-A331-EAB8-FF66C5F6AF25}"/>
              </a:ext>
            </a:extLst>
          </p:cNvPr>
          <p:cNvCxnSpPr>
            <a:cxnSpLocks/>
          </p:cNvCxnSpPr>
          <p:nvPr/>
        </p:nvCxnSpPr>
        <p:spPr>
          <a:xfrm>
            <a:off x="5994402" y="2892941"/>
            <a:ext cx="1661040" cy="2912436"/>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BBC574CA-B249-A52B-B6C4-187B5F1BCF78}"/>
              </a:ext>
            </a:extLst>
          </p:cNvPr>
          <p:cNvCxnSpPr>
            <a:cxnSpLocks/>
          </p:cNvCxnSpPr>
          <p:nvPr/>
        </p:nvCxnSpPr>
        <p:spPr>
          <a:xfrm>
            <a:off x="3948223" y="4373526"/>
            <a:ext cx="3296093" cy="971107"/>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0C9899E3-050F-8771-C774-D0F2A31100DE}"/>
              </a:ext>
            </a:extLst>
          </p:cNvPr>
          <p:cNvCxnSpPr>
            <a:cxnSpLocks/>
          </p:cNvCxnSpPr>
          <p:nvPr/>
        </p:nvCxnSpPr>
        <p:spPr>
          <a:xfrm>
            <a:off x="4830990" y="4859079"/>
            <a:ext cx="2491298" cy="691117"/>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54E27647-D06F-9E35-711E-64D06EA29D86}"/>
              </a:ext>
            </a:extLst>
          </p:cNvPr>
          <p:cNvCxnSpPr/>
          <p:nvPr/>
        </p:nvCxnSpPr>
        <p:spPr>
          <a:xfrm>
            <a:off x="8682527" y="4482269"/>
            <a:ext cx="2059537" cy="1766131"/>
          </a:xfrm>
          <a:prstGeom prst="line">
            <a:avLst/>
          </a:prstGeom>
          <a:ln w="952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5F52C3B8-0B4A-1FCD-EE87-86D3B92F51A5}"/>
              </a:ext>
            </a:extLst>
          </p:cNvPr>
          <p:cNvCxnSpPr>
            <a:cxnSpLocks/>
          </p:cNvCxnSpPr>
          <p:nvPr/>
        </p:nvCxnSpPr>
        <p:spPr>
          <a:xfrm flipH="1">
            <a:off x="8443245" y="4373526"/>
            <a:ext cx="2221906" cy="2296467"/>
          </a:xfrm>
          <a:prstGeom prst="line">
            <a:avLst/>
          </a:prstGeom>
          <a:ln w="952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66B7A741-5782-B776-C1D5-A7ADC0351B61}"/>
              </a:ext>
            </a:extLst>
          </p:cNvPr>
          <p:cNvSpPr txBox="1"/>
          <p:nvPr/>
        </p:nvSpPr>
        <p:spPr>
          <a:xfrm>
            <a:off x="8957342" y="3949562"/>
            <a:ext cx="2298819" cy="707886"/>
          </a:xfrm>
          <a:prstGeom prst="rect">
            <a:avLst/>
          </a:prstGeom>
          <a:noFill/>
        </p:spPr>
        <p:txBody>
          <a:bodyPr wrap="square" rtlCol="0">
            <a:spAutoFit/>
          </a:bodyPr>
          <a:lstStyle/>
          <a:p>
            <a:r>
              <a:rPr lang="en-US" sz="2000">
                <a:latin typeface="Arial" pitchFamily="34" charset="0"/>
                <a:cs typeface="Arial" pitchFamily="34" charset="0"/>
              </a:rPr>
              <a:t>Updated Values Next Slides</a:t>
            </a:r>
          </a:p>
        </p:txBody>
      </p:sp>
    </p:spTree>
    <p:extLst>
      <p:ext uri="{BB962C8B-B14F-4D97-AF65-F5344CB8AC3E}">
        <p14:creationId xmlns:p14="http://schemas.microsoft.com/office/powerpoint/2010/main" val="29988647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BC7CD-75AC-987E-ED90-F7808B5A2D81}"/>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497C7DA4-4867-67EF-2684-B34EBE3413D5}"/>
              </a:ext>
            </a:extLst>
          </p:cNvPr>
          <p:cNvPicPr>
            <a:picLocks noChangeAspect="1"/>
          </p:cNvPicPr>
          <p:nvPr/>
        </p:nvPicPr>
        <p:blipFill>
          <a:blip r:embed="rId2"/>
          <a:stretch>
            <a:fillRect/>
          </a:stretch>
        </p:blipFill>
        <p:spPr>
          <a:xfrm>
            <a:off x="718824" y="4218745"/>
            <a:ext cx="4811419" cy="2513562"/>
          </a:xfrm>
          <a:prstGeom prst="rect">
            <a:avLst/>
          </a:prstGeom>
        </p:spPr>
      </p:pic>
      <p:sp>
        <p:nvSpPr>
          <p:cNvPr id="2" name="Title 1">
            <a:extLst>
              <a:ext uri="{FF2B5EF4-FFF2-40B4-BE49-F238E27FC236}">
                <a16:creationId xmlns:a16="http://schemas.microsoft.com/office/drawing/2014/main" id="{D984B914-5EFD-5758-DC78-DF95ADE48781}"/>
              </a:ext>
            </a:extLst>
          </p:cNvPr>
          <p:cNvSpPr>
            <a:spLocks noGrp="1"/>
          </p:cNvSpPr>
          <p:nvPr>
            <p:ph type="title"/>
          </p:nvPr>
        </p:nvSpPr>
        <p:spPr/>
        <p:txBody>
          <a:bodyPr/>
          <a:lstStyle/>
          <a:p>
            <a:r>
              <a:rPr lang="en-US" b="1">
                <a:solidFill>
                  <a:srgbClr val="FF0000"/>
                </a:solidFill>
              </a:rPr>
              <a:t>Univision Tower </a:t>
            </a:r>
            <a:r>
              <a:rPr lang="en-US" b="1">
                <a:solidFill>
                  <a:srgbClr val="FF0000"/>
                </a:solidFill>
                <a:sym typeface="Wingdings" panose="05000000000000000000" pitchFamily="2" charset="2"/>
              </a:rPr>
              <a:t> 548 - 554 MHz	</a:t>
            </a:r>
            <a:r>
              <a:rPr lang="en-US" sz="2000" b="1">
                <a:solidFill>
                  <a:srgbClr val="FF0000"/>
                </a:solidFill>
                <a:sym typeface="Wingdings" panose="05000000000000000000" pitchFamily="2" charset="2"/>
                <a:hlinkClick r:id="rId3"/>
              </a:rPr>
              <a:t>Google Maps Link</a:t>
            </a:r>
            <a:endParaRPr lang="en-US" sz="2000"/>
          </a:p>
        </p:txBody>
      </p:sp>
      <p:sp>
        <p:nvSpPr>
          <p:cNvPr id="13" name="TextBox 12">
            <a:extLst>
              <a:ext uri="{FF2B5EF4-FFF2-40B4-BE49-F238E27FC236}">
                <a16:creationId xmlns:a16="http://schemas.microsoft.com/office/drawing/2014/main" id="{A443329B-8682-996C-51E5-A4A800A3FCC2}"/>
              </a:ext>
            </a:extLst>
          </p:cNvPr>
          <p:cNvSpPr txBox="1"/>
          <p:nvPr/>
        </p:nvSpPr>
        <p:spPr>
          <a:xfrm>
            <a:off x="6875748" y="4408405"/>
            <a:ext cx="5041932" cy="923330"/>
          </a:xfrm>
          <a:prstGeom prst="rect">
            <a:avLst/>
          </a:prstGeom>
          <a:noFill/>
        </p:spPr>
        <p:txBody>
          <a:bodyPr wrap="square" rtlCol="0">
            <a:spAutoFit/>
          </a:bodyPr>
          <a:lstStyle/>
          <a:p>
            <a:r>
              <a:rPr lang="en-US" b="1">
                <a:solidFill>
                  <a:srgbClr val="FF0000"/>
                </a:solidFill>
                <a:latin typeface="Arial" pitchFamily="34" charset="0"/>
                <a:cs typeface="Arial" pitchFamily="34" charset="0"/>
              </a:rPr>
              <a:t>(1) Hudson Tower </a:t>
            </a:r>
            <a:r>
              <a:rPr lang="en-US" b="1">
                <a:solidFill>
                  <a:srgbClr val="FF0000"/>
                </a:solidFill>
                <a:latin typeface="Arial" pitchFamily="34" charset="0"/>
                <a:cs typeface="Arial" pitchFamily="34" charset="0"/>
                <a:sym typeface="Wingdings" panose="05000000000000000000" pitchFamily="2" charset="2"/>
              </a:rPr>
              <a:t> 548 - 554 MHz </a:t>
            </a:r>
          </a:p>
          <a:p>
            <a:r>
              <a:rPr lang="en-US" b="1">
                <a:solidFill>
                  <a:srgbClr val="FF0000"/>
                </a:solidFill>
                <a:latin typeface="Arial" pitchFamily="34" charset="0"/>
                <a:cs typeface="Arial" pitchFamily="34" charset="0"/>
                <a:sym typeface="Wingdings" panose="05000000000000000000" pitchFamily="2" charset="2"/>
              </a:rPr>
              <a:t>	</a:t>
            </a:r>
            <a:r>
              <a:rPr lang="en-US" b="1">
                <a:solidFill>
                  <a:srgbClr val="FF0000"/>
                </a:solidFill>
                <a:latin typeface="Arial" pitchFamily="34" charset="0"/>
                <a:cs typeface="Arial" pitchFamily="34" charset="0"/>
                <a:sym typeface="Wingdings" panose="05000000000000000000" pitchFamily="2" charset="2"/>
                <a:hlinkClick r:id="rId3"/>
              </a:rPr>
              <a:t>Google Maps Link</a:t>
            </a:r>
            <a:endParaRPr lang="en-US" b="1">
              <a:solidFill>
                <a:srgbClr val="FF0000"/>
              </a:solidFill>
              <a:latin typeface="Arial" pitchFamily="34" charset="0"/>
              <a:cs typeface="Arial" pitchFamily="34" charset="0"/>
              <a:sym typeface="Wingdings" panose="05000000000000000000" pitchFamily="2" charset="2"/>
            </a:endParaRPr>
          </a:p>
          <a:p>
            <a:endParaRPr lang="en-US" b="1">
              <a:solidFill>
                <a:srgbClr val="FF0000"/>
              </a:solidFill>
              <a:latin typeface="Arial" pitchFamily="34" charset="0"/>
              <a:cs typeface="Arial" pitchFamily="34" charset="0"/>
            </a:endParaRPr>
          </a:p>
        </p:txBody>
      </p:sp>
      <p:sp>
        <p:nvSpPr>
          <p:cNvPr id="3" name="TextBox 2">
            <a:extLst>
              <a:ext uri="{FF2B5EF4-FFF2-40B4-BE49-F238E27FC236}">
                <a16:creationId xmlns:a16="http://schemas.microsoft.com/office/drawing/2014/main" id="{86F5AD72-8BEE-467E-0122-424505FAB9F2}"/>
              </a:ext>
            </a:extLst>
          </p:cNvPr>
          <p:cNvSpPr txBox="1"/>
          <p:nvPr/>
        </p:nvSpPr>
        <p:spPr>
          <a:xfrm>
            <a:off x="3082378" y="3818635"/>
            <a:ext cx="2416881" cy="400110"/>
          </a:xfrm>
          <a:prstGeom prst="rect">
            <a:avLst/>
          </a:prstGeom>
          <a:noFill/>
        </p:spPr>
        <p:txBody>
          <a:bodyPr wrap="square" rtlCol="0">
            <a:spAutoFit/>
          </a:bodyPr>
          <a:lstStyle/>
          <a:p>
            <a:r>
              <a:rPr lang="en-US" sz="2000" b="1">
                <a:latin typeface="Arial" pitchFamily="34" charset="0"/>
                <a:cs typeface="Arial" pitchFamily="34" charset="0"/>
              </a:rPr>
              <a:t>Hudson</a:t>
            </a:r>
          </a:p>
        </p:txBody>
      </p:sp>
      <p:graphicFrame>
        <p:nvGraphicFramePr>
          <p:cNvPr id="7" name="Table 6">
            <a:extLst>
              <a:ext uri="{FF2B5EF4-FFF2-40B4-BE49-F238E27FC236}">
                <a16:creationId xmlns:a16="http://schemas.microsoft.com/office/drawing/2014/main" id="{DD98CBA4-606B-0B8D-BCDF-579832B8FE4A}"/>
              </a:ext>
            </a:extLst>
          </p:cNvPr>
          <p:cNvGraphicFramePr>
            <a:graphicFrameLocks noGrp="1"/>
          </p:cNvGraphicFramePr>
          <p:nvPr/>
        </p:nvGraphicFramePr>
        <p:xfrm>
          <a:off x="208599" y="1057276"/>
          <a:ext cx="11527157" cy="2613113"/>
        </p:xfrm>
        <a:graphic>
          <a:graphicData uri="http://schemas.openxmlformats.org/drawingml/2006/table">
            <a:tbl>
              <a:tblPr/>
              <a:tblGrid>
                <a:gridCol w="262210">
                  <a:extLst>
                    <a:ext uri="{9D8B030D-6E8A-4147-A177-3AD203B41FA5}">
                      <a16:colId xmlns:a16="http://schemas.microsoft.com/office/drawing/2014/main" val="1495823432"/>
                    </a:ext>
                  </a:extLst>
                </a:gridCol>
                <a:gridCol w="201700">
                  <a:extLst>
                    <a:ext uri="{9D8B030D-6E8A-4147-A177-3AD203B41FA5}">
                      <a16:colId xmlns:a16="http://schemas.microsoft.com/office/drawing/2014/main" val="1828016691"/>
                    </a:ext>
                  </a:extLst>
                </a:gridCol>
                <a:gridCol w="191615">
                  <a:extLst>
                    <a:ext uri="{9D8B030D-6E8A-4147-A177-3AD203B41FA5}">
                      <a16:colId xmlns:a16="http://schemas.microsoft.com/office/drawing/2014/main" val="2562793460"/>
                    </a:ext>
                  </a:extLst>
                </a:gridCol>
                <a:gridCol w="857225">
                  <a:extLst>
                    <a:ext uri="{9D8B030D-6E8A-4147-A177-3AD203B41FA5}">
                      <a16:colId xmlns:a16="http://schemas.microsoft.com/office/drawing/2014/main" val="3906349864"/>
                    </a:ext>
                  </a:extLst>
                </a:gridCol>
                <a:gridCol w="857225">
                  <a:extLst>
                    <a:ext uri="{9D8B030D-6E8A-4147-A177-3AD203B41FA5}">
                      <a16:colId xmlns:a16="http://schemas.microsoft.com/office/drawing/2014/main" val="1479824799"/>
                    </a:ext>
                  </a:extLst>
                </a:gridCol>
                <a:gridCol w="534505">
                  <a:extLst>
                    <a:ext uri="{9D8B030D-6E8A-4147-A177-3AD203B41FA5}">
                      <a16:colId xmlns:a16="http://schemas.microsoft.com/office/drawing/2014/main" val="1871452422"/>
                    </a:ext>
                  </a:extLst>
                </a:gridCol>
                <a:gridCol w="645440">
                  <a:extLst>
                    <a:ext uri="{9D8B030D-6E8A-4147-A177-3AD203B41FA5}">
                      <a16:colId xmlns:a16="http://schemas.microsoft.com/office/drawing/2014/main" val="1038567483"/>
                    </a:ext>
                  </a:extLst>
                </a:gridCol>
                <a:gridCol w="494165">
                  <a:extLst>
                    <a:ext uri="{9D8B030D-6E8A-4147-A177-3AD203B41FA5}">
                      <a16:colId xmlns:a16="http://schemas.microsoft.com/office/drawing/2014/main" val="3915214971"/>
                    </a:ext>
                  </a:extLst>
                </a:gridCol>
                <a:gridCol w="473995">
                  <a:extLst>
                    <a:ext uri="{9D8B030D-6E8A-4147-A177-3AD203B41FA5}">
                      <a16:colId xmlns:a16="http://schemas.microsoft.com/office/drawing/2014/main" val="3186207469"/>
                    </a:ext>
                  </a:extLst>
                </a:gridCol>
                <a:gridCol w="473995">
                  <a:extLst>
                    <a:ext uri="{9D8B030D-6E8A-4147-A177-3AD203B41FA5}">
                      <a16:colId xmlns:a16="http://schemas.microsoft.com/office/drawing/2014/main" val="1003377180"/>
                    </a:ext>
                  </a:extLst>
                </a:gridCol>
                <a:gridCol w="433656">
                  <a:extLst>
                    <a:ext uri="{9D8B030D-6E8A-4147-A177-3AD203B41FA5}">
                      <a16:colId xmlns:a16="http://schemas.microsoft.com/office/drawing/2014/main" val="1610628103"/>
                    </a:ext>
                  </a:extLst>
                </a:gridCol>
                <a:gridCol w="292465">
                  <a:extLst>
                    <a:ext uri="{9D8B030D-6E8A-4147-A177-3AD203B41FA5}">
                      <a16:colId xmlns:a16="http://schemas.microsoft.com/office/drawing/2014/main" val="3757857613"/>
                    </a:ext>
                  </a:extLst>
                </a:gridCol>
                <a:gridCol w="292465">
                  <a:extLst>
                    <a:ext uri="{9D8B030D-6E8A-4147-A177-3AD203B41FA5}">
                      <a16:colId xmlns:a16="http://schemas.microsoft.com/office/drawing/2014/main" val="639766498"/>
                    </a:ext>
                  </a:extLst>
                </a:gridCol>
                <a:gridCol w="292465">
                  <a:extLst>
                    <a:ext uri="{9D8B030D-6E8A-4147-A177-3AD203B41FA5}">
                      <a16:colId xmlns:a16="http://schemas.microsoft.com/office/drawing/2014/main" val="2578931432"/>
                    </a:ext>
                  </a:extLst>
                </a:gridCol>
                <a:gridCol w="433656">
                  <a:extLst>
                    <a:ext uri="{9D8B030D-6E8A-4147-A177-3AD203B41FA5}">
                      <a16:colId xmlns:a16="http://schemas.microsoft.com/office/drawing/2014/main" val="3175833539"/>
                    </a:ext>
                  </a:extLst>
                </a:gridCol>
                <a:gridCol w="403400">
                  <a:extLst>
                    <a:ext uri="{9D8B030D-6E8A-4147-A177-3AD203B41FA5}">
                      <a16:colId xmlns:a16="http://schemas.microsoft.com/office/drawing/2014/main" val="2274501986"/>
                    </a:ext>
                  </a:extLst>
                </a:gridCol>
                <a:gridCol w="322720">
                  <a:extLst>
                    <a:ext uri="{9D8B030D-6E8A-4147-A177-3AD203B41FA5}">
                      <a16:colId xmlns:a16="http://schemas.microsoft.com/office/drawing/2014/main" val="1501139293"/>
                    </a:ext>
                  </a:extLst>
                </a:gridCol>
                <a:gridCol w="292465">
                  <a:extLst>
                    <a:ext uri="{9D8B030D-6E8A-4147-A177-3AD203B41FA5}">
                      <a16:colId xmlns:a16="http://schemas.microsoft.com/office/drawing/2014/main" val="2160118016"/>
                    </a:ext>
                  </a:extLst>
                </a:gridCol>
                <a:gridCol w="322720">
                  <a:extLst>
                    <a:ext uri="{9D8B030D-6E8A-4147-A177-3AD203B41FA5}">
                      <a16:colId xmlns:a16="http://schemas.microsoft.com/office/drawing/2014/main" val="2948971125"/>
                    </a:ext>
                  </a:extLst>
                </a:gridCol>
                <a:gridCol w="312635">
                  <a:extLst>
                    <a:ext uri="{9D8B030D-6E8A-4147-A177-3AD203B41FA5}">
                      <a16:colId xmlns:a16="http://schemas.microsoft.com/office/drawing/2014/main" val="1014133889"/>
                    </a:ext>
                  </a:extLst>
                </a:gridCol>
                <a:gridCol w="312635">
                  <a:extLst>
                    <a:ext uri="{9D8B030D-6E8A-4147-A177-3AD203B41FA5}">
                      <a16:colId xmlns:a16="http://schemas.microsoft.com/office/drawing/2014/main" val="1869988966"/>
                    </a:ext>
                  </a:extLst>
                </a:gridCol>
                <a:gridCol w="312635">
                  <a:extLst>
                    <a:ext uri="{9D8B030D-6E8A-4147-A177-3AD203B41FA5}">
                      <a16:colId xmlns:a16="http://schemas.microsoft.com/office/drawing/2014/main" val="3650589149"/>
                    </a:ext>
                  </a:extLst>
                </a:gridCol>
                <a:gridCol w="312635">
                  <a:extLst>
                    <a:ext uri="{9D8B030D-6E8A-4147-A177-3AD203B41FA5}">
                      <a16:colId xmlns:a16="http://schemas.microsoft.com/office/drawing/2014/main" val="391929301"/>
                    </a:ext>
                  </a:extLst>
                </a:gridCol>
                <a:gridCol w="413485">
                  <a:extLst>
                    <a:ext uri="{9D8B030D-6E8A-4147-A177-3AD203B41FA5}">
                      <a16:colId xmlns:a16="http://schemas.microsoft.com/office/drawing/2014/main" val="1140898066"/>
                    </a:ext>
                  </a:extLst>
                </a:gridCol>
                <a:gridCol w="1785045">
                  <a:extLst>
                    <a:ext uri="{9D8B030D-6E8A-4147-A177-3AD203B41FA5}">
                      <a16:colId xmlns:a16="http://schemas.microsoft.com/office/drawing/2014/main" val="936244880"/>
                    </a:ext>
                  </a:extLst>
                </a:gridCol>
              </a:tblGrid>
              <a:tr h="300365">
                <a:tc>
                  <a:txBody>
                    <a:bodyPr/>
                    <a:lstStyle/>
                    <a:p>
                      <a:pPr algn="ctr" fontAlgn="t">
                        <a:buNone/>
                      </a:pPr>
                      <a:r>
                        <a:rPr lang="en-US" sz="700" b="1" i="0" u="none" strike="noStrike">
                          <a:effectLst/>
                          <a:latin typeface="Arial" panose="020B0604020202020204" pitchFamily="34" charset="0"/>
                        </a:rPr>
                        <a:t>#</a:t>
                      </a:r>
                    </a:p>
                  </a:txBody>
                  <a:tcPr marL="4711" marR="4711" marT="471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700" b="1" i="0" u="none" strike="noStrike">
                          <a:effectLst/>
                          <a:latin typeface="Arial" panose="020B0604020202020204" pitchFamily="34" charset="0"/>
                        </a:rPr>
                        <a:t>Dir</a:t>
                      </a:r>
                    </a:p>
                  </a:txBody>
                  <a:tcPr marL="4711" marR="4711" marT="471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l" fontAlgn="t">
                        <a:buNone/>
                      </a:pPr>
                      <a:r>
                        <a:rPr lang="en-US" sz="700" b="1" i="0" u="none" strike="noStrike">
                          <a:effectLst/>
                          <a:latin typeface="Arial" panose="020B0604020202020204" pitchFamily="34" charset="0"/>
                        </a:rPr>
                        <a:t>ST</a:t>
                      </a:r>
                    </a:p>
                  </a:txBody>
                  <a:tcPr marL="4711" marR="4711" marT="4711" marB="0">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l" fontAlgn="t">
                        <a:buNone/>
                      </a:pPr>
                      <a:r>
                        <a:rPr lang="en-US" sz="700" b="1" i="0" u="none" strike="noStrike">
                          <a:effectLst/>
                          <a:latin typeface="Arial" panose="020B0604020202020204" pitchFamily="34" charset="0"/>
                        </a:rPr>
                        <a:t>Area</a:t>
                      </a:r>
                    </a:p>
                  </a:txBody>
                  <a:tcPr marL="4711" marR="4711" marT="4711" marB="0">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l" fontAlgn="t">
                        <a:buNone/>
                      </a:pPr>
                      <a:r>
                        <a:rPr lang="en-US" sz="700" b="1" i="0" u="none" strike="noStrike">
                          <a:effectLst/>
                          <a:latin typeface="Arial" panose="020B0604020202020204" pitchFamily="34" charset="0"/>
                        </a:rPr>
                        <a:t>Community of License (if other)</a:t>
                      </a:r>
                    </a:p>
                  </a:txBody>
                  <a:tcPr marL="4711" marR="4711" marT="471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l" fontAlgn="t">
                        <a:buNone/>
                      </a:pPr>
                      <a:r>
                        <a:rPr lang="en-US" sz="700" b="1" i="0" u="none" strike="noStrike">
                          <a:effectLst/>
                          <a:latin typeface="Arial" panose="020B0604020202020204" pitchFamily="34" charset="0"/>
                        </a:rPr>
                        <a:t>Call Sign</a:t>
                      </a:r>
                    </a:p>
                  </a:txBody>
                  <a:tcPr marL="4711" marR="4711" marT="471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l" fontAlgn="t">
                        <a:buNone/>
                      </a:pPr>
                      <a:r>
                        <a:rPr lang="en-US" sz="700" b="1" i="0" u="none" strike="noStrike">
                          <a:effectLst/>
                          <a:latin typeface="Arial" panose="020B0604020202020204" pitchFamily="34" charset="0"/>
                        </a:rPr>
                        <a:t>Netw. (Primary)</a:t>
                      </a:r>
                    </a:p>
                  </a:txBody>
                  <a:tcPr marL="4711" marR="4711" marT="471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t">
                        <a:buNone/>
                      </a:pPr>
                      <a:r>
                        <a:rPr lang="en-US" sz="700" b="1" i="0" u="none" strike="noStrike">
                          <a:effectLst/>
                          <a:latin typeface="Arial" panose="020B0604020202020204" pitchFamily="34" charset="0"/>
                        </a:rPr>
                        <a:t>Vir. CH</a:t>
                      </a:r>
                    </a:p>
                  </a:txBody>
                  <a:tcPr marL="4711" marR="4711" marT="471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t">
                        <a:buNone/>
                      </a:pPr>
                      <a:r>
                        <a:rPr lang="en-US" sz="700" b="1" i="0" u="none" strike="noStrike">
                          <a:effectLst/>
                          <a:latin typeface="Arial" panose="020B0604020202020204" pitchFamily="34" charset="0"/>
                        </a:rPr>
                        <a:t>RF CH</a:t>
                      </a:r>
                    </a:p>
                  </a:txBody>
                  <a:tcPr marL="4711" marR="4711" marT="471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t">
                        <a:buNone/>
                      </a:pPr>
                      <a:r>
                        <a:rPr lang="en-US" sz="400" b="1" i="0" u="none" strike="noStrike">
                          <a:effectLst/>
                          <a:latin typeface="Arial" panose="020B0604020202020204" pitchFamily="34" charset="0"/>
                        </a:rPr>
                        <a:t>Repack RF CH</a:t>
                      </a:r>
                    </a:p>
                  </a:txBody>
                  <a:tcPr marL="4711" marR="4711" marT="471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400" b="1" i="0" u="none" strike="noStrike">
                          <a:effectLst/>
                          <a:latin typeface="Arial" panose="020B0604020202020204" pitchFamily="34" charset="0"/>
                        </a:rPr>
                        <a:t>Repack Band</a:t>
                      </a:r>
                    </a:p>
                  </a:txBody>
                  <a:tcPr marL="4711" marR="4711" marT="471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400" b="1" i="0" u="none" strike="noStrike">
                          <a:effectLst/>
                          <a:latin typeface="Arial" panose="020B0604020202020204" pitchFamily="34" charset="0"/>
                        </a:rPr>
                        <a:t>Repack Move</a:t>
                      </a:r>
                    </a:p>
                  </a:txBody>
                  <a:tcPr marL="4711" marR="4711" marT="471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400" b="1" i="0" u="none" strike="noStrike">
                          <a:effectLst/>
                          <a:latin typeface="Arial" panose="020B0604020202020204" pitchFamily="34" charset="0"/>
                        </a:rPr>
                        <a:t>F_low</a:t>
                      </a:r>
                      <a:br>
                        <a:rPr lang="en-US" sz="400" b="1" i="0" u="none" strike="noStrike">
                          <a:effectLst/>
                          <a:latin typeface="Arial" panose="020B0604020202020204" pitchFamily="34" charset="0"/>
                        </a:rPr>
                      </a:br>
                      <a:r>
                        <a:rPr lang="en-US" sz="400" b="1" i="0" u="none" strike="noStrike">
                          <a:effectLst/>
                          <a:latin typeface="Arial" panose="020B0604020202020204" pitchFamily="34" charset="0"/>
                        </a:rPr>
                        <a:t>(MHz)</a:t>
                      </a:r>
                    </a:p>
                  </a:txBody>
                  <a:tcPr marL="4711" marR="4711" marT="471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400" b="1" i="0" u="none" strike="noStrike">
                          <a:effectLst/>
                          <a:latin typeface="Arial" panose="020B0604020202020204" pitchFamily="34" charset="0"/>
                        </a:rPr>
                        <a:t>F_high</a:t>
                      </a:r>
                      <a:br>
                        <a:rPr lang="en-US" sz="400" b="1" i="0" u="none" strike="noStrike">
                          <a:effectLst/>
                          <a:latin typeface="Arial" panose="020B0604020202020204" pitchFamily="34" charset="0"/>
                        </a:rPr>
                      </a:br>
                      <a:r>
                        <a:rPr lang="en-US" sz="400" b="1" i="0" u="none" strike="noStrike">
                          <a:effectLst/>
                          <a:latin typeface="Arial" panose="020B0604020202020204" pitchFamily="34" charset="0"/>
                        </a:rPr>
                        <a:t>(MHz)</a:t>
                      </a:r>
                    </a:p>
                  </a:txBody>
                  <a:tcPr marL="4711" marR="4711" marT="471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600" b="1" i="0" u="none" strike="noStrike">
                          <a:effectLst/>
                          <a:latin typeface="Arial" panose="020B0604020202020204" pitchFamily="34" charset="0"/>
                        </a:rPr>
                        <a:t>Host/ Guest</a:t>
                      </a:r>
                    </a:p>
                  </a:txBody>
                  <a:tcPr marL="4711" marR="4711" marT="471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600" b="1" i="0" u="none" strike="noStrike">
                          <a:effectLst/>
                          <a:latin typeface="Arial" panose="020B0604020202020204" pitchFamily="34" charset="0"/>
                        </a:rPr>
                        <a:t>Phase</a:t>
                      </a:r>
                    </a:p>
                  </a:txBody>
                  <a:tcPr marL="4711" marR="4711" marT="471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700" b="1" i="0" u="none" strike="noStrike">
                          <a:effectLst/>
                          <a:latin typeface="Arial" panose="020B0604020202020204" pitchFamily="34" charset="0"/>
                        </a:rPr>
                        <a:t>ERP (kW)</a:t>
                      </a:r>
                    </a:p>
                  </a:txBody>
                  <a:tcPr marL="4711" marR="4711" marT="471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700" b="1" i="0" u="none" strike="noStrike">
                          <a:effectLst/>
                          <a:latin typeface="Arial" panose="020B0604020202020204" pitchFamily="34" charset="0"/>
                        </a:rPr>
                        <a:t>Polarity</a:t>
                      </a:r>
                    </a:p>
                  </a:txBody>
                  <a:tcPr marL="4711" marR="4711" marT="471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700" b="1" i="0" u="none" strike="noStrike">
                          <a:effectLst/>
                          <a:latin typeface="Arial" panose="020B0604020202020204" pitchFamily="34" charset="0"/>
                        </a:rPr>
                        <a:t>ERP (v)</a:t>
                      </a:r>
                    </a:p>
                  </a:txBody>
                  <a:tcPr marL="4711" marR="4711" marT="471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700" b="1" i="0" u="none" strike="noStrike">
                          <a:effectLst/>
                          <a:latin typeface="Arial" panose="020B0604020202020204" pitchFamily="34" charset="0"/>
                        </a:rPr>
                        <a:t>Pattern</a:t>
                      </a:r>
                    </a:p>
                  </a:txBody>
                  <a:tcPr marL="4711" marR="4711" marT="471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700" b="1" i="0" u="none" strike="noStrike">
                          <a:effectLst/>
                          <a:latin typeface="Arial" panose="020B0604020202020204" pitchFamily="34" charset="0"/>
                        </a:rPr>
                        <a:t>HAAT (m)</a:t>
                      </a:r>
                    </a:p>
                  </a:txBody>
                  <a:tcPr marL="4711" marR="4711" marT="471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700" b="1" i="0" u="none" strike="noStrike">
                          <a:effectLst/>
                          <a:latin typeface="Arial" panose="020B0604020202020204" pitchFamily="34" charset="0"/>
                        </a:rPr>
                        <a:t>AMSL (m)</a:t>
                      </a:r>
                    </a:p>
                  </a:txBody>
                  <a:tcPr marL="4711" marR="4711" marT="471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700" b="1" i="0" u="none" strike="noStrike">
                          <a:effectLst/>
                          <a:latin typeface="Arial" panose="020B0604020202020204" pitchFamily="34" charset="0"/>
                        </a:rPr>
                        <a:t>AGL (m)</a:t>
                      </a:r>
                    </a:p>
                  </a:txBody>
                  <a:tcPr marL="4711" marR="4711" marT="471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700" b="1" i="0" u="none" strike="noStrike">
                          <a:effectLst/>
                          <a:latin typeface="Arial" panose="020B0604020202020204" pitchFamily="34" charset="0"/>
                        </a:rPr>
                        <a:t>Facility ID #</a:t>
                      </a:r>
                    </a:p>
                  </a:txBody>
                  <a:tcPr marL="4711" marR="4711" marT="471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l" fontAlgn="t">
                        <a:buNone/>
                      </a:pPr>
                      <a:r>
                        <a:rPr lang="en-US" sz="700" b="1" i="0" u="none" strike="noStrike">
                          <a:effectLst/>
                          <a:latin typeface="Arial" panose="020B0604020202020204" pitchFamily="34" charset="0"/>
                        </a:rPr>
                        <a:t>Location/Notes</a:t>
                      </a:r>
                    </a:p>
                  </a:txBody>
                  <a:tcPr marL="4711" marR="4711" marT="471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4375750"/>
                  </a:ext>
                </a:extLst>
              </a:tr>
              <a:tr h="136044">
                <a:tc>
                  <a:txBody>
                    <a:bodyPr/>
                    <a:lstStyle/>
                    <a:p>
                      <a:pPr algn="r" fontAlgn="b">
                        <a:buNone/>
                      </a:pPr>
                      <a:r>
                        <a:rPr lang="en-US" sz="700" b="0" i="0" u="none" strike="noStrike">
                          <a:effectLst/>
                          <a:latin typeface="Arial" panose="020B0604020202020204" pitchFamily="34" charset="0"/>
                        </a:rPr>
                        <a:t>7</a:t>
                      </a:r>
                    </a:p>
                  </a:txBody>
                  <a:tcPr marL="4711" marR="4711" marT="4711"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700" b="0" i="0" u="none" strike="noStrike">
                          <a:effectLst/>
                          <a:latin typeface="Arial" panose="020B0604020202020204" pitchFamily="34" charset="0"/>
                        </a:rPr>
                        <a:t>SE</a:t>
                      </a:r>
                    </a:p>
                  </a:txBody>
                  <a:tcPr marL="4711" marR="4711" marT="4711"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700" b="0" i="0" u="none" strike="noStrike">
                          <a:effectLst/>
                          <a:latin typeface="Arial" panose="020B0604020202020204" pitchFamily="34" charset="0"/>
                        </a:rPr>
                        <a:t>MA</a:t>
                      </a:r>
                    </a:p>
                  </a:txBody>
                  <a:tcPr marL="4711" marR="4711" marT="4711"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700" b="0" i="0" u="none" strike="noStrike">
                          <a:effectLst/>
                          <a:latin typeface="Arial" panose="020B0604020202020204" pitchFamily="34" charset="0"/>
                        </a:rPr>
                        <a:t>BOSTON</a:t>
                      </a:r>
                    </a:p>
                  </a:txBody>
                  <a:tcPr marL="4711" marR="4711" marT="4711"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700" b="0" i="0" u="none" strike="noStrike">
                          <a:effectLst/>
                          <a:latin typeface="Arial" panose="020B0604020202020204" pitchFamily="34" charset="0"/>
                        </a:rPr>
                        <a:t>NORWELL</a:t>
                      </a:r>
                    </a:p>
                  </a:txBody>
                  <a:tcPr marL="4711" marR="4711" marT="4711"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700" b="0" i="0" u="none" strike="noStrike">
                          <a:effectLst/>
                          <a:latin typeface="Arial" panose="020B0604020202020204" pitchFamily="34" charset="0"/>
                        </a:rPr>
                        <a:t>WWDP</a:t>
                      </a:r>
                    </a:p>
                  </a:txBody>
                  <a:tcPr marL="4711" marR="4711" marT="4711"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700" b="0" i="0" u="none" strike="noStrike">
                          <a:effectLst/>
                          <a:latin typeface="Arial" panose="020B0604020202020204" pitchFamily="34" charset="0"/>
                        </a:rPr>
                        <a:t>ind.</a:t>
                      </a:r>
                    </a:p>
                  </a:txBody>
                  <a:tcPr marL="4711" marR="4711" marT="4711"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US" sz="700" b="0" i="0" u="none" strike="noStrike">
                          <a:effectLst/>
                          <a:latin typeface="Arial" panose="020B0604020202020204" pitchFamily="34" charset="0"/>
                        </a:rPr>
                        <a:t>46.1</a:t>
                      </a:r>
                    </a:p>
                  </a:txBody>
                  <a:tcPr marL="4711" marR="4711" marT="4711"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US" sz="700" b="0" i="0" u="none" strike="noStrike">
                          <a:effectLst/>
                          <a:latin typeface="Arial" panose="020B0604020202020204" pitchFamily="34" charset="0"/>
                        </a:rPr>
                        <a:t>10</a:t>
                      </a:r>
                    </a:p>
                  </a:txBody>
                  <a:tcPr marL="4711" marR="4711" marT="4711" marB="0" anchor="b">
                    <a:lnL>
                      <a:noFill/>
                    </a:lnL>
                    <a:lnR>
                      <a:noFill/>
                    </a:lnR>
                    <a:lnT w="6350" cap="flat" cmpd="sng" algn="ctr">
                      <a:solidFill>
                        <a:srgbClr val="000000"/>
                      </a:solidFill>
                      <a:prstDash val="solid"/>
                      <a:round/>
                      <a:headEnd type="none" w="med" len="med"/>
                      <a:tailEnd type="none" w="med" len="med"/>
                    </a:lnT>
                    <a:lnB>
                      <a:noFill/>
                    </a:lnB>
                    <a:solidFill>
                      <a:srgbClr val="FFFF00"/>
                    </a:solidFill>
                  </a:tcPr>
                </a:tc>
                <a:tc>
                  <a:txBody>
                    <a:bodyPr/>
                    <a:lstStyle/>
                    <a:p>
                      <a:pPr algn="r" fontAlgn="b">
                        <a:buNone/>
                      </a:pPr>
                      <a:r>
                        <a:rPr lang="en-US" sz="700" b="0" i="0" u="none" strike="noStrike">
                          <a:effectLst/>
                          <a:latin typeface="Arial" panose="020B0604020202020204" pitchFamily="34" charset="0"/>
                        </a:rPr>
                        <a:t>10</a:t>
                      </a:r>
                    </a:p>
                  </a:txBody>
                  <a:tcPr marL="4711" marR="4711" marT="4711"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US" sz="700" b="0" i="0" u="none" strike="noStrike">
                          <a:effectLst/>
                          <a:latin typeface="Arial" panose="020B0604020202020204" pitchFamily="34" charset="0"/>
                        </a:rPr>
                        <a:t>Hi-V</a:t>
                      </a:r>
                    </a:p>
                  </a:txBody>
                  <a:tcPr marL="4711" marR="4711" marT="4711" marB="0" anchor="b">
                    <a:lnL>
                      <a:noFill/>
                    </a:lnL>
                    <a:lnR>
                      <a:noFill/>
                    </a:lnR>
                    <a:lnT w="6350" cap="flat" cmpd="sng" algn="ctr">
                      <a:solidFill>
                        <a:srgbClr val="000000"/>
                      </a:solidFill>
                      <a:prstDash val="solid"/>
                      <a:round/>
                      <a:headEnd type="none" w="med" len="med"/>
                      <a:tailEnd type="none" w="med" len="med"/>
                    </a:lnT>
                    <a:lnB>
                      <a:noFill/>
                    </a:lnB>
                    <a:solidFill>
                      <a:srgbClr val="FFFF00"/>
                    </a:solidFill>
                  </a:tcPr>
                </a:tc>
                <a:tc>
                  <a:txBody>
                    <a:bodyPr/>
                    <a:lstStyle/>
                    <a:p>
                      <a:pPr algn="r" fontAlgn="b">
                        <a:buNone/>
                      </a:pPr>
                      <a:r>
                        <a:rPr lang="en-US" sz="700" b="0" i="0" u="none" strike="noStrike">
                          <a:effectLst/>
                          <a:latin typeface="Arial" panose="020B0604020202020204" pitchFamily="34" charset="0"/>
                        </a:rPr>
                        <a:t>0</a:t>
                      </a:r>
                    </a:p>
                  </a:txBody>
                  <a:tcPr marL="4711" marR="4711" marT="4711" marB="0" anchor="b">
                    <a:lnL>
                      <a:noFill/>
                    </a:lnL>
                    <a:lnR>
                      <a:noFill/>
                    </a:lnR>
                    <a:lnT w="6350" cap="flat" cmpd="sng" algn="ctr">
                      <a:solidFill>
                        <a:srgbClr val="000000"/>
                      </a:solidFill>
                      <a:prstDash val="solid"/>
                      <a:round/>
                      <a:headEnd type="none" w="med" len="med"/>
                      <a:tailEnd type="none" w="med" len="med"/>
                    </a:lnT>
                    <a:lnB>
                      <a:noFill/>
                    </a:lnB>
                    <a:solidFill>
                      <a:srgbClr val="00B050"/>
                    </a:solidFill>
                  </a:tcPr>
                </a:tc>
                <a:tc>
                  <a:txBody>
                    <a:bodyPr/>
                    <a:lstStyle/>
                    <a:p>
                      <a:pPr algn="r" fontAlgn="b">
                        <a:buNone/>
                      </a:pPr>
                      <a:r>
                        <a:rPr lang="en-US" sz="700" b="0" i="0" u="none" strike="noStrike">
                          <a:effectLst/>
                          <a:latin typeface="Arial" panose="020B0604020202020204" pitchFamily="34" charset="0"/>
                        </a:rPr>
                        <a:t>192</a:t>
                      </a:r>
                    </a:p>
                  </a:txBody>
                  <a:tcPr marL="4711" marR="4711" marT="4711"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US" sz="700" b="0" i="0" u="none" strike="noStrike">
                          <a:effectLst/>
                          <a:latin typeface="Arial" panose="020B0604020202020204" pitchFamily="34" charset="0"/>
                        </a:rPr>
                        <a:t>198</a:t>
                      </a:r>
                    </a:p>
                  </a:txBody>
                  <a:tcPr marL="4711" marR="4711" marT="4711"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700" b="0" i="0" u="none" strike="noStrike">
                          <a:effectLst/>
                          <a:latin typeface="Arial" panose="020B0604020202020204" pitchFamily="34" charset="0"/>
                        </a:rPr>
                        <a:t>-</a:t>
                      </a:r>
                    </a:p>
                  </a:txBody>
                  <a:tcPr marL="4711" marR="4711" marT="4711"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700" b="0" i="0" u="none" strike="noStrike">
                          <a:effectLst/>
                          <a:latin typeface="Arial" panose="020B0604020202020204" pitchFamily="34" charset="0"/>
                        </a:rPr>
                        <a:t>-</a:t>
                      </a:r>
                    </a:p>
                  </a:txBody>
                  <a:tcPr marL="4711" marR="4711" marT="4711"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US" sz="700" b="0" i="0" u="none" strike="noStrike">
                          <a:effectLst/>
                          <a:latin typeface="Arial" panose="020B0604020202020204" pitchFamily="34" charset="0"/>
                        </a:rPr>
                        <a:t>5</a:t>
                      </a:r>
                    </a:p>
                  </a:txBody>
                  <a:tcPr marL="4711" marR="4711" marT="4711"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700" b="0" i="0" u="none" strike="noStrike">
                          <a:effectLst/>
                          <a:latin typeface="Arial" panose="020B0604020202020204" pitchFamily="34" charset="0"/>
                        </a:rPr>
                        <a:t>H</a:t>
                      </a:r>
                    </a:p>
                  </a:txBody>
                  <a:tcPr marL="4711" marR="4711" marT="4711"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US" sz="700" b="0" i="0" u="none" strike="noStrike">
                          <a:effectLst/>
                          <a:latin typeface="Arial" panose="020B0604020202020204" pitchFamily="34" charset="0"/>
                        </a:rPr>
                        <a:t>-</a:t>
                      </a:r>
                    </a:p>
                  </a:txBody>
                  <a:tcPr marL="4711" marR="4711" marT="4711"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700" b="0" i="0" u="none" strike="noStrike">
                          <a:effectLst/>
                          <a:latin typeface="Arial" panose="020B0604020202020204" pitchFamily="34" charset="0"/>
                        </a:rPr>
                        <a:t>ND</a:t>
                      </a:r>
                    </a:p>
                  </a:txBody>
                  <a:tcPr marL="4711" marR="4711" marT="4711"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US" sz="700" b="0" i="0" u="none" strike="noStrike">
                          <a:effectLst/>
                          <a:latin typeface="Arial" panose="020B0604020202020204" pitchFamily="34" charset="0"/>
                        </a:rPr>
                        <a:t>142</a:t>
                      </a:r>
                    </a:p>
                  </a:txBody>
                  <a:tcPr marL="4711" marR="4711" marT="4711"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700" b="0" i="0" u="none" strike="noStrike">
                        <a:effectLst/>
                        <a:latin typeface="Arial" panose="020B0604020202020204" pitchFamily="34" charset="0"/>
                      </a:endParaRPr>
                    </a:p>
                  </a:txBody>
                  <a:tcPr marL="4711" marR="4711" marT="4711"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US" sz="700" b="0" i="0" u="none" strike="noStrike">
                          <a:effectLst/>
                          <a:latin typeface="Arial" panose="020B0604020202020204" pitchFamily="34" charset="0"/>
                        </a:rPr>
                        <a:t>149</a:t>
                      </a:r>
                    </a:p>
                  </a:txBody>
                  <a:tcPr marL="4711" marR="4711" marT="4711"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US" sz="700" b="0" i="0" u="none" strike="noStrike">
                          <a:effectLst/>
                          <a:latin typeface="Arial" panose="020B0604020202020204" pitchFamily="34" charset="0"/>
                        </a:rPr>
                        <a:t>23671</a:t>
                      </a:r>
                    </a:p>
                  </a:txBody>
                  <a:tcPr marL="4711" marR="4711" marT="4711"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700" b="0" i="0" u="none" strike="noStrike">
                          <a:effectLst/>
                          <a:latin typeface="Arial" panose="020B0604020202020204" pitchFamily="34" charset="0"/>
                        </a:rPr>
                        <a:t>Cochesett, MA</a:t>
                      </a:r>
                    </a:p>
                  </a:txBody>
                  <a:tcPr marL="4711" marR="4711" marT="4711" marB="0" anchor="b">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422688086"/>
                  </a:ext>
                </a:extLst>
              </a:tr>
              <a:tr h="136044">
                <a:tc>
                  <a:txBody>
                    <a:bodyPr/>
                    <a:lstStyle/>
                    <a:p>
                      <a:pPr algn="r" fontAlgn="b">
                        <a:buNone/>
                      </a:pPr>
                      <a:r>
                        <a:rPr lang="en-US" sz="700" b="0" i="0" u="none" strike="noStrike">
                          <a:effectLst/>
                          <a:latin typeface="Arial" panose="020B0604020202020204" pitchFamily="34" charset="0"/>
                        </a:rPr>
                        <a:t>7</a:t>
                      </a: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a:t>
                      </a: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MA</a:t>
                      </a: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BOSTON</a:t>
                      </a: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LAWRENCE</a:t>
                      </a: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WMFP</a:t>
                      </a: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ind.</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62.1</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18</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10</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Hi-V</a:t>
                      </a:r>
                    </a:p>
                  </a:txBody>
                  <a:tcPr marL="4711" marR="4711" marT="4711" marB="0" anchor="b">
                    <a:lnL>
                      <a:noFill/>
                    </a:lnL>
                    <a:lnR>
                      <a:noFill/>
                    </a:lnR>
                    <a:lnT>
                      <a:noFill/>
                    </a:lnT>
                    <a:lnB>
                      <a:noFill/>
                    </a:lnB>
                    <a:solidFill>
                      <a:srgbClr val="FFFF00"/>
                    </a:solidFill>
                  </a:tcPr>
                </a:tc>
                <a:tc>
                  <a:txBody>
                    <a:bodyPr/>
                    <a:lstStyle/>
                    <a:p>
                      <a:pPr algn="r" fontAlgn="b">
                        <a:buNone/>
                      </a:pPr>
                      <a:r>
                        <a:rPr lang="en-US" sz="700" b="0" i="0" u="none" strike="noStrike">
                          <a:effectLst/>
                          <a:latin typeface="Arial" panose="020B0604020202020204" pitchFamily="34" charset="0"/>
                        </a:rPr>
                        <a:t>-8</a:t>
                      </a:r>
                    </a:p>
                  </a:txBody>
                  <a:tcPr marL="4711" marR="4711" marT="4711" marB="0" anchor="b">
                    <a:lnL>
                      <a:noFill/>
                    </a:lnL>
                    <a:lnR>
                      <a:noFill/>
                    </a:lnR>
                    <a:lnT>
                      <a:noFill/>
                    </a:lnT>
                    <a:lnB>
                      <a:noFill/>
                    </a:lnB>
                    <a:solidFill>
                      <a:srgbClr val="E6B8B7"/>
                    </a:solidFill>
                  </a:tcPr>
                </a:tc>
                <a:tc>
                  <a:txBody>
                    <a:bodyPr/>
                    <a:lstStyle/>
                    <a:p>
                      <a:pPr algn="r" fontAlgn="b">
                        <a:buNone/>
                      </a:pPr>
                      <a:r>
                        <a:rPr lang="en-US" sz="700" b="0" i="0" u="none" strike="noStrike">
                          <a:effectLst/>
                          <a:latin typeface="Arial" panose="020B0604020202020204" pitchFamily="34" charset="0"/>
                        </a:rPr>
                        <a:t>192</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198</a:t>
                      </a:r>
                    </a:p>
                  </a:txBody>
                  <a:tcPr marL="4711" marR="4711" marT="4711" marB="0" anchor="b">
                    <a:lnL>
                      <a:noFill/>
                    </a:lnL>
                    <a:lnR>
                      <a:noFill/>
                    </a:lnR>
                    <a:lnT>
                      <a:noFill/>
                    </a:lnT>
                    <a:lnB>
                      <a:noFill/>
                    </a:lnB>
                    <a:noFill/>
                  </a:tcPr>
                </a:tc>
                <a:tc>
                  <a:txBody>
                    <a:bodyPr/>
                    <a:lstStyle/>
                    <a:p>
                      <a:pPr algn="ctr" fontAlgn="b">
                        <a:buNone/>
                      </a:pPr>
                      <a:r>
                        <a:rPr lang="en-US" sz="700" b="0" i="0" u="none" strike="noStrike">
                          <a:effectLst/>
                          <a:latin typeface="Arial" panose="020B0604020202020204" pitchFamily="34" charset="0"/>
                        </a:rPr>
                        <a:t>G</a:t>
                      </a:r>
                    </a:p>
                  </a:txBody>
                  <a:tcPr marL="4711" marR="4711" marT="4711" marB="0" anchor="b">
                    <a:lnL>
                      <a:noFill/>
                    </a:lnL>
                    <a:lnR>
                      <a:noFill/>
                    </a:lnR>
                    <a:lnT>
                      <a:noFill/>
                    </a:lnT>
                    <a:lnB>
                      <a:noFill/>
                    </a:lnB>
                    <a:noFill/>
                  </a:tcPr>
                </a:tc>
                <a:tc>
                  <a:txBody>
                    <a:bodyPr/>
                    <a:lstStyle/>
                    <a:p>
                      <a:pPr algn="ctr" fontAlgn="b">
                        <a:buNone/>
                      </a:pPr>
                      <a:r>
                        <a:rPr lang="en-US" sz="700" b="0" i="0" u="none" strike="noStrike">
                          <a:effectLst/>
                          <a:latin typeface="Arial" panose="020B0604020202020204" pitchFamily="34" charset="0"/>
                        </a:rPr>
                        <a:t>-</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1000</a:t>
                      </a:r>
                    </a:p>
                  </a:txBody>
                  <a:tcPr marL="4711" marR="4711" marT="4711" marB="0" anchor="b">
                    <a:lnL>
                      <a:noFill/>
                    </a:lnL>
                    <a:lnR>
                      <a:noFill/>
                    </a:lnR>
                    <a:lnT>
                      <a:noFill/>
                    </a:lnT>
                    <a:lnB>
                      <a:noFill/>
                    </a:lnB>
                    <a:noFill/>
                  </a:tcPr>
                </a:tc>
                <a:tc>
                  <a:txBody>
                    <a:bodyPr/>
                    <a:lstStyle/>
                    <a:p>
                      <a:pPr algn="ctr" fontAlgn="b">
                        <a:buNone/>
                      </a:pPr>
                      <a:r>
                        <a:rPr lang="en-US" sz="700" b="0" i="0" u="none" strike="noStrike">
                          <a:effectLst/>
                          <a:latin typeface="Arial" panose="020B0604020202020204" pitchFamily="34" charset="0"/>
                        </a:rPr>
                        <a:t>H</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a:t>
                      </a:r>
                    </a:p>
                  </a:txBody>
                  <a:tcPr marL="4711" marR="4711" marT="4711" marB="0" anchor="b">
                    <a:lnL>
                      <a:noFill/>
                    </a:lnL>
                    <a:lnR>
                      <a:noFill/>
                    </a:lnR>
                    <a:lnT>
                      <a:noFill/>
                    </a:lnT>
                    <a:lnB>
                      <a:noFill/>
                    </a:lnB>
                    <a:noFill/>
                  </a:tcPr>
                </a:tc>
                <a:tc>
                  <a:txBody>
                    <a:bodyPr/>
                    <a:lstStyle/>
                    <a:p>
                      <a:pPr algn="ctr" fontAlgn="b">
                        <a:buNone/>
                      </a:pPr>
                      <a:r>
                        <a:rPr lang="en-US" sz="700" b="0" i="0" u="none" strike="noStrike">
                          <a:solidFill>
                            <a:srgbClr val="9C0006"/>
                          </a:solidFill>
                          <a:effectLst/>
                          <a:latin typeface="Arial" panose="020B0604020202020204" pitchFamily="34" charset="0"/>
                        </a:rPr>
                        <a:t>D</a:t>
                      </a:r>
                    </a:p>
                  </a:txBody>
                  <a:tcPr marL="4711" marR="4711" marT="4711" marB="0" anchor="b">
                    <a:lnL>
                      <a:noFill/>
                    </a:lnL>
                    <a:lnR>
                      <a:noFill/>
                    </a:lnR>
                    <a:lnT>
                      <a:noFill/>
                    </a:lnT>
                    <a:lnB>
                      <a:noFill/>
                    </a:lnB>
                    <a:solidFill>
                      <a:srgbClr val="FFC7CE"/>
                    </a:solidFill>
                  </a:tcPr>
                </a:tc>
                <a:tc>
                  <a:txBody>
                    <a:bodyPr/>
                    <a:lstStyle/>
                    <a:p>
                      <a:pPr algn="r" fontAlgn="b">
                        <a:buNone/>
                      </a:pPr>
                      <a:r>
                        <a:rPr lang="en-US" sz="700" b="0" i="0" u="none" strike="noStrike">
                          <a:effectLst/>
                          <a:latin typeface="Arial" panose="020B0604020202020204" pitchFamily="34" charset="0"/>
                        </a:rPr>
                        <a:t>289</a:t>
                      </a:r>
                    </a:p>
                  </a:txBody>
                  <a:tcPr marL="4711" marR="4711" marT="4711" marB="0" anchor="b">
                    <a:lnL>
                      <a:noFill/>
                    </a:lnL>
                    <a:lnR>
                      <a:noFill/>
                    </a:lnR>
                    <a:lnT>
                      <a:noFill/>
                    </a:lnT>
                    <a:lnB>
                      <a:noFill/>
                    </a:lnB>
                    <a:noFill/>
                  </a:tcPr>
                </a:tc>
                <a:tc>
                  <a:txBody>
                    <a:bodyPr/>
                    <a:lstStyle/>
                    <a:p>
                      <a:pPr algn="l" fontAlgn="b">
                        <a:buNone/>
                      </a:pPr>
                      <a:endParaRPr lang="en-US" sz="700" b="0" i="0" u="none" strike="noStrike">
                        <a:effectLst/>
                        <a:latin typeface="Arial" panose="020B0604020202020204" pitchFamily="34" charset="0"/>
                      </a:endParaRP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302</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41436</a:t>
                      </a:r>
                    </a:p>
                  </a:txBody>
                  <a:tcPr marL="4711" marR="4711" marT="4711" marB="0" anchor="b">
                    <a:lnL>
                      <a:noFill/>
                    </a:lnL>
                    <a:lnR>
                      <a:noFill/>
                    </a:lnR>
                    <a:lnT>
                      <a:noFill/>
                    </a:lnT>
                    <a:lnB>
                      <a:noFill/>
                    </a:lnB>
                    <a:noFill/>
                  </a:tcPr>
                </a:tc>
                <a:tc>
                  <a:txBody>
                    <a:bodyPr/>
                    <a:lstStyle/>
                    <a:p>
                      <a:pPr algn="l" fontAlgn="b">
                        <a:buNone/>
                      </a:pPr>
                      <a:endParaRPr lang="en-US" sz="700" b="0" i="0" u="none" strike="noStrike">
                        <a:effectLst/>
                        <a:latin typeface="Arial" panose="020B0604020202020204" pitchFamily="34" charset="0"/>
                      </a:endParaRPr>
                    </a:p>
                  </a:txBody>
                  <a:tcPr marL="4711" marR="4711" marT="4711" marB="0" anchor="b">
                    <a:lnL>
                      <a:noFill/>
                    </a:lnL>
                    <a:lnR>
                      <a:noFill/>
                    </a:lnR>
                    <a:lnT>
                      <a:noFill/>
                    </a:lnT>
                    <a:lnB>
                      <a:noFill/>
                    </a:lnB>
                    <a:noFill/>
                  </a:tcPr>
                </a:tc>
                <a:extLst>
                  <a:ext uri="{0D108BD9-81ED-4DB2-BD59-A6C34878D82A}">
                    <a16:rowId xmlns:a16="http://schemas.microsoft.com/office/drawing/2014/main" val="2944378428"/>
                  </a:ext>
                </a:extLst>
              </a:tr>
              <a:tr h="136044">
                <a:tc>
                  <a:txBody>
                    <a:bodyPr/>
                    <a:lstStyle/>
                    <a:p>
                      <a:pPr algn="r" fontAlgn="b">
                        <a:buNone/>
                      </a:pPr>
                      <a:r>
                        <a:rPr lang="en-US" sz="700" b="0" i="0" u="none" strike="noStrike">
                          <a:effectLst/>
                          <a:latin typeface="Arial" panose="020B0604020202020204" pitchFamily="34" charset="0"/>
                        </a:rPr>
                        <a:t>7</a:t>
                      </a: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a:t>
                      </a: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MA</a:t>
                      </a: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BOSTON</a:t>
                      </a:r>
                    </a:p>
                  </a:txBody>
                  <a:tcPr marL="4711" marR="4711" marT="4711" marB="0" anchor="b">
                    <a:lnL>
                      <a:noFill/>
                    </a:lnL>
                    <a:lnR>
                      <a:noFill/>
                    </a:lnR>
                    <a:lnT>
                      <a:noFill/>
                    </a:lnT>
                    <a:lnB>
                      <a:noFill/>
                    </a:lnB>
                    <a:noFill/>
                  </a:tcPr>
                </a:tc>
                <a:tc>
                  <a:txBody>
                    <a:bodyPr/>
                    <a:lstStyle/>
                    <a:p>
                      <a:pPr algn="l" fontAlgn="b">
                        <a:buNone/>
                      </a:pPr>
                      <a:endParaRPr lang="en-US" sz="700" b="0" i="0" u="none" strike="noStrike">
                        <a:effectLst/>
                        <a:latin typeface="Arial" panose="020B0604020202020204" pitchFamily="34" charset="0"/>
                      </a:endParaRP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WGBH</a:t>
                      </a: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PBS</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2.1</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19</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5</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Lo-V</a:t>
                      </a:r>
                    </a:p>
                  </a:txBody>
                  <a:tcPr marL="4711" marR="4711" marT="4711" marB="0" anchor="b">
                    <a:lnL>
                      <a:noFill/>
                    </a:lnL>
                    <a:lnR>
                      <a:noFill/>
                    </a:lnR>
                    <a:lnT>
                      <a:noFill/>
                    </a:lnT>
                    <a:lnB>
                      <a:noFill/>
                    </a:lnB>
                    <a:solidFill>
                      <a:srgbClr val="FF0000"/>
                    </a:solidFill>
                  </a:tcPr>
                </a:tc>
                <a:tc>
                  <a:txBody>
                    <a:bodyPr/>
                    <a:lstStyle/>
                    <a:p>
                      <a:pPr algn="r" fontAlgn="b">
                        <a:buNone/>
                      </a:pPr>
                      <a:r>
                        <a:rPr lang="en-US" sz="700" b="0" i="0" u="none" strike="noStrike">
                          <a:effectLst/>
                          <a:latin typeface="Arial" panose="020B0604020202020204" pitchFamily="34" charset="0"/>
                        </a:rPr>
                        <a:t>-14</a:t>
                      </a:r>
                    </a:p>
                  </a:txBody>
                  <a:tcPr marL="4711" marR="4711" marT="4711" marB="0" anchor="b">
                    <a:lnL>
                      <a:noFill/>
                    </a:lnL>
                    <a:lnR>
                      <a:noFill/>
                    </a:lnR>
                    <a:lnT>
                      <a:noFill/>
                    </a:lnT>
                    <a:lnB>
                      <a:noFill/>
                    </a:lnB>
                    <a:solidFill>
                      <a:srgbClr val="E6B8B7"/>
                    </a:solidFill>
                  </a:tcPr>
                </a:tc>
                <a:tc>
                  <a:txBody>
                    <a:bodyPr/>
                    <a:lstStyle/>
                    <a:p>
                      <a:pPr algn="r" fontAlgn="b">
                        <a:buNone/>
                      </a:pPr>
                      <a:r>
                        <a:rPr lang="en-US" sz="700" b="0" i="0" u="none" strike="noStrike">
                          <a:effectLst/>
                          <a:latin typeface="Arial" panose="020B0604020202020204" pitchFamily="34" charset="0"/>
                        </a:rPr>
                        <a:t>76</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82</a:t>
                      </a:r>
                    </a:p>
                  </a:txBody>
                  <a:tcPr marL="4711" marR="4711" marT="4711" marB="0" anchor="b">
                    <a:lnL>
                      <a:noFill/>
                    </a:lnL>
                    <a:lnR>
                      <a:noFill/>
                    </a:lnR>
                    <a:lnT>
                      <a:noFill/>
                    </a:lnT>
                    <a:lnB>
                      <a:noFill/>
                    </a:lnB>
                    <a:noFill/>
                  </a:tcPr>
                </a:tc>
                <a:tc>
                  <a:txBody>
                    <a:bodyPr/>
                    <a:lstStyle/>
                    <a:p>
                      <a:pPr algn="ctr" fontAlgn="b">
                        <a:buNone/>
                      </a:pPr>
                      <a:r>
                        <a:rPr lang="en-US" sz="700" b="0" i="0" u="none" strike="noStrike">
                          <a:effectLst/>
                          <a:latin typeface="Arial" panose="020B0604020202020204" pitchFamily="34" charset="0"/>
                        </a:rPr>
                        <a:t>H</a:t>
                      </a:r>
                    </a:p>
                  </a:txBody>
                  <a:tcPr marL="4711" marR="4711" marT="4711" marB="0" anchor="b">
                    <a:lnL>
                      <a:noFill/>
                    </a:lnL>
                    <a:lnR>
                      <a:noFill/>
                    </a:lnR>
                    <a:lnT>
                      <a:noFill/>
                    </a:lnT>
                    <a:lnB>
                      <a:noFill/>
                    </a:lnB>
                    <a:noFill/>
                  </a:tcPr>
                </a:tc>
                <a:tc>
                  <a:txBody>
                    <a:bodyPr/>
                    <a:lstStyle/>
                    <a:p>
                      <a:pPr algn="ctr" fontAlgn="b">
                        <a:buNone/>
                      </a:pPr>
                      <a:r>
                        <a:rPr lang="en-US" sz="700" b="0" i="0" u="none" strike="noStrike">
                          <a:effectLst/>
                          <a:latin typeface="Arial" panose="020B0604020202020204" pitchFamily="34" charset="0"/>
                        </a:rPr>
                        <a:t>4</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700</a:t>
                      </a:r>
                    </a:p>
                  </a:txBody>
                  <a:tcPr marL="4711" marR="4711" marT="4711" marB="0" anchor="b">
                    <a:lnL>
                      <a:noFill/>
                    </a:lnL>
                    <a:lnR>
                      <a:noFill/>
                    </a:lnR>
                    <a:lnT>
                      <a:noFill/>
                    </a:lnT>
                    <a:lnB>
                      <a:noFill/>
                    </a:lnB>
                    <a:noFill/>
                  </a:tcPr>
                </a:tc>
                <a:tc>
                  <a:txBody>
                    <a:bodyPr/>
                    <a:lstStyle/>
                    <a:p>
                      <a:pPr algn="ctr" fontAlgn="b">
                        <a:buNone/>
                      </a:pPr>
                      <a:r>
                        <a:rPr lang="en-US" sz="700" b="0" i="0" u="none" strike="noStrike">
                          <a:effectLst/>
                          <a:latin typeface="Arial" panose="020B0604020202020204" pitchFamily="34" charset="0"/>
                        </a:rPr>
                        <a:t>H</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a:t>
                      </a:r>
                    </a:p>
                  </a:txBody>
                  <a:tcPr marL="4711" marR="4711" marT="4711" marB="0" anchor="b">
                    <a:lnL>
                      <a:noFill/>
                    </a:lnL>
                    <a:lnR>
                      <a:noFill/>
                    </a:lnR>
                    <a:lnT>
                      <a:noFill/>
                    </a:lnT>
                    <a:lnB>
                      <a:noFill/>
                    </a:lnB>
                    <a:noFill/>
                  </a:tcPr>
                </a:tc>
                <a:tc>
                  <a:txBody>
                    <a:bodyPr/>
                    <a:lstStyle/>
                    <a:p>
                      <a:pPr algn="ctr" fontAlgn="b">
                        <a:buNone/>
                      </a:pPr>
                      <a:r>
                        <a:rPr lang="en-US" sz="700" b="0" i="0" u="none" strike="noStrike">
                          <a:effectLst/>
                          <a:latin typeface="Arial" panose="020B0604020202020204" pitchFamily="34" charset="0"/>
                        </a:rPr>
                        <a:t>ND</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374</a:t>
                      </a:r>
                    </a:p>
                  </a:txBody>
                  <a:tcPr marL="4711" marR="4711" marT="4711" marB="0" anchor="b">
                    <a:lnL>
                      <a:noFill/>
                    </a:lnL>
                    <a:lnR>
                      <a:noFill/>
                    </a:lnR>
                    <a:lnT>
                      <a:noFill/>
                    </a:lnT>
                    <a:lnB>
                      <a:noFill/>
                    </a:lnB>
                    <a:noFill/>
                  </a:tcPr>
                </a:tc>
                <a:tc>
                  <a:txBody>
                    <a:bodyPr/>
                    <a:lstStyle/>
                    <a:p>
                      <a:pPr algn="l" fontAlgn="b">
                        <a:buNone/>
                      </a:pPr>
                      <a:endParaRPr lang="en-US" sz="700" b="0" i="0" u="none" strike="noStrike">
                        <a:effectLst/>
                        <a:latin typeface="Arial" panose="020B0604020202020204" pitchFamily="34" charset="0"/>
                      </a:endParaRP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370</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72099</a:t>
                      </a:r>
                    </a:p>
                  </a:txBody>
                  <a:tcPr marL="4711" marR="4711" marT="4711" marB="0" anchor="b">
                    <a:lnL>
                      <a:noFill/>
                    </a:lnL>
                    <a:lnR>
                      <a:noFill/>
                    </a:lnR>
                    <a:lnT>
                      <a:noFill/>
                    </a:lnT>
                    <a:lnB>
                      <a:noFill/>
                    </a:lnB>
                    <a:noFill/>
                  </a:tcPr>
                </a:tc>
                <a:tc>
                  <a:txBody>
                    <a:bodyPr/>
                    <a:lstStyle/>
                    <a:p>
                      <a:pPr algn="l" fontAlgn="b">
                        <a:buNone/>
                      </a:pPr>
                      <a:endParaRPr lang="en-US" sz="700" b="0" i="0" u="none" strike="noStrike">
                        <a:effectLst/>
                        <a:latin typeface="Arial" panose="020B0604020202020204" pitchFamily="34" charset="0"/>
                      </a:endParaRPr>
                    </a:p>
                  </a:txBody>
                  <a:tcPr marL="4711" marR="4711" marT="4711" marB="0" anchor="b">
                    <a:lnL>
                      <a:noFill/>
                    </a:lnL>
                    <a:lnR>
                      <a:noFill/>
                    </a:lnR>
                    <a:lnT>
                      <a:noFill/>
                    </a:lnT>
                    <a:lnB>
                      <a:noFill/>
                    </a:lnB>
                    <a:noFill/>
                  </a:tcPr>
                </a:tc>
                <a:extLst>
                  <a:ext uri="{0D108BD9-81ED-4DB2-BD59-A6C34878D82A}">
                    <a16:rowId xmlns:a16="http://schemas.microsoft.com/office/drawing/2014/main" val="1386118871"/>
                  </a:ext>
                </a:extLst>
              </a:tr>
              <a:tr h="136044">
                <a:tc>
                  <a:txBody>
                    <a:bodyPr/>
                    <a:lstStyle/>
                    <a:p>
                      <a:pPr algn="r" fontAlgn="b">
                        <a:buNone/>
                      </a:pPr>
                      <a:r>
                        <a:rPr lang="en-US" sz="700" b="0" i="0" u="none" strike="noStrike">
                          <a:effectLst/>
                          <a:latin typeface="Arial" panose="020B0604020202020204" pitchFamily="34" charset="0"/>
                        </a:rPr>
                        <a:t>7</a:t>
                      </a:r>
                    </a:p>
                  </a:txBody>
                  <a:tcPr marL="4711" marR="4711" marT="4711" marB="0" anchor="b">
                    <a:lnL>
                      <a:noFill/>
                    </a:lnL>
                    <a:lnR>
                      <a:noFill/>
                    </a:lnR>
                    <a:lnT>
                      <a:noFill/>
                    </a:lnT>
                    <a:lnB>
                      <a:noFill/>
                    </a:lnB>
                    <a:noFill/>
                  </a:tcPr>
                </a:tc>
                <a:tc>
                  <a:txBody>
                    <a:bodyPr/>
                    <a:lstStyle/>
                    <a:p>
                      <a:pPr algn="l" fontAlgn="b">
                        <a:buNone/>
                      </a:pPr>
                      <a:endParaRPr lang="en-US" sz="700" b="0" i="0" u="none" strike="noStrike">
                        <a:effectLst/>
                        <a:latin typeface="Arial" panose="020B0604020202020204" pitchFamily="34" charset="0"/>
                      </a:endParaRP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MA</a:t>
                      </a: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BOSTON</a:t>
                      </a:r>
                    </a:p>
                  </a:txBody>
                  <a:tcPr marL="4711" marR="4711" marT="4711" marB="0" anchor="b">
                    <a:lnL>
                      <a:noFill/>
                    </a:lnL>
                    <a:lnR>
                      <a:noFill/>
                    </a:lnR>
                    <a:lnT>
                      <a:noFill/>
                    </a:lnT>
                    <a:lnB>
                      <a:noFill/>
                    </a:lnB>
                    <a:noFill/>
                  </a:tcPr>
                </a:tc>
                <a:tc>
                  <a:txBody>
                    <a:bodyPr/>
                    <a:lstStyle/>
                    <a:p>
                      <a:pPr algn="l" fontAlgn="b">
                        <a:buNone/>
                      </a:pPr>
                      <a:endParaRPr lang="en-US" sz="700" b="0" i="0" u="none" strike="noStrike">
                        <a:effectLst/>
                        <a:latin typeface="Arial" panose="020B0604020202020204" pitchFamily="34" charset="0"/>
                      </a:endParaRPr>
                    </a:p>
                  </a:txBody>
                  <a:tcPr marL="4711" marR="4711" marT="4711" marB="0" anchor="b">
                    <a:lnL>
                      <a:noFill/>
                    </a:lnL>
                    <a:lnR>
                      <a:noFill/>
                    </a:lnR>
                    <a:lnT>
                      <a:noFill/>
                    </a:lnT>
                    <a:lnB>
                      <a:noFill/>
                    </a:lnB>
                    <a:noFill/>
                  </a:tcPr>
                </a:tc>
                <a:tc gridSpan="2">
                  <a:txBody>
                    <a:bodyPr/>
                    <a:lstStyle/>
                    <a:p>
                      <a:pPr algn="l" fontAlgn="b">
                        <a:buNone/>
                      </a:pPr>
                      <a:r>
                        <a:rPr lang="en-US" sz="700" b="0" i="0" u="none" strike="noStrike">
                          <a:effectLst/>
                          <a:latin typeface="Arial" panose="020B0604020202020204" pitchFamily="34" charset="0"/>
                        </a:rPr>
                        <a:t>WFXZ-CD</a:t>
                      </a:r>
                    </a:p>
                  </a:txBody>
                  <a:tcPr marL="4711" marR="4711" marT="4711" marB="0" anchor="b">
                    <a:lnL>
                      <a:noFill/>
                    </a:lnL>
                    <a:lnR>
                      <a:noFill/>
                    </a:lnR>
                    <a:lnT>
                      <a:noFill/>
                    </a:lnT>
                    <a:lnB>
                      <a:noFill/>
                    </a:lnB>
                    <a:noFill/>
                  </a:tcPr>
                </a:tc>
                <a:tc hMerge="1">
                  <a:txBody>
                    <a:bodyPr/>
                    <a:lstStyle/>
                    <a:p>
                      <a:endParaRPr lang="en-US"/>
                    </a:p>
                  </a:txBody>
                  <a:tcPr/>
                </a:tc>
                <a:tc>
                  <a:txBody>
                    <a:bodyPr/>
                    <a:lstStyle/>
                    <a:p>
                      <a:pPr algn="r" fontAlgn="b">
                        <a:buNone/>
                      </a:pPr>
                      <a:r>
                        <a:rPr lang="en-US" sz="700" b="0" i="0" u="none" strike="noStrike">
                          <a:effectLst/>
                          <a:latin typeface="Arial" panose="020B0604020202020204" pitchFamily="34" charset="0"/>
                        </a:rPr>
                        <a:t>24.1</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19</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5</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Lo-V</a:t>
                      </a:r>
                    </a:p>
                  </a:txBody>
                  <a:tcPr marL="4711" marR="4711" marT="4711" marB="0" anchor="b">
                    <a:lnL>
                      <a:noFill/>
                    </a:lnL>
                    <a:lnR>
                      <a:noFill/>
                    </a:lnR>
                    <a:lnT>
                      <a:noFill/>
                    </a:lnT>
                    <a:lnB>
                      <a:noFill/>
                    </a:lnB>
                    <a:solidFill>
                      <a:srgbClr val="FF0000"/>
                    </a:solidFill>
                  </a:tcPr>
                </a:tc>
                <a:tc>
                  <a:txBody>
                    <a:bodyPr/>
                    <a:lstStyle/>
                    <a:p>
                      <a:pPr algn="r" fontAlgn="b">
                        <a:buNone/>
                      </a:pPr>
                      <a:r>
                        <a:rPr lang="en-US" sz="700" b="0" i="0" u="none" strike="noStrike">
                          <a:effectLst/>
                          <a:latin typeface="Arial" panose="020B0604020202020204" pitchFamily="34" charset="0"/>
                        </a:rPr>
                        <a:t>-14</a:t>
                      </a:r>
                    </a:p>
                  </a:txBody>
                  <a:tcPr marL="4711" marR="4711" marT="4711" marB="0" anchor="b">
                    <a:lnL>
                      <a:noFill/>
                    </a:lnL>
                    <a:lnR>
                      <a:noFill/>
                    </a:lnR>
                    <a:lnT>
                      <a:noFill/>
                    </a:lnT>
                    <a:lnB>
                      <a:noFill/>
                    </a:lnB>
                    <a:solidFill>
                      <a:srgbClr val="E6B8B7"/>
                    </a:solidFill>
                  </a:tcPr>
                </a:tc>
                <a:tc>
                  <a:txBody>
                    <a:bodyPr/>
                    <a:lstStyle/>
                    <a:p>
                      <a:pPr algn="r" fontAlgn="b">
                        <a:buNone/>
                      </a:pPr>
                      <a:r>
                        <a:rPr lang="en-US" sz="700" b="0" i="0" u="none" strike="noStrike">
                          <a:effectLst/>
                          <a:latin typeface="Arial" panose="020B0604020202020204" pitchFamily="34" charset="0"/>
                        </a:rPr>
                        <a:t>76</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82</a:t>
                      </a:r>
                    </a:p>
                  </a:txBody>
                  <a:tcPr marL="4711" marR="4711" marT="4711" marB="0" anchor="b">
                    <a:lnL>
                      <a:noFill/>
                    </a:lnL>
                    <a:lnR>
                      <a:noFill/>
                    </a:lnR>
                    <a:lnT>
                      <a:noFill/>
                    </a:lnT>
                    <a:lnB>
                      <a:noFill/>
                    </a:lnB>
                    <a:noFill/>
                  </a:tcPr>
                </a:tc>
                <a:tc>
                  <a:txBody>
                    <a:bodyPr/>
                    <a:lstStyle/>
                    <a:p>
                      <a:pPr algn="ctr" fontAlgn="b">
                        <a:buNone/>
                      </a:pPr>
                      <a:r>
                        <a:rPr lang="en-US" sz="700" b="0" i="0" u="none" strike="noStrike">
                          <a:effectLst/>
                          <a:latin typeface="Arial" panose="020B0604020202020204" pitchFamily="34" charset="0"/>
                        </a:rPr>
                        <a:t>G</a:t>
                      </a:r>
                    </a:p>
                  </a:txBody>
                  <a:tcPr marL="4711" marR="4711" marT="4711" marB="0" anchor="b">
                    <a:lnL>
                      <a:noFill/>
                    </a:lnL>
                    <a:lnR>
                      <a:noFill/>
                    </a:lnR>
                    <a:lnT>
                      <a:noFill/>
                    </a:lnT>
                    <a:lnB>
                      <a:noFill/>
                    </a:lnB>
                    <a:noFill/>
                  </a:tcPr>
                </a:tc>
                <a:tc>
                  <a:txBody>
                    <a:bodyPr/>
                    <a:lstStyle/>
                    <a:p>
                      <a:pPr algn="ctr" fontAlgn="b">
                        <a:buNone/>
                      </a:pPr>
                      <a:r>
                        <a:rPr lang="en-US" sz="700" b="0" i="0" u="none" strike="noStrike">
                          <a:effectLst/>
                          <a:latin typeface="Arial" panose="020B0604020202020204" pitchFamily="34" charset="0"/>
                        </a:rPr>
                        <a:t>-</a:t>
                      </a:r>
                    </a:p>
                  </a:txBody>
                  <a:tcPr marL="4711" marR="4711" marT="4711" marB="0" anchor="b">
                    <a:lnL>
                      <a:noFill/>
                    </a:lnL>
                    <a:lnR>
                      <a:noFill/>
                    </a:lnR>
                    <a:lnT>
                      <a:noFill/>
                    </a:lnT>
                    <a:lnB>
                      <a:noFill/>
                    </a:lnB>
                    <a:noFill/>
                  </a:tcPr>
                </a:tc>
                <a:tc>
                  <a:txBody>
                    <a:bodyPr/>
                    <a:lstStyle/>
                    <a:p>
                      <a:pPr algn="l" fontAlgn="b">
                        <a:buNone/>
                      </a:pPr>
                      <a:endParaRPr lang="en-US" sz="700" b="0" i="0" u="none" strike="noStrike">
                        <a:effectLst/>
                        <a:latin typeface="Arial" panose="020B0604020202020204" pitchFamily="34" charset="0"/>
                      </a:endParaRPr>
                    </a:p>
                  </a:txBody>
                  <a:tcPr marL="4711" marR="4711" marT="4711" marB="0" anchor="b">
                    <a:lnL>
                      <a:noFill/>
                    </a:lnL>
                    <a:lnR>
                      <a:noFill/>
                    </a:lnR>
                    <a:lnT>
                      <a:noFill/>
                    </a:lnT>
                    <a:lnB>
                      <a:noFill/>
                    </a:lnB>
                    <a:noFill/>
                  </a:tcPr>
                </a:tc>
                <a:tc>
                  <a:txBody>
                    <a:bodyPr/>
                    <a:lstStyle/>
                    <a:p>
                      <a:pPr algn="ctr" fontAlgn="b">
                        <a:buNone/>
                      </a:pPr>
                      <a:endParaRPr lang="en-US" sz="700" b="0" i="0" u="none" strike="noStrike">
                        <a:effectLst/>
                        <a:latin typeface="Arial" panose="020B0604020202020204" pitchFamily="34" charset="0"/>
                      </a:endParaRPr>
                    </a:p>
                  </a:txBody>
                  <a:tcPr marL="4711" marR="4711" marT="4711" marB="0" anchor="b">
                    <a:lnL>
                      <a:noFill/>
                    </a:lnL>
                    <a:lnR>
                      <a:noFill/>
                    </a:lnR>
                    <a:lnT>
                      <a:noFill/>
                    </a:lnT>
                    <a:lnB>
                      <a:noFill/>
                    </a:lnB>
                    <a:noFill/>
                  </a:tcPr>
                </a:tc>
                <a:tc>
                  <a:txBody>
                    <a:bodyPr/>
                    <a:lstStyle/>
                    <a:p>
                      <a:pPr algn="r" fontAlgn="b">
                        <a:buNone/>
                      </a:pPr>
                      <a:endParaRPr lang="en-US" sz="700" b="0" i="0" u="none" strike="noStrike">
                        <a:effectLst/>
                        <a:latin typeface="Arial" panose="020B0604020202020204" pitchFamily="34" charset="0"/>
                      </a:endParaRPr>
                    </a:p>
                  </a:txBody>
                  <a:tcPr marL="4711" marR="4711" marT="4711" marB="0" anchor="b">
                    <a:lnL>
                      <a:noFill/>
                    </a:lnL>
                    <a:lnR>
                      <a:noFill/>
                    </a:lnR>
                    <a:lnT>
                      <a:noFill/>
                    </a:lnT>
                    <a:lnB>
                      <a:noFill/>
                    </a:lnB>
                    <a:noFill/>
                  </a:tcPr>
                </a:tc>
                <a:tc>
                  <a:txBody>
                    <a:bodyPr/>
                    <a:lstStyle/>
                    <a:p>
                      <a:pPr algn="ctr" fontAlgn="b">
                        <a:buNone/>
                      </a:pPr>
                      <a:endParaRPr lang="en-US" sz="700" b="0" i="0" u="none" strike="noStrike">
                        <a:effectLst/>
                        <a:latin typeface="Arial" panose="020B0604020202020204" pitchFamily="34" charset="0"/>
                      </a:endParaRPr>
                    </a:p>
                  </a:txBody>
                  <a:tcPr marL="4711" marR="4711" marT="4711" marB="0" anchor="b">
                    <a:lnL>
                      <a:noFill/>
                    </a:lnL>
                    <a:lnR>
                      <a:noFill/>
                    </a:lnR>
                    <a:lnT>
                      <a:noFill/>
                    </a:lnT>
                    <a:lnB>
                      <a:noFill/>
                    </a:lnB>
                    <a:noFill/>
                  </a:tcPr>
                </a:tc>
                <a:tc>
                  <a:txBody>
                    <a:bodyPr/>
                    <a:lstStyle/>
                    <a:p>
                      <a:pPr algn="l" fontAlgn="b">
                        <a:buNone/>
                      </a:pPr>
                      <a:endParaRPr lang="en-US" sz="700" b="0" i="0" u="none" strike="noStrike">
                        <a:effectLst/>
                        <a:latin typeface="Arial" panose="020B0604020202020204" pitchFamily="34" charset="0"/>
                      </a:endParaRPr>
                    </a:p>
                  </a:txBody>
                  <a:tcPr marL="4711" marR="4711" marT="4711" marB="0" anchor="b">
                    <a:lnL>
                      <a:noFill/>
                    </a:lnL>
                    <a:lnR>
                      <a:noFill/>
                    </a:lnR>
                    <a:lnT>
                      <a:noFill/>
                    </a:lnT>
                    <a:lnB>
                      <a:noFill/>
                    </a:lnB>
                    <a:noFill/>
                  </a:tcPr>
                </a:tc>
                <a:tc>
                  <a:txBody>
                    <a:bodyPr/>
                    <a:lstStyle/>
                    <a:p>
                      <a:pPr algn="l" fontAlgn="b">
                        <a:buNone/>
                      </a:pPr>
                      <a:endParaRPr lang="en-US" sz="700" b="0" i="0" u="none" strike="noStrike">
                        <a:effectLst/>
                        <a:latin typeface="Arial" panose="020B0604020202020204" pitchFamily="34" charset="0"/>
                      </a:endParaRPr>
                    </a:p>
                  </a:txBody>
                  <a:tcPr marL="4711" marR="4711" marT="4711" marB="0" anchor="b">
                    <a:lnL>
                      <a:noFill/>
                    </a:lnL>
                    <a:lnR>
                      <a:noFill/>
                    </a:lnR>
                    <a:lnT>
                      <a:noFill/>
                    </a:lnT>
                    <a:lnB>
                      <a:noFill/>
                    </a:lnB>
                    <a:noFill/>
                  </a:tcPr>
                </a:tc>
                <a:tc>
                  <a:txBody>
                    <a:bodyPr/>
                    <a:lstStyle/>
                    <a:p>
                      <a:pPr algn="l" fontAlgn="b">
                        <a:buNone/>
                      </a:pPr>
                      <a:endParaRPr lang="en-US" sz="700" b="0" i="0" u="none" strike="noStrike">
                        <a:effectLst/>
                        <a:latin typeface="Arial" panose="020B0604020202020204" pitchFamily="34" charset="0"/>
                      </a:endParaRPr>
                    </a:p>
                  </a:txBody>
                  <a:tcPr marL="4711" marR="4711" marT="4711" marB="0" anchor="b">
                    <a:lnL>
                      <a:noFill/>
                    </a:lnL>
                    <a:lnR>
                      <a:noFill/>
                    </a:lnR>
                    <a:lnT>
                      <a:noFill/>
                    </a:lnT>
                    <a:lnB>
                      <a:noFill/>
                    </a:lnB>
                    <a:noFill/>
                  </a:tcPr>
                </a:tc>
                <a:tc>
                  <a:txBody>
                    <a:bodyPr/>
                    <a:lstStyle/>
                    <a:p>
                      <a:pPr algn="l" fontAlgn="b">
                        <a:buNone/>
                      </a:pPr>
                      <a:endParaRPr lang="en-US" sz="700" b="0" i="0" u="none" strike="noStrike">
                        <a:effectLst/>
                        <a:latin typeface="Arial" panose="020B0604020202020204" pitchFamily="34" charset="0"/>
                      </a:endParaRPr>
                    </a:p>
                  </a:txBody>
                  <a:tcPr marL="4711" marR="4711" marT="4711" marB="0" anchor="b">
                    <a:lnL>
                      <a:noFill/>
                    </a:lnL>
                    <a:lnR>
                      <a:noFill/>
                    </a:lnR>
                    <a:lnT>
                      <a:noFill/>
                    </a:lnT>
                    <a:lnB>
                      <a:noFill/>
                    </a:lnB>
                    <a:noFill/>
                  </a:tcPr>
                </a:tc>
                <a:tc>
                  <a:txBody>
                    <a:bodyPr/>
                    <a:lstStyle/>
                    <a:p>
                      <a:pPr algn="l" fontAlgn="b">
                        <a:buNone/>
                      </a:pPr>
                      <a:endParaRPr lang="en-US" sz="700" b="0" i="0" u="none" strike="noStrike">
                        <a:effectLst/>
                        <a:latin typeface="Arial" panose="020B0604020202020204" pitchFamily="34" charset="0"/>
                      </a:endParaRPr>
                    </a:p>
                  </a:txBody>
                  <a:tcPr marL="4711" marR="4711" marT="4711" marB="0" anchor="b">
                    <a:lnL>
                      <a:noFill/>
                    </a:lnL>
                    <a:lnR>
                      <a:noFill/>
                    </a:lnR>
                    <a:lnT>
                      <a:noFill/>
                    </a:lnT>
                    <a:lnB>
                      <a:noFill/>
                    </a:lnB>
                    <a:noFill/>
                  </a:tcPr>
                </a:tc>
                <a:extLst>
                  <a:ext uri="{0D108BD9-81ED-4DB2-BD59-A6C34878D82A}">
                    <a16:rowId xmlns:a16="http://schemas.microsoft.com/office/drawing/2014/main" val="2026235275"/>
                  </a:ext>
                </a:extLst>
              </a:tr>
              <a:tr h="136044">
                <a:tc>
                  <a:txBody>
                    <a:bodyPr/>
                    <a:lstStyle/>
                    <a:p>
                      <a:pPr algn="r" fontAlgn="b">
                        <a:buNone/>
                      </a:pPr>
                      <a:r>
                        <a:rPr lang="en-US" sz="700" b="0" i="0" u="none" strike="noStrike">
                          <a:effectLst/>
                          <a:latin typeface="Arial" panose="020B0604020202020204" pitchFamily="34" charset="0"/>
                        </a:rPr>
                        <a:t>7</a:t>
                      </a: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a:t>
                      </a: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MA</a:t>
                      </a: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BOSTON</a:t>
                      </a:r>
                    </a:p>
                  </a:txBody>
                  <a:tcPr marL="4711" marR="4711" marT="4711" marB="0" anchor="b">
                    <a:lnL>
                      <a:noFill/>
                    </a:lnL>
                    <a:lnR>
                      <a:noFill/>
                    </a:lnR>
                    <a:lnT>
                      <a:noFill/>
                    </a:lnT>
                    <a:lnB>
                      <a:noFill/>
                    </a:lnB>
                    <a:noFill/>
                  </a:tcPr>
                </a:tc>
                <a:tc>
                  <a:txBody>
                    <a:bodyPr/>
                    <a:lstStyle/>
                    <a:p>
                      <a:pPr algn="l" fontAlgn="b">
                        <a:buNone/>
                      </a:pPr>
                      <a:endParaRPr lang="en-US" sz="700" b="0" i="0" u="none" strike="noStrike">
                        <a:effectLst/>
                        <a:latin typeface="Arial" panose="020B0604020202020204" pitchFamily="34" charset="0"/>
                      </a:endParaRP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WCVB</a:t>
                      </a: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ABC</a:t>
                      </a:r>
                    </a:p>
                  </a:txBody>
                  <a:tcPr marL="4711" marR="4711" marT="4711" marB="0" anchor="b">
                    <a:lnL>
                      <a:noFill/>
                    </a:lnL>
                    <a:lnR>
                      <a:noFill/>
                    </a:lnR>
                    <a:lnT>
                      <a:noFill/>
                    </a:lnT>
                    <a:lnB>
                      <a:noFill/>
                    </a:lnB>
                    <a:solidFill>
                      <a:srgbClr val="FFFF99"/>
                    </a:solidFill>
                  </a:tcPr>
                </a:tc>
                <a:tc>
                  <a:txBody>
                    <a:bodyPr/>
                    <a:lstStyle/>
                    <a:p>
                      <a:pPr algn="r" fontAlgn="b">
                        <a:buNone/>
                      </a:pPr>
                      <a:r>
                        <a:rPr lang="en-US" sz="700" b="0" i="0" u="none" strike="noStrike">
                          <a:effectLst/>
                          <a:latin typeface="Arial" panose="020B0604020202020204" pitchFamily="34" charset="0"/>
                        </a:rPr>
                        <a:t>5.1</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20</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33</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UHF</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13</a:t>
                      </a:r>
                    </a:p>
                  </a:txBody>
                  <a:tcPr marL="4711" marR="4711" marT="4711" marB="0" anchor="b">
                    <a:lnL>
                      <a:noFill/>
                    </a:lnL>
                    <a:lnR>
                      <a:noFill/>
                    </a:lnR>
                    <a:lnT>
                      <a:noFill/>
                    </a:lnT>
                    <a:lnB>
                      <a:noFill/>
                    </a:lnB>
                    <a:solidFill>
                      <a:srgbClr val="FFC000"/>
                    </a:solidFill>
                  </a:tcPr>
                </a:tc>
                <a:tc>
                  <a:txBody>
                    <a:bodyPr/>
                    <a:lstStyle/>
                    <a:p>
                      <a:pPr algn="r" fontAlgn="b">
                        <a:buNone/>
                      </a:pPr>
                      <a:r>
                        <a:rPr lang="en-US" sz="700" b="0" i="0" u="none" strike="noStrike">
                          <a:effectLst/>
                          <a:latin typeface="Arial" panose="020B0604020202020204" pitchFamily="34" charset="0"/>
                        </a:rPr>
                        <a:t>584</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590</a:t>
                      </a:r>
                    </a:p>
                  </a:txBody>
                  <a:tcPr marL="4711" marR="4711" marT="4711" marB="0" anchor="b">
                    <a:lnL>
                      <a:noFill/>
                    </a:lnL>
                    <a:lnR>
                      <a:noFill/>
                    </a:lnR>
                    <a:lnT>
                      <a:noFill/>
                    </a:lnT>
                    <a:lnB>
                      <a:noFill/>
                    </a:lnB>
                    <a:noFill/>
                  </a:tcPr>
                </a:tc>
                <a:tc>
                  <a:txBody>
                    <a:bodyPr/>
                    <a:lstStyle/>
                    <a:p>
                      <a:pPr algn="ctr" fontAlgn="b">
                        <a:buNone/>
                      </a:pPr>
                      <a:r>
                        <a:rPr lang="en-US" sz="700" b="0" i="0" u="none" strike="noStrike">
                          <a:effectLst/>
                          <a:latin typeface="Arial" panose="020B0604020202020204" pitchFamily="34" charset="0"/>
                        </a:rPr>
                        <a:t>-</a:t>
                      </a:r>
                    </a:p>
                  </a:txBody>
                  <a:tcPr marL="4711" marR="4711" marT="4711" marB="0" anchor="b">
                    <a:lnL>
                      <a:noFill/>
                    </a:lnL>
                    <a:lnR>
                      <a:noFill/>
                    </a:lnR>
                    <a:lnT>
                      <a:noFill/>
                    </a:lnT>
                    <a:lnB>
                      <a:noFill/>
                    </a:lnB>
                    <a:noFill/>
                  </a:tcPr>
                </a:tc>
                <a:tc>
                  <a:txBody>
                    <a:bodyPr/>
                    <a:lstStyle/>
                    <a:p>
                      <a:pPr algn="ctr" fontAlgn="b">
                        <a:buNone/>
                      </a:pPr>
                      <a:r>
                        <a:rPr lang="en-US" sz="700" b="0" i="0" u="none" strike="noStrike">
                          <a:effectLst/>
                          <a:latin typeface="Arial" panose="020B0604020202020204" pitchFamily="34" charset="0"/>
                        </a:rPr>
                        <a:t>4</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625</a:t>
                      </a:r>
                    </a:p>
                  </a:txBody>
                  <a:tcPr marL="4711" marR="4711" marT="4711" marB="0" anchor="b">
                    <a:lnL>
                      <a:noFill/>
                    </a:lnL>
                    <a:lnR>
                      <a:noFill/>
                    </a:lnR>
                    <a:lnT>
                      <a:noFill/>
                    </a:lnT>
                    <a:lnB>
                      <a:noFill/>
                    </a:lnB>
                    <a:noFill/>
                  </a:tcPr>
                </a:tc>
                <a:tc>
                  <a:txBody>
                    <a:bodyPr/>
                    <a:lstStyle/>
                    <a:p>
                      <a:pPr algn="ctr" fontAlgn="b">
                        <a:buNone/>
                      </a:pPr>
                      <a:r>
                        <a:rPr lang="en-US" sz="700" b="0" i="0" u="none" strike="noStrike">
                          <a:effectLst/>
                          <a:latin typeface="Arial" panose="020B0604020202020204" pitchFamily="34" charset="0"/>
                        </a:rPr>
                        <a:t>H</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a:t>
                      </a:r>
                    </a:p>
                  </a:txBody>
                  <a:tcPr marL="4711" marR="4711" marT="4711" marB="0" anchor="b">
                    <a:lnL>
                      <a:noFill/>
                    </a:lnL>
                    <a:lnR>
                      <a:noFill/>
                    </a:lnR>
                    <a:lnT>
                      <a:noFill/>
                    </a:lnT>
                    <a:lnB>
                      <a:noFill/>
                    </a:lnB>
                    <a:noFill/>
                  </a:tcPr>
                </a:tc>
                <a:tc>
                  <a:txBody>
                    <a:bodyPr/>
                    <a:lstStyle/>
                    <a:p>
                      <a:pPr algn="ctr" fontAlgn="b">
                        <a:buNone/>
                      </a:pPr>
                      <a:r>
                        <a:rPr lang="en-US" sz="700" b="0" i="0" u="none" strike="noStrike">
                          <a:effectLst/>
                          <a:latin typeface="Arial" panose="020B0604020202020204" pitchFamily="34" charset="0"/>
                        </a:rPr>
                        <a:t>ND</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390</a:t>
                      </a:r>
                    </a:p>
                  </a:txBody>
                  <a:tcPr marL="4711" marR="4711" marT="4711" marB="0" anchor="b">
                    <a:lnL>
                      <a:noFill/>
                    </a:lnL>
                    <a:lnR>
                      <a:noFill/>
                    </a:lnR>
                    <a:lnT>
                      <a:noFill/>
                    </a:lnT>
                    <a:lnB>
                      <a:noFill/>
                    </a:lnB>
                    <a:noFill/>
                  </a:tcPr>
                </a:tc>
                <a:tc>
                  <a:txBody>
                    <a:bodyPr/>
                    <a:lstStyle/>
                    <a:p>
                      <a:pPr algn="l" fontAlgn="b">
                        <a:buNone/>
                      </a:pPr>
                      <a:endParaRPr lang="en-US" sz="700" b="0" i="0" u="none" strike="noStrike">
                        <a:effectLst/>
                        <a:latin typeface="Arial" panose="020B0604020202020204" pitchFamily="34" charset="0"/>
                      </a:endParaRP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387</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65684</a:t>
                      </a:r>
                    </a:p>
                  </a:txBody>
                  <a:tcPr marL="4711" marR="4711" marT="4711" marB="0" anchor="b">
                    <a:lnL>
                      <a:noFill/>
                    </a:lnL>
                    <a:lnR>
                      <a:noFill/>
                    </a:lnR>
                    <a:lnT>
                      <a:noFill/>
                    </a:lnT>
                    <a:lnB>
                      <a:noFill/>
                    </a:lnB>
                    <a:noFill/>
                  </a:tcPr>
                </a:tc>
                <a:tc>
                  <a:txBody>
                    <a:bodyPr/>
                    <a:lstStyle/>
                    <a:p>
                      <a:pPr algn="l" fontAlgn="b">
                        <a:buNone/>
                      </a:pPr>
                      <a:endParaRPr lang="en-US" sz="700" b="0" i="0" u="none" strike="noStrike">
                        <a:effectLst/>
                        <a:latin typeface="Arial" panose="020B0604020202020204" pitchFamily="34" charset="0"/>
                      </a:endParaRPr>
                    </a:p>
                  </a:txBody>
                  <a:tcPr marL="4711" marR="4711" marT="4711" marB="0" anchor="b">
                    <a:lnL>
                      <a:noFill/>
                    </a:lnL>
                    <a:lnR>
                      <a:noFill/>
                    </a:lnR>
                    <a:lnT>
                      <a:noFill/>
                    </a:lnT>
                    <a:lnB>
                      <a:noFill/>
                    </a:lnB>
                    <a:noFill/>
                  </a:tcPr>
                </a:tc>
                <a:extLst>
                  <a:ext uri="{0D108BD9-81ED-4DB2-BD59-A6C34878D82A}">
                    <a16:rowId xmlns:a16="http://schemas.microsoft.com/office/drawing/2014/main" val="3382794124"/>
                  </a:ext>
                </a:extLst>
              </a:tr>
              <a:tr h="136044">
                <a:tc>
                  <a:txBody>
                    <a:bodyPr/>
                    <a:lstStyle/>
                    <a:p>
                      <a:pPr algn="r" fontAlgn="b">
                        <a:buNone/>
                      </a:pPr>
                      <a:r>
                        <a:rPr lang="en-US" sz="700" b="0" i="0" u="none" strike="noStrike">
                          <a:effectLst/>
                          <a:latin typeface="Arial" panose="020B0604020202020204" pitchFamily="34" charset="0"/>
                        </a:rPr>
                        <a:t>7</a:t>
                      </a: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W</a:t>
                      </a: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MA</a:t>
                      </a: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BOSTON</a:t>
                      </a: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MARLBOROUGH</a:t>
                      </a: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WUNI</a:t>
                      </a: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uni</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66.1</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27</a:t>
                      </a:r>
                    </a:p>
                  </a:txBody>
                  <a:tcPr marL="4711" marR="4711" marT="4711" marB="0" anchor="b">
                    <a:lnL>
                      <a:noFill/>
                    </a:lnL>
                    <a:lnR>
                      <a:noFill/>
                    </a:lnR>
                    <a:lnT>
                      <a:noFill/>
                    </a:lnT>
                    <a:lnB>
                      <a:noFill/>
                    </a:lnB>
                    <a:solidFill>
                      <a:srgbClr val="00B050"/>
                    </a:solidFill>
                  </a:tcPr>
                </a:tc>
                <a:tc>
                  <a:txBody>
                    <a:bodyPr/>
                    <a:lstStyle/>
                    <a:p>
                      <a:pPr algn="r" fontAlgn="b">
                        <a:buNone/>
                      </a:pPr>
                      <a:r>
                        <a:rPr lang="en-US" sz="700" b="0" i="0" u="none" strike="noStrike">
                          <a:effectLst/>
                          <a:latin typeface="Arial" panose="020B0604020202020204" pitchFamily="34" charset="0"/>
                        </a:rPr>
                        <a:t>27</a:t>
                      </a:r>
                    </a:p>
                  </a:txBody>
                  <a:tcPr marL="4711" marR="4711" marT="4711" marB="0" anchor="b">
                    <a:lnL>
                      <a:noFill/>
                    </a:lnL>
                    <a:lnR>
                      <a:noFill/>
                    </a:lnR>
                    <a:lnT>
                      <a:noFill/>
                    </a:lnT>
                    <a:lnB>
                      <a:noFill/>
                    </a:lnB>
                    <a:solidFill>
                      <a:srgbClr val="00B050"/>
                    </a:solidFill>
                  </a:tcPr>
                </a:tc>
                <a:tc>
                  <a:txBody>
                    <a:bodyPr/>
                    <a:lstStyle/>
                    <a:p>
                      <a:pPr algn="r" fontAlgn="b">
                        <a:buNone/>
                      </a:pPr>
                      <a:r>
                        <a:rPr lang="en-US" sz="700" b="0" i="0" u="none" strike="noStrike">
                          <a:effectLst/>
                          <a:latin typeface="Arial" panose="020B0604020202020204" pitchFamily="34" charset="0"/>
                        </a:rPr>
                        <a:t>UHF</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0</a:t>
                      </a:r>
                    </a:p>
                  </a:txBody>
                  <a:tcPr marL="4711" marR="4711" marT="4711" marB="0" anchor="b">
                    <a:lnL>
                      <a:noFill/>
                    </a:lnL>
                    <a:lnR>
                      <a:noFill/>
                    </a:lnR>
                    <a:lnT>
                      <a:noFill/>
                    </a:lnT>
                    <a:lnB>
                      <a:noFill/>
                    </a:lnB>
                    <a:solidFill>
                      <a:srgbClr val="00B050"/>
                    </a:solidFill>
                  </a:tcPr>
                </a:tc>
                <a:tc>
                  <a:txBody>
                    <a:bodyPr/>
                    <a:lstStyle/>
                    <a:p>
                      <a:pPr algn="r" fontAlgn="b">
                        <a:buNone/>
                      </a:pPr>
                      <a:r>
                        <a:rPr lang="en-US" sz="700" b="0" i="0" u="none" strike="noStrike">
                          <a:effectLst/>
                          <a:latin typeface="Arial" panose="020B0604020202020204" pitchFamily="34" charset="0"/>
                        </a:rPr>
                        <a:t>548</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554</a:t>
                      </a:r>
                    </a:p>
                  </a:txBody>
                  <a:tcPr marL="4711" marR="4711" marT="4711" marB="0" anchor="b">
                    <a:lnL>
                      <a:noFill/>
                    </a:lnL>
                    <a:lnR>
                      <a:noFill/>
                    </a:lnR>
                    <a:lnT>
                      <a:noFill/>
                    </a:lnT>
                    <a:lnB>
                      <a:noFill/>
                    </a:lnB>
                    <a:noFill/>
                  </a:tcPr>
                </a:tc>
                <a:tc>
                  <a:txBody>
                    <a:bodyPr/>
                    <a:lstStyle/>
                    <a:p>
                      <a:pPr algn="ctr" fontAlgn="b">
                        <a:buNone/>
                      </a:pPr>
                      <a:r>
                        <a:rPr lang="en-US" sz="700" b="0" i="0" u="none" strike="noStrike">
                          <a:effectLst/>
                          <a:latin typeface="Arial" panose="020B0604020202020204" pitchFamily="34" charset="0"/>
                        </a:rPr>
                        <a:t>H</a:t>
                      </a:r>
                    </a:p>
                  </a:txBody>
                  <a:tcPr marL="4711" marR="4711" marT="4711" marB="0" anchor="b">
                    <a:lnL>
                      <a:noFill/>
                    </a:lnL>
                    <a:lnR>
                      <a:noFill/>
                    </a:lnR>
                    <a:lnT>
                      <a:noFill/>
                    </a:lnT>
                    <a:lnB>
                      <a:noFill/>
                    </a:lnB>
                    <a:solidFill>
                      <a:srgbClr val="00B050"/>
                    </a:solidFill>
                  </a:tcPr>
                </a:tc>
                <a:tc>
                  <a:txBody>
                    <a:bodyPr/>
                    <a:lstStyle/>
                    <a:p>
                      <a:pPr algn="ctr" fontAlgn="b">
                        <a:buNone/>
                      </a:pPr>
                      <a:r>
                        <a:rPr lang="en-US" sz="700" b="0" i="0" u="none" strike="noStrike">
                          <a:effectLst/>
                          <a:latin typeface="Arial" panose="020B0604020202020204" pitchFamily="34" charset="0"/>
                        </a:rPr>
                        <a:t>-</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400</a:t>
                      </a:r>
                    </a:p>
                  </a:txBody>
                  <a:tcPr marL="4711" marR="4711" marT="4711" marB="0" anchor="b">
                    <a:lnL>
                      <a:noFill/>
                    </a:lnL>
                    <a:lnR>
                      <a:noFill/>
                    </a:lnR>
                    <a:lnT>
                      <a:noFill/>
                    </a:lnT>
                    <a:lnB>
                      <a:noFill/>
                    </a:lnB>
                    <a:noFill/>
                  </a:tcPr>
                </a:tc>
                <a:tc>
                  <a:txBody>
                    <a:bodyPr/>
                    <a:lstStyle/>
                    <a:p>
                      <a:pPr algn="ctr" fontAlgn="b">
                        <a:buNone/>
                      </a:pPr>
                      <a:r>
                        <a:rPr lang="en-US" sz="700" b="0" i="0" u="none" strike="noStrike">
                          <a:effectLst/>
                          <a:latin typeface="Arial" panose="020B0604020202020204" pitchFamily="34" charset="0"/>
                        </a:rPr>
                        <a:t>E</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100</a:t>
                      </a:r>
                    </a:p>
                  </a:txBody>
                  <a:tcPr marL="4711" marR="4711" marT="4711" marB="0" anchor="b">
                    <a:lnL>
                      <a:noFill/>
                    </a:lnL>
                    <a:lnR>
                      <a:noFill/>
                    </a:lnR>
                    <a:lnT>
                      <a:noFill/>
                    </a:lnT>
                    <a:lnB>
                      <a:noFill/>
                    </a:lnB>
                    <a:noFill/>
                  </a:tcPr>
                </a:tc>
                <a:tc>
                  <a:txBody>
                    <a:bodyPr/>
                    <a:lstStyle/>
                    <a:p>
                      <a:pPr algn="ctr" fontAlgn="b">
                        <a:buNone/>
                      </a:pPr>
                      <a:r>
                        <a:rPr lang="en-US" sz="700" b="0" i="0" u="none" strike="noStrike">
                          <a:solidFill>
                            <a:srgbClr val="9C0006"/>
                          </a:solidFill>
                          <a:effectLst/>
                          <a:latin typeface="Arial" panose="020B0604020202020204" pitchFamily="34" charset="0"/>
                        </a:rPr>
                        <a:t>D</a:t>
                      </a:r>
                    </a:p>
                  </a:txBody>
                  <a:tcPr marL="4711" marR="4711" marT="4711" marB="0" anchor="b">
                    <a:lnL>
                      <a:noFill/>
                    </a:lnL>
                    <a:lnR>
                      <a:noFill/>
                    </a:lnR>
                    <a:lnT>
                      <a:noFill/>
                    </a:lnT>
                    <a:lnB>
                      <a:noFill/>
                    </a:lnB>
                    <a:solidFill>
                      <a:srgbClr val="FFC7CE"/>
                    </a:solidFill>
                  </a:tcPr>
                </a:tc>
                <a:tc>
                  <a:txBody>
                    <a:bodyPr/>
                    <a:lstStyle/>
                    <a:p>
                      <a:pPr algn="r" fontAlgn="b">
                        <a:buNone/>
                      </a:pPr>
                      <a:r>
                        <a:rPr lang="en-US" sz="700" b="0" i="0" u="none" strike="noStrike">
                          <a:effectLst/>
                          <a:latin typeface="Arial" panose="020B0604020202020204" pitchFamily="34" charset="0"/>
                        </a:rPr>
                        <a:t>356</a:t>
                      </a:r>
                    </a:p>
                  </a:txBody>
                  <a:tcPr marL="4711" marR="4711" marT="4711" marB="0" anchor="b">
                    <a:lnL>
                      <a:noFill/>
                    </a:lnL>
                    <a:lnR>
                      <a:noFill/>
                    </a:lnR>
                    <a:lnT>
                      <a:noFill/>
                    </a:lnT>
                    <a:lnB>
                      <a:noFill/>
                    </a:lnB>
                    <a:noFill/>
                  </a:tcPr>
                </a:tc>
                <a:tc>
                  <a:txBody>
                    <a:bodyPr/>
                    <a:lstStyle/>
                    <a:p>
                      <a:pPr algn="l" fontAlgn="b">
                        <a:buNone/>
                      </a:pPr>
                      <a:endParaRPr lang="en-US" sz="700" b="0" i="0" u="none" strike="noStrike">
                        <a:effectLst/>
                        <a:latin typeface="Arial" panose="020B0604020202020204" pitchFamily="34" charset="0"/>
                      </a:endParaRP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374</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60551</a:t>
                      </a: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Hudson, MA</a:t>
                      </a:r>
                    </a:p>
                  </a:txBody>
                  <a:tcPr marL="4711" marR="4711" marT="4711" marB="0" anchor="b">
                    <a:lnL>
                      <a:noFill/>
                    </a:lnL>
                    <a:lnR>
                      <a:noFill/>
                    </a:lnR>
                    <a:lnT>
                      <a:noFill/>
                    </a:lnT>
                    <a:lnB>
                      <a:noFill/>
                    </a:lnB>
                    <a:noFill/>
                  </a:tcPr>
                </a:tc>
                <a:extLst>
                  <a:ext uri="{0D108BD9-81ED-4DB2-BD59-A6C34878D82A}">
                    <a16:rowId xmlns:a16="http://schemas.microsoft.com/office/drawing/2014/main" val="1940197320"/>
                  </a:ext>
                </a:extLst>
              </a:tr>
              <a:tr h="136044">
                <a:tc>
                  <a:txBody>
                    <a:bodyPr/>
                    <a:lstStyle/>
                    <a:p>
                      <a:pPr algn="r" fontAlgn="b">
                        <a:buNone/>
                      </a:pPr>
                      <a:r>
                        <a:rPr lang="en-US" sz="700" b="0" i="0" u="none" strike="noStrike">
                          <a:effectLst/>
                          <a:latin typeface="Arial" panose="020B0604020202020204" pitchFamily="34" charset="0"/>
                        </a:rPr>
                        <a:t>7</a:t>
                      </a: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NW</a:t>
                      </a: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NH</a:t>
                      </a: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BOSTON</a:t>
                      </a: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DERRY</a:t>
                      </a: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WWJE</a:t>
                      </a: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uni</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50.1</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27</a:t>
                      </a:r>
                    </a:p>
                  </a:txBody>
                  <a:tcPr marL="4711" marR="4711" marT="4711" marB="0" anchor="b">
                    <a:lnL>
                      <a:noFill/>
                    </a:lnL>
                    <a:lnR>
                      <a:noFill/>
                    </a:lnR>
                    <a:lnT>
                      <a:noFill/>
                    </a:lnT>
                    <a:lnB>
                      <a:noFill/>
                    </a:lnB>
                    <a:solidFill>
                      <a:srgbClr val="00B050"/>
                    </a:solidFill>
                  </a:tcPr>
                </a:tc>
                <a:tc>
                  <a:txBody>
                    <a:bodyPr/>
                    <a:lstStyle/>
                    <a:p>
                      <a:pPr algn="r" fontAlgn="b">
                        <a:buNone/>
                      </a:pPr>
                      <a:r>
                        <a:rPr lang="en-US" sz="700" b="0" i="0" u="none" strike="noStrike">
                          <a:effectLst/>
                          <a:latin typeface="Arial" panose="020B0604020202020204" pitchFamily="34" charset="0"/>
                        </a:rPr>
                        <a:t>27</a:t>
                      </a:r>
                    </a:p>
                  </a:txBody>
                  <a:tcPr marL="4711" marR="4711" marT="4711" marB="0" anchor="b">
                    <a:lnL>
                      <a:noFill/>
                    </a:lnL>
                    <a:lnR>
                      <a:noFill/>
                    </a:lnR>
                    <a:lnT>
                      <a:noFill/>
                    </a:lnT>
                    <a:lnB>
                      <a:noFill/>
                    </a:lnB>
                    <a:solidFill>
                      <a:srgbClr val="00B050"/>
                    </a:solidFill>
                  </a:tcPr>
                </a:tc>
                <a:tc>
                  <a:txBody>
                    <a:bodyPr/>
                    <a:lstStyle/>
                    <a:p>
                      <a:pPr algn="r" fontAlgn="b">
                        <a:buNone/>
                      </a:pPr>
                      <a:r>
                        <a:rPr lang="en-US" sz="700" b="0" i="0" u="none" strike="noStrike">
                          <a:effectLst/>
                          <a:latin typeface="Arial" panose="020B0604020202020204" pitchFamily="34" charset="0"/>
                        </a:rPr>
                        <a:t>UHF</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0</a:t>
                      </a:r>
                    </a:p>
                  </a:txBody>
                  <a:tcPr marL="4711" marR="4711" marT="4711" marB="0" anchor="b">
                    <a:lnL>
                      <a:noFill/>
                    </a:lnL>
                    <a:lnR>
                      <a:noFill/>
                    </a:lnR>
                    <a:lnT>
                      <a:noFill/>
                    </a:lnT>
                    <a:lnB>
                      <a:noFill/>
                    </a:lnB>
                    <a:solidFill>
                      <a:srgbClr val="00B050"/>
                    </a:solidFill>
                  </a:tcPr>
                </a:tc>
                <a:tc>
                  <a:txBody>
                    <a:bodyPr/>
                    <a:lstStyle/>
                    <a:p>
                      <a:pPr algn="r" fontAlgn="b">
                        <a:buNone/>
                      </a:pPr>
                      <a:r>
                        <a:rPr lang="en-US" sz="700" b="0" i="0" u="none" strike="noStrike">
                          <a:effectLst/>
                          <a:latin typeface="Arial" panose="020B0604020202020204" pitchFamily="34" charset="0"/>
                        </a:rPr>
                        <a:t>548</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554</a:t>
                      </a:r>
                    </a:p>
                  </a:txBody>
                  <a:tcPr marL="4711" marR="4711" marT="4711" marB="0" anchor="b">
                    <a:lnL>
                      <a:noFill/>
                    </a:lnL>
                    <a:lnR>
                      <a:noFill/>
                    </a:lnR>
                    <a:lnT>
                      <a:noFill/>
                    </a:lnT>
                    <a:lnB>
                      <a:noFill/>
                    </a:lnB>
                    <a:noFill/>
                  </a:tcPr>
                </a:tc>
                <a:tc>
                  <a:txBody>
                    <a:bodyPr/>
                    <a:lstStyle/>
                    <a:p>
                      <a:pPr algn="ctr" fontAlgn="b">
                        <a:buNone/>
                      </a:pPr>
                      <a:r>
                        <a:rPr lang="en-US" sz="700" b="0" i="0" u="none" strike="noStrike">
                          <a:effectLst/>
                          <a:latin typeface="Arial" panose="020B0604020202020204" pitchFamily="34" charset="0"/>
                        </a:rPr>
                        <a:t>G</a:t>
                      </a:r>
                    </a:p>
                  </a:txBody>
                  <a:tcPr marL="4711" marR="4711" marT="4711" marB="0" anchor="b">
                    <a:lnL>
                      <a:noFill/>
                    </a:lnL>
                    <a:lnR>
                      <a:noFill/>
                    </a:lnR>
                    <a:lnT>
                      <a:noFill/>
                    </a:lnT>
                    <a:lnB>
                      <a:noFill/>
                    </a:lnB>
                    <a:solidFill>
                      <a:srgbClr val="00B050"/>
                    </a:solidFill>
                  </a:tcPr>
                </a:tc>
                <a:tc>
                  <a:txBody>
                    <a:bodyPr/>
                    <a:lstStyle/>
                    <a:p>
                      <a:pPr algn="ctr" fontAlgn="b">
                        <a:buNone/>
                      </a:pPr>
                      <a:r>
                        <a:rPr lang="en-US" sz="700" b="0" i="0" u="none" strike="noStrike">
                          <a:effectLst/>
                          <a:latin typeface="Arial" panose="020B0604020202020204" pitchFamily="34" charset="0"/>
                        </a:rPr>
                        <a:t>-</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7.3</a:t>
                      </a:r>
                    </a:p>
                  </a:txBody>
                  <a:tcPr marL="4711" marR="4711" marT="4711" marB="0" anchor="b">
                    <a:lnL>
                      <a:noFill/>
                    </a:lnL>
                    <a:lnR>
                      <a:noFill/>
                    </a:lnR>
                    <a:lnT>
                      <a:noFill/>
                    </a:lnT>
                    <a:lnB>
                      <a:noFill/>
                    </a:lnB>
                    <a:noFill/>
                  </a:tcPr>
                </a:tc>
                <a:tc>
                  <a:txBody>
                    <a:bodyPr/>
                    <a:lstStyle/>
                    <a:p>
                      <a:pPr algn="ctr" fontAlgn="b">
                        <a:buNone/>
                      </a:pPr>
                      <a:r>
                        <a:rPr lang="en-US" sz="700" b="0" i="0" u="none" strike="noStrike">
                          <a:effectLst/>
                          <a:latin typeface="Arial" panose="020B0604020202020204" pitchFamily="34" charset="0"/>
                        </a:rPr>
                        <a:t>H</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a:t>
                      </a:r>
                    </a:p>
                  </a:txBody>
                  <a:tcPr marL="4711" marR="4711" marT="4711" marB="0" anchor="b">
                    <a:lnL>
                      <a:noFill/>
                    </a:lnL>
                    <a:lnR>
                      <a:noFill/>
                    </a:lnR>
                    <a:lnT>
                      <a:noFill/>
                    </a:lnT>
                    <a:lnB>
                      <a:noFill/>
                    </a:lnB>
                    <a:noFill/>
                  </a:tcPr>
                </a:tc>
                <a:tc>
                  <a:txBody>
                    <a:bodyPr/>
                    <a:lstStyle/>
                    <a:p>
                      <a:pPr algn="ctr" fontAlgn="b">
                        <a:buNone/>
                      </a:pPr>
                      <a:r>
                        <a:rPr lang="en-US" sz="700" b="0" i="0" u="none" strike="noStrike">
                          <a:effectLst/>
                          <a:latin typeface="Arial" panose="020B0604020202020204" pitchFamily="34" charset="0"/>
                        </a:rPr>
                        <a:t>ND</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205</a:t>
                      </a:r>
                    </a:p>
                  </a:txBody>
                  <a:tcPr marL="4711" marR="4711" marT="4711" marB="0" anchor="b">
                    <a:lnL>
                      <a:noFill/>
                    </a:lnL>
                    <a:lnR>
                      <a:noFill/>
                    </a:lnR>
                    <a:lnT>
                      <a:noFill/>
                    </a:lnT>
                    <a:lnB>
                      <a:noFill/>
                    </a:lnB>
                    <a:noFill/>
                  </a:tcPr>
                </a:tc>
                <a:tc>
                  <a:txBody>
                    <a:bodyPr/>
                    <a:lstStyle/>
                    <a:p>
                      <a:pPr algn="l" fontAlgn="b">
                        <a:buNone/>
                      </a:pPr>
                      <a:endParaRPr lang="en-US" sz="700" b="0" i="0" u="none" strike="noStrike">
                        <a:effectLst/>
                        <a:latin typeface="Arial" panose="020B0604020202020204" pitchFamily="34" charset="0"/>
                      </a:endParaRP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125</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14682</a:t>
                      </a:r>
                    </a:p>
                  </a:txBody>
                  <a:tcPr marL="4711" marR="4711" marT="4711" marB="0" anchor="b">
                    <a:lnL>
                      <a:noFill/>
                    </a:lnL>
                    <a:lnR>
                      <a:noFill/>
                    </a:lnR>
                    <a:lnT>
                      <a:noFill/>
                    </a:lnT>
                    <a:lnB>
                      <a:noFill/>
                    </a:lnB>
                    <a:noFill/>
                  </a:tcPr>
                </a:tc>
                <a:tc>
                  <a:txBody>
                    <a:bodyPr/>
                    <a:lstStyle/>
                    <a:p>
                      <a:pPr algn="l" fontAlgn="b">
                        <a:buNone/>
                      </a:pPr>
                      <a:endParaRPr lang="en-US" sz="700" b="0" i="0" u="none" strike="noStrike">
                        <a:effectLst/>
                        <a:latin typeface="Arial" panose="020B0604020202020204" pitchFamily="34" charset="0"/>
                      </a:endParaRPr>
                    </a:p>
                  </a:txBody>
                  <a:tcPr marL="4711" marR="4711" marT="4711" marB="0" anchor="b">
                    <a:lnL>
                      <a:noFill/>
                    </a:lnL>
                    <a:lnR>
                      <a:noFill/>
                    </a:lnR>
                    <a:lnT>
                      <a:noFill/>
                    </a:lnT>
                    <a:lnB>
                      <a:noFill/>
                    </a:lnB>
                    <a:noFill/>
                  </a:tcPr>
                </a:tc>
                <a:extLst>
                  <a:ext uri="{0D108BD9-81ED-4DB2-BD59-A6C34878D82A}">
                    <a16:rowId xmlns:a16="http://schemas.microsoft.com/office/drawing/2014/main" val="576304499"/>
                  </a:ext>
                </a:extLst>
              </a:tr>
              <a:tr h="136044">
                <a:tc>
                  <a:txBody>
                    <a:bodyPr/>
                    <a:lstStyle/>
                    <a:p>
                      <a:pPr algn="r" fontAlgn="b">
                        <a:buNone/>
                      </a:pPr>
                      <a:r>
                        <a:rPr lang="en-US" sz="700" b="0" i="0" u="none" strike="noStrike">
                          <a:effectLst/>
                          <a:latin typeface="Arial" panose="020B0604020202020204" pitchFamily="34" charset="0"/>
                        </a:rPr>
                        <a:t>7</a:t>
                      </a: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W</a:t>
                      </a: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MA</a:t>
                      </a: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BOSTON</a:t>
                      </a: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WORCESTER</a:t>
                      </a: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WUTF</a:t>
                      </a: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unimas</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27.1</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29</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19</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UHF</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-10</a:t>
                      </a:r>
                    </a:p>
                  </a:txBody>
                  <a:tcPr marL="4711" marR="4711" marT="4711" marB="0" anchor="b">
                    <a:lnL>
                      <a:noFill/>
                    </a:lnL>
                    <a:lnR>
                      <a:noFill/>
                    </a:lnR>
                    <a:lnT>
                      <a:noFill/>
                    </a:lnT>
                    <a:lnB>
                      <a:noFill/>
                    </a:lnB>
                    <a:solidFill>
                      <a:srgbClr val="E6B8B7"/>
                    </a:solidFill>
                  </a:tcPr>
                </a:tc>
                <a:tc>
                  <a:txBody>
                    <a:bodyPr/>
                    <a:lstStyle/>
                    <a:p>
                      <a:pPr algn="r" fontAlgn="b">
                        <a:buNone/>
                      </a:pPr>
                      <a:r>
                        <a:rPr lang="en-US" sz="700" b="0" i="0" u="none" strike="noStrike">
                          <a:effectLst/>
                          <a:latin typeface="Arial" panose="020B0604020202020204" pitchFamily="34" charset="0"/>
                        </a:rPr>
                        <a:t>500</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506</a:t>
                      </a:r>
                    </a:p>
                  </a:txBody>
                  <a:tcPr marL="4711" marR="4711" marT="4711" marB="0" anchor="b">
                    <a:lnL>
                      <a:noFill/>
                    </a:lnL>
                    <a:lnR>
                      <a:noFill/>
                    </a:lnR>
                    <a:lnT>
                      <a:noFill/>
                    </a:lnT>
                    <a:lnB>
                      <a:noFill/>
                    </a:lnB>
                    <a:noFill/>
                  </a:tcPr>
                </a:tc>
                <a:tc>
                  <a:txBody>
                    <a:bodyPr/>
                    <a:lstStyle/>
                    <a:p>
                      <a:pPr algn="ctr" fontAlgn="b">
                        <a:buNone/>
                      </a:pPr>
                      <a:r>
                        <a:rPr lang="en-US" sz="700" b="0" i="0" u="none" strike="noStrike">
                          <a:effectLst/>
                          <a:latin typeface="Arial" panose="020B0604020202020204" pitchFamily="34" charset="0"/>
                        </a:rPr>
                        <a:t>-</a:t>
                      </a:r>
                    </a:p>
                  </a:txBody>
                  <a:tcPr marL="4711" marR="4711" marT="4711" marB="0" anchor="b">
                    <a:lnL>
                      <a:noFill/>
                    </a:lnL>
                    <a:lnR>
                      <a:noFill/>
                    </a:lnR>
                    <a:lnT>
                      <a:noFill/>
                    </a:lnT>
                    <a:lnB>
                      <a:noFill/>
                    </a:lnB>
                    <a:noFill/>
                  </a:tcPr>
                </a:tc>
                <a:tc>
                  <a:txBody>
                    <a:bodyPr/>
                    <a:lstStyle/>
                    <a:p>
                      <a:pPr algn="ctr" fontAlgn="b">
                        <a:buNone/>
                      </a:pPr>
                      <a:r>
                        <a:rPr lang="en-US" sz="700" b="0" i="0" u="none" strike="noStrike">
                          <a:effectLst/>
                          <a:latin typeface="Arial" panose="020B0604020202020204" pitchFamily="34" charset="0"/>
                        </a:rPr>
                        <a:t>4</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270</a:t>
                      </a:r>
                    </a:p>
                  </a:txBody>
                  <a:tcPr marL="4711" marR="4711" marT="4711" marB="0" anchor="b">
                    <a:lnL>
                      <a:noFill/>
                    </a:lnL>
                    <a:lnR>
                      <a:noFill/>
                    </a:lnR>
                    <a:lnT>
                      <a:noFill/>
                    </a:lnT>
                    <a:lnB>
                      <a:noFill/>
                    </a:lnB>
                    <a:noFill/>
                  </a:tcPr>
                </a:tc>
                <a:tc>
                  <a:txBody>
                    <a:bodyPr/>
                    <a:lstStyle/>
                    <a:p>
                      <a:pPr algn="ctr" fontAlgn="b">
                        <a:buNone/>
                      </a:pPr>
                      <a:r>
                        <a:rPr lang="en-US" sz="700" b="0" i="0" u="none" strike="noStrike">
                          <a:effectLst/>
                          <a:latin typeface="Arial" panose="020B0604020202020204" pitchFamily="34" charset="0"/>
                        </a:rPr>
                        <a:t>H</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a:t>
                      </a:r>
                    </a:p>
                  </a:txBody>
                  <a:tcPr marL="4711" marR="4711" marT="4711" marB="0" anchor="b">
                    <a:lnL>
                      <a:noFill/>
                    </a:lnL>
                    <a:lnR>
                      <a:noFill/>
                    </a:lnR>
                    <a:lnT>
                      <a:noFill/>
                    </a:lnT>
                    <a:lnB>
                      <a:noFill/>
                    </a:lnB>
                    <a:noFill/>
                  </a:tcPr>
                </a:tc>
                <a:tc>
                  <a:txBody>
                    <a:bodyPr/>
                    <a:lstStyle/>
                    <a:p>
                      <a:pPr algn="ctr" fontAlgn="b">
                        <a:buNone/>
                      </a:pPr>
                      <a:r>
                        <a:rPr lang="en-US" sz="700" b="0" i="0" u="none" strike="noStrike">
                          <a:effectLst/>
                          <a:latin typeface="Arial" panose="020B0604020202020204" pitchFamily="34" charset="0"/>
                        </a:rPr>
                        <a:t>ND</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468</a:t>
                      </a:r>
                    </a:p>
                  </a:txBody>
                  <a:tcPr marL="4711" marR="4711" marT="4711" marB="0" anchor="b">
                    <a:lnL>
                      <a:noFill/>
                    </a:lnL>
                    <a:lnR>
                      <a:noFill/>
                    </a:lnR>
                    <a:lnT>
                      <a:noFill/>
                    </a:lnT>
                    <a:lnB>
                      <a:noFill/>
                    </a:lnB>
                    <a:noFill/>
                  </a:tcPr>
                </a:tc>
                <a:tc>
                  <a:txBody>
                    <a:bodyPr/>
                    <a:lstStyle/>
                    <a:p>
                      <a:pPr algn="l" fontAlgn="b">
                        <a:buNone/>
                      </a:pPr>
                      <a:endParaRPr lang="en-US" sz="700" b="0" i="0" u="none" strike="noStrike">
                        <a:effectLst/>
                        <a:latin typeface="Arial" panose="020B0604020202020204" pitchFamily="34" charset="0"/>
                      </a:endParaRP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400</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30577</a:t>
                      </a:r>
                    </a:p>
                  </a:txBody>
                  <a:tcPr marL="4711" marR="4711" marT="4711" marB="0" anchor="b">
                    <a:lnL>
                      <a:noFill/>
                    </a:lnL>
                    <a:lnR>
                      <a:noFill/>
                    </a:lnR>
                    <a:lnT>
                      <a:noFill/>
                    </a:lnT>
                    <a:lnB>
                      <a:noFill/>
                    </a:lnB>
                    <a:noFill/>
                  </a:tcPr>
                </a:tc>
                <a:tc>
                  <a:txBody>
                    <a:bodyPr/>
                    <a:lstStyle/>
                    <a:p>
                      <a:pPr algn="l" fontAlgn="b">
                        <a:buNone/>
                      </a:pPr>
                      <a:endParaRPr lang="en-US" sz="700" b="0" i="0" u="none" strike="noStrike">
                        <a:effectLst/>
                        <a:latin typeface="Arial" panose="020B0604020202020204" pitchFamily="34" charset="0"/>
                      </a:endParaRPr>
                    </a:p>
                  </a:txBody>
                  <a:tcPr marL="4711" marR="4711" marT="4711" marB="0" anchor="b">
                    <a:lnL>
                      <a:noFill/>
                    </a:lnL>
                    <a:lnR>
                      <a:noFill/>
                    </a:lnR>
                    <a:lnT>
                      <a:noFill/>
                    </a:lnT>
                    <a:lnB>
                      <a:noFill/>
                    </a:lnB>
                    <a:noFill/>
                  </a:tcPr>
                </a:tc>
                <a:extLst>
                  <a:ext uri="{0D108BD9-81ED-4DB2-BD59-A6C34878D82A}">
                    <a16:rowId xmlns:a16="http://schemas.microsoft.com/office/drawing/2014/main" val="2408043626"/>
                  </a:ext>
                </a:extLst>
              </a:tr>
              <a:tr h="136044">
                <a:tc>
                  <a:txBody>
                    <a:bodyPr/>
                    <a:lstStyle/>
                    <a:p>
                      <a:pPr algn="r" fontAlgn="b">
                        <a:buNone/>
                      </a:pPr>
                      <a:r>
                        <a:rPr lang="en-US" sz="700" b="0" i="0" u="none" strike="noStrike">
                          <a:effectLst/>
                          <a:latin typeface="Arial" panose="020B0604020202020204" pitchFamily="34" charset="0"/>
                        </a:rPr>
                        <a:t>7</a:t>
                      </a: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a:t>
                      </a: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MA</a:t>
                      </a: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BOSTON</a:t>
                      </a:r>
                    </a:p>
                  </a:txBody>
                  <a:tcPr marL="4711" marR="4711" marT="4711" marB="0" anchor="b">
                    <a:lnL>
                      <a:noFill/>
                    </a:lnL>
                    <a:lnR>
                      <a:noFill/>
                    </a:lnR>
                    <a:lnT>
                      <a:noFill/>
                    </a:lnT>
                    <a:lnB>
                      <a:noFill/>
                    </a:lnB>
                    <a:noFill/>
                  </a:tcPr>
                </a:tc>
                <a:tc>
                  <a:txBody>
                    <a:bodyPr/>
                    <a:lstStyle/>
                    <a:p>
                      <a:pPr algn="l" fontAlgn="b">
                        <a:buNone/>
                      </a:pPr>
                      <a:endParaRPr lang="en-US" sz="700" b="0" i="0" u="none" strike="noStrike">
                        <a:effectLst/>
                        <a:latin typeface="Arial" panose="020B0604020202020204" pitchFamily="34" charset="0"/>
                      </a:endParaRP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WBZ</a:t>
                      </a: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CBS</a:t>
                      </a:r>
                    </a:p>
                  </a:txBody>
                  <a:tcPr marL="4711" marR="4711" marT="4711" marB="0" anchor="b">
                    <a:lnL>
                      <a:noFill/>
                    </a:lnL>
                    <a:lnR>
                      <a:noFill/>
                    </a:lnR>
                    <a:lnT>
                      <a:noFill/>
                    </a:lnT>
                    <a:lnB>
                      <a:noFill/>
                    </a:lnB>
                    <a:solidFill>
                      <a:srgbClr val="CCFFFF"/>
                    </a:solidFill>
                  </a:tcPr>
                </a:tc>
                <a:tc>
                  <a:txBody>
                    <a:bodyPr/>
                    <a:lstStyle/>
                    <a:p>
                      <a:pPr algn="r" fontAlgn="b">
                        <a:buNone/>
                      </a:pPr>
                      <a:r>
                        <a:rPr lang="en-US" sz="700" b="0" i="0" u="none" strike="noStrike">
                          <a:effectLst/>
                          <a:latin typeface="Arial" panose="020B0604020202020204" pitchFamily="34" charset="0"/>
                        </a:rPr>
                        <a:t>4.1</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30</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20</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UHF</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-10</a:t>
                      </a:r>
                    </a:p>
                  </a:txBody>
                  <a:tcPr marL="4711" marR="4711" marT="4711" marB="0" anchor="b">
                    <a:lnL>
                      <a:noFill/>
                    </a:lnL>
                    <a:lnR>
                      <a:noFill/>
                    </a:lnR>
                    <a:lnT>
                      <a:noFill/>
                    </a:lnT>
                    <a:lnB>
                      <a:noFill/>
                    </a:lnB>
                    <a:solidFill>
                      <a:srgbClr val="E6B8B7"/>
                    </a:solidFill>
                  </a:tcPr>
                </a:tc>
                <a:tc>
                  <a:txBody>
                    <a:bodyPr/>
                    <a:lstStyle/>
                    <a:p>
                      <a:pPr algn="r" fontAlgn="b">
                        <a:buNone/>
                      </a:pPr>
                      <a:r>
                        <a:rPr lang="en-US" sz="700" b="0" i="0" u="none" strike="noStrike">
                          <a:effectLst/>
                          <a:latin typeface="Arial" panose="020B0604020202020204" pitchFamily="34" charset="0"/>
                        </a:rPr>
                        <a:t>506</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512</a:t>
                      </a:r>
                    </a:p>
                  </a:txBody>
                  <a:tcPr marL="4711" marR="4711" marT="4711" marB="0" anchor="b">
                    <a:lnL>
                      <a:noFill/>
                    </a:lnL>
                    <a:lnR>
                      <a:noFill/>
                    </a:lnR>
                    <a:lnT>
                      <a:noFill/>
                    </a:lnT>
                    <a:lnB>
                      <a:noFill/>
                    </a:lnB>
                    <a:noFill/>
                  </a:tcPr>
                </a:tc>
                <a:tc>
                  <a:txBody>
                    <a:bodyPr/>
                    <a:lstStyle/>
                    <a:p>
                      <a:pPr algn="ctr" fontAlgn="b">
                        <a:buNone/>
                      </a:pPr>
                      <a:r>
                        <a:rPr lang="en-US" sz="700" b="0" i="0" u="none" strike="noStrike">
                          <a:effectLst/>
                          <a:latin typeface="Arial" panose="020B0604020202020204" pitchFamily="34" charset="0"/>
                        </a:rPr>
                        <a:t>-</a:t>
                      </a:r>
                    </a:p>
                  </a:txBody>
                  <a:tcPr marL="4711" marR="4711" marT="4711" marB="0" anchor="b">
                    <a:lnL>
                      <a:noFill/>
                    </a:lnL>
                    <a:lnR>
                      <a:noFill/>
                    </a:lnR>
                    <a:lnT>
                      <a:noFill/>
                    </a:lnT>
                    <a:lnB>
                      <a:noFill/>
                    </a:lnB>
                    <a:noFill/>
                  </a:tcPr>
                </a:tc>
                <a:tc>
                  <a:txBody>
                    <a:bodyPr/>
                    <a:lstStyle/>
                    <a:p>
                      <a:pPr algn="ctr" fontAlgn="b">
                        <a:buNone/>
                      </a:pPr>
                      <a:r>
                        <a:rPr lang="en-US" sz="700" b="0" i="0" u="none" strike="noStrike">
                          <a:effectLst/>
                          <a:latin typeface="Arial" panose="020B0604020202020204" pitchFamily="34" charset="0"/>
                        </a:rPr>
                        <a:t>4</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825</a:t>
                      </a:r>
                    </a:p>
                  </a:txBody>
                  <a:tcPr marL="4711" marR="4711" marT="4711" marB="0" anchor="b">
                    <a:lnL>
                      <a:noFill/>
                    </a:lnL>
                    <a:lnR>
                      <a:noFill/>
                    </a:lnR>
                    <a:lnT>
                      <a:noFill/>
                    </a:lnT>
                    <a:lnB>
                      <a:noFill/>
                    </a:lnB>
                    <a:noFill/>
                  </a:tcPr>
                </a:tc>
                <a:tc>
                  <a:txBody>
                    <a:bodyPr/>
                    <a:lstStyle/>
                    <a:p>
                      <a:pPr algn="ctr" fontAlgn="b">
                        <a:buNone/>
                      </a:pPr>
                      <a:r>
                        <a:rPr lang="en-US" sz="700" b="0" i="0" u="none" strike="noStrike">
                          <a:effectLst/>
                          <a:latin typeface="Arial" panose="020B0604020202020204" pitchFamily="34" charset="0"/>
                        </a:rPr>
                        <a:t>H</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a:t>
                      </a:r>
                    </a:p>
                  </a:txBody>
                  <a:tcPr marL="4711" marR="4711" marT="4711" marB="0" anchor="b">
                    <a:lnL>
                      <a:noFill/>
                    </a:lnL>
                    <a:lnR>
                      <a:noFill/>
                    </a:lnR>
                    <a:lnT>
                      <a:noFill/>
                    </a:lnT>
                    <a:lnB>
                      <a:noFill/>
                    </a:lnB>
                    <a:noFill/>
                  </a:tcPr>
                </a:tc>
                <a:tc>
                  <a:txBody>
                    <a:bodyPr/>
                    <a:lstStyle/>
                    <a:p>
                      <a:pPr algn="ctr" fontAlgn="b">
                        <a:buNone/>
                      </a:pPr>
                      <a:r>
                        <a:rPr lang="en-US" sz="700" b="0" i="0" u="none" strike="noStrike">
                          <a:effectLst/>
                          <a:latin typeface="Arial" panose="020B0604020202020204" pitchFamily="34" charset="0"/>
                        </a:rPr>
                        <a:t>ND</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390</a:t>
                      </a:r>
                    </a:p>
                  </a:txBody>
                  <a:tcPr marL="4711" marR="4711" marT="4711" marB="0" anchor="b">
                    <a:lnL>
                      <a:noFill/>
                    </a:lnL>
                    <a:lnR>
                      <a:noFill/>
                    </a:lnR>
                    <a:lnT>
                      <a:noFill/>
                    </a:lnT>
                    <a:lnB>
                      <a:noFill/>
                    </a:lnB>
                    <a:noFill/>
                  </a:tcPr>
                </a:tc>
                <a:tc>
                  <a:txBody>
                    <a:bodyPr/>
                    <a:lstStyle/>
                    <a:p>
                      <a:pPr algn="l" fontAlgn="b">
                        <a:buNone/>
                      </a:pPr>
                      <a:endParaRPr lang="en-US" sz="700" b="0" i="0" u="none" strike="noStrike">
                        <a:effectLst/>
                        <a:latin typeface="Arial" panose="020B0604020202020204" pitchFamily="34" charset="0"/>
                      </a:endParaRP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387</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25456</a:t>
                      </a: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CBS Tower, MA</a:t>
                      </a:r>
                    </a:p>
                  </a:txBody>
                  <a:tcPr marL="4711" marR="4711" marT="4711" marB="0" anchor="b">
                    <a:lnL>
                      <a:noFill/>
                    </a:lnL>
                    <a:lnR>
                      <a:noFill/>
                    </a:lnR>
                    <a:lnT>
                      <a:noFill/>
                    </a:lnT>
                    <a:lnB>
                      <a:noFill/>
                    </a:lnB>
                    <a:noFill/>
                  </a:tcPr>
                </a:tc>
                <a:extLst>
                  <a:ext uri="{0D108BD9-81ED-4DB2-BD59-A6C34878D82A}">
                    <a16:rowId xmlns:a16="http://schemas.microsoft.com/office/drawing/2014/main" val="2533087722"/>
                  </a:ext>
                </a:extLst>
              </a:tr>
              <a:tr h="136044">
                <a:tc>
                  <a:txBody>
                    <a:bodyPr/>
                    <a:lstStyle/>
                    <a:p>
                      <a:pPr algn="r" fontAlgn="b">
                        <a:buNone/>
                      </a:pPr>
                      <a:r>
                        <a:rPr lang="en-US" sz="700" b="0" i="0" u="none" strike="noStrike">
                          <a:effectLst/>
                          <a:latin typeface="Arial" panose="020B0604020202020204" pitchFamily="34" charset="0"/>
                        </a:rPr>
                        <a:t>7</a:t>
                      </a: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a:t>
                      </a: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MA</a:t>
                      </a: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BOSTON</a:t>
                      </a:r>
                    </a:p>
                  </a:txBody>
                  <a:tcPr marL="4711" marR="4711" marT="4711" marB="0" anchor="b">
                    <a:lnL>
                      <a:noFill/>
                    </a:lnL>
                    <a:lnR>
                      <a:noFill/>
                    </a:lnR>
                    <a:lnT>
                      <a:noFill/>
                    </a:lnT>
                    <a:lnB>
                      <a:noFill/>
                    </a:lnB>
                    <a:noFill/>
                  </a:tcPr>
                </a:tc>
                <a:tc>
                  <a:txBody>
                    <a:bodyPr/>
                    <a:lstStyle/>
                    <a:p>
                      <a:pPr algn="l" fontAlgn="b">
                        <a:buNone/>
                      </a:pPr>
                      <a:endParaRPr lang="en-US" sz="700" b="0" i="0" u="none" strike="noStrike">
                        <a:effectLst/>
                        <a:latin typeface="Arial" panose="020B0604020202020204" pitchFamily="34" charset="0"/>
                      </a:endParaRP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WFXT</a:t>
                      </a: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FOX</a:t>
                      </a:r>
                    </a:p>
                  </a:txBody>
                  <a:tcPr marL="4711" marR="4711" marT="4711" marB="0" anchor="b">
                    <a:lnL>
                      <a:noFill/>
                    </a:lnL>
                    <a:lnR>
                      <a:noFill/>
                    </a:lnR>
                    <a:lnT>
                      <a:noFill/>
                    </a:lnT>
                    <a:lnB>
                      <a:noFill/>
                    </a:lnB>
                    <a:solidFill>
                      <a:srgbClr val="99CCFF"/>
                    </a:solidFill>
                  </a:tcPr>
                </a:tc>
                <a:tc>
                  <a:txBody>
                    <a:bodyPr/>
                    <a:lstStyle/>
                    <a:p>
                      <a:pPr algn="r" fontAlgn="b">
                        <a:buNone/>
                      </a:pPr>
                      <a:r>
                        <a:rPr lang="en-US" sz="700" b="0" i="0" u="none" strike="noStrike">
                          <a:effectLst/>
                          <a:latin typeface="Arial" panose="020B0604020202020204" pitchFamily="34" charset="0"/>
                        </a:rPr>
                        <a:t>25.1</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31</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34</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UHF</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3</a:t>
                      </a:r>
                    </a:p>
                  </a:txBody>
                  <a:tcPr marL="4711" marR="4711" marT="4711" marB="0" anchor="b">
                    <a:lnL>
                      <a:noFill/>
                    </a:lnL>
                    <a:lnR>
                      <a:noFill/>
                    </a:lnR>
                    <a:lnT>
                      <a:noFill/>
                    </a:lnT>
                    <a:lnB>
                      <a:noFill/>
                    </a:lnB>
                    <a:solidFill>
                      <a:srgbClr val="FFC000"/>
                    </a:solidFill>
                  </a:tcPr>
                </a:tc>
                <a:tc>
                  <a:txBody>
                    <a:bodyPr/>
                    <a:lstStyle/>
                    <a:p>
                      <a:pPr algn="r" fontAlgn="b">
                        <a:buNone/>
                      </a:pPr>
                      <a:r>
                        <a:rPr lang="en-US" sz="700" b="0" i="0" u="none" strike="noStrike">
                          <a:effectLst/>
                          <a:latin typeface="Arial" panose="020B0604020202020204" pitchFamily="34" charset="0"/>
                        </a:rPr>
                        <a:t>590</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596</a:t>
                      </a:r>
                    </a:p>
                  </a:txBody>
                  <a:tcPr marL="4711" marR="4711" marT="4711" marB="0" anchor="b">
                    <a:lnL>
                      <a:noFill/>
                    </a:lnL>
                    <a:lnR>
                      <a:noFill/>
                    </a:lnR>
                    <a:lnT>
                      <a:noFill/>
                    </a:lnT>
                    <a:lnB>
                      <a:noFill/>
                    </a:lnB>
                    <a:noFill/>
                  </a:tcPr>
                </a:tc>
                <a:tc>
                  <a:txBody>
                    <a:bodyPr/>
                    <a:lstStyle/>
                    <a:p>
                      <a:pPr algn="ctr" fontAlgn="b">
                        <a:buNone/>
                      </a:pPr>
                      <a:r>
                        <a:rPr lang="en-US" sz="700" b="0" i="0" u="none" strike="noStrike">
                          <a:effectLst/>
                          <a:latin typeface="Arial" panose="020B0604020202020204" pitchFamily="34" charset="0"/>
                        </a:rPr>
                        <a:t>-</a:t>
                      </a:r>
                    </a:p>
                  </a:txBody>
                  <a:tcPr marL="4711" marR="4711" marT="4711" marB="0" anchor="b">
                    <a:lnL>
                      <a:noFill/>
                    </a:lnL>
                    <a:lnR>
                      <a:noFill/>
                    </a:lnR>
                    <a:lnT>
                      <a:noFill/>
                    </a:lnT>
                    <a:lnB>
                      <a:noFill/>
                    </a:lnB>
                    <a:noFill/>
                  </a:tcPr>
                </a:tc>
                <a:tc>
                  <a:txBody>
                    <a:bodyPr/>
                    <a:lstStyle/>
                    <a:p>
                      <a:pPr algn="ctr" fontAlgn="b">
                        <a:buNone/>
                      </a:pPr>
                      <a:r>
                        <a:rPr lang="en-US" sz="700" b="0" i="0" u="none" strike="noStrike">
                          <a:effectLst/>
                          <a:latin typeface="Arial" panose="020B0604020202020204" pitchFamily="34" charset="0"/>
                        </a:rPr>
                        <a:t>4</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780</a:t>
                      </a:r>
                    </a:p>
                  </a:txBody>
                  <a:tcPr marL="4711" marR="4711" marT="4711" marB="0" anchor="b">
                    <a:lnL>
                      <a:noFill/>
                    </a:lnL>
                    <a:lnR>
                      <a:noFill/>
                    </a:lnR>
                    <a:lnT>
                      <a:noFill/>
                    </a:lnT>
                    <a:lnB>
                      <a:noFill/>
                    </a:lnB>
                    <a:noFill/>
                  </a:tcPr>
                </a:tc>
                <a:tc>
                  <a:txBody>
                    <a:bodyPr/>
                    <a:lstStyle/>
                    <a:p>
                      <a:pPr algn="ctr" fontAlgn="b">
                        <a:buNone/>
                      </a:pPr>
                      <a:r>
                        <a:rPr lang="en-US" sz="700" b="0" i="0" u="none" strike="noStrike">
                          <a:effectLst/>
                          <a:latin typeface="Arial" panose="020B0604020202020204" pitchFamily="34" charset="0"/>
                        </a:rPr>
                        <a:t>E</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176</a:t>
                      </a:r>
                    </a:p>
                  </a:txBody>
                  <a:tcPr marL="4711" marR="4711" marT="4711" marB="0" anchor="b">
                    <a:lnL>
                      <a:noFill/>
                    </a:lnL>
                    <a:lnR>
                      <a:noFill/>
                    </a:lnR>
                    <a:lnT>
                      <a:noFill/>
                    </a:lnT>
                    <a:lnB>
                      <a:noFill/>
                    </a:lnB>
                    <a:noFill/>
                  </a:tcPr>
                </a:tc>
                <a:tc>
                  <a:txBody>
                    <a:bodyPr/>
                    <a:lstStyle/>
                    <a:p>
                      <a:pPr algn="ctr" fontAlgn="b">
                        <a:buNone/>
                      </a:pPr>
                      <a:r>
                        <a:rPr lang="en-US" sz="700" b="0" i="0" u="none" strike="noStrike">
                          <a:solidFill>
                            <a:srgbClr val="9C0006"/>
                          </a:solidFill>
                          <a:effectLst/>
                          <a:latin typeface="Arial" panose="020B0604020202020204" pitchFamily="34" charset="0"/>
                        </a:rPr>
                        <a:t>D</a:t>
                      </a:r>
                    </a:p>
                  </a:txBody>
                  <a:tcPr marL="4711" marR="4711" marT="4711" marB="0" anchor="b">
                    <a:lnL>
                      <a:noFill/>
                    </a:lnL>
                    <a:lnR>
                      <a:noFill/>
                    </a:lnR>
                    <a:lnT>
                      <a:noFill/>
                    </a:lnT>
                    <a:lnB>
                      <a:noFill/>
                    </a:lnB>
                    <a:solidFill>
                      <a:srgbClr val="FFC7CE"/>
                    </a:solidFill>
                  </a:tcPr>
                </a:tc>
                <a:tc>
                  <a:txBody>
                    <a:bodyPr/>
                    <a:lstStyle/>
                    <a:p>
                      <a:pPr algn="r" fontAlgn="b">
                        <a:buNone/>
                      </a:pPr>
                      <a:r>
                        <a:rPr lang="en-US" sz="700" b="0" i="0" u="none" strike="noStrike">
                          <a:effectLst/>
                          <a:latin typeface="Arial" panose="020B0604020202020204" pitchFamily="34" charset="0"/>
                        </a:rPr>
                        <a:t>363</a:t>
                      </a:r>
                    </a:p>
                  </a:txBody>
                  <a:tcPr marL="4711" marR="4711" marT="4711" marB="0" anchor="b">
                    <a:lnL>
                      <a:noFill/>
                    </a:lnL>
                    <a:lnR>
                      <a:noFill/>
                    </a:lnR>
                    <a:lnT>
                      <a:noFill/>
                    </a:lnT>
                    <a:lnB>
                      <a:noFill/>
                    </a:lnB>
                    <a:noFill/>
                  </a:tcPr>
                </a:tc>
                <a:tc>
                  <a:txBody>
                    <a:bodyPr/>
                    <a:lstStyle/>
                    <a:p>
                      <a:pPr algn="l" fontAlgn="b">
                        <a:buNone/>
                      </a:pPr>
                      <a:endParaRPr lang="en-US" sz="700" b="0" i="0" u="none" strike="noStrike">
                        <a:effectLst/>
                        <a:latin typeface="Arial" panose="020B0604020202020204" pitchFamily="34" charset="0"/>
                      </a:endParaRP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357</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6463</a:t>
                      </a: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UHF Candelabra, MA</a:t>
                      </a:r>
                    </a:p>
                  </a:txBody>
                  <a:tcPr marL="4711" marR="4711" marT="4711" marB="0" anchor="b">
                    <a:lnL>
                      <a:noFill/>
                    </a:lnL>
                    <a:lnR>
                      <a:noFill/>
                    </a:lnR>
                    <a:lnT>
                      <a:noFill/>
                    </a:lnT>
                    <a:lnB>
                      <a:noFill/>
                    </a:lnB>
                    <a:noFill/>
                  </a:tcPr>
                </a:tc>
                <a:extLst>
                  <a:ext uri="{0D108BD9-81ED-4DB2-BD59-A6C34878D82A}">
                    <a16:rowId xmlns:a16="http://schemas.microsoft.com/office/drawing/2014/main" val="2830507863"/>
                  </a:ext>
                </a:extLst>
              </a:tr>
              <a:tr h="136044">
                <a:tc>
                  <a:txBody>
                    <a:bodyPr/>
                    <a:lstStyle/>
                    <a:p>
                      <a:pPr algn="r" fontAlgn="b">
                        <a:buNone/>
                      </a:pPr>
                      <a:r>
                        <a:rPr lang="en-US" sz="700" b="0" i="0" u="none" strike="noStrike">
                          <a:effectLst/>
                          <a:latin typeface="Arial" panose="020B0604020202020204" pitchFamily="34" charset="0"/>
                        </a:rPr>
                        <a:t>7</a:t>
                      </a: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a:t>
                      </a: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MA</a:t>
                      </a: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BOSTON</a:t>
                      </a:r>
                    </a:p>
                  </a:txBody>
                  <a:tcPr marL="4711" marR="4711" marT="4711" marB="0" anchor="b">
                    <a:lnL>
                      <a:noFill/>
                    </a:lnL>
                    <a:lnR>
                      <a:noFill/>
                    </a:lnR>
                    <a:lnT>
                      <a:noFill/>
                    </a:lnT>
                    <a:lnB>
                      <a:noFill/>
                    </a:lnB>
                    <a:noFill/>
                  </a:tcPr>
                </a:tc>
                <a:tc>
                  <a:txBody>
                    <a:bodyPr/>
                    <a:lstStyle/>
                    <a:p>
                      <a:pPr algn="l" fontAlgn="b">
                        <a:buNone/>
                      </a:pPr>
                      <a:endParaRPr lang="en-US" sz="700" b="0" i="0" u="none" strike="noStrike">
                        <a:effectLst/>
                        <a:latin typeface="Arial" panose="020B0604020202020204" pitchFamily="34" charset="0"/>
                      </a:endParaRP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WBPX</a:t>
                      </a: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ion</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68.1</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32</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22</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UHF</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-10</a:t>
                      </a:r>
                    </a:p>
                  </a:txBody>
                  <a:tcPr marL="4711" marR="4711" marT="4711" marB="0" anchor="b">
                    <a:lnL>
                      <a:noFill/>
                    </a:lnL>
                    <a:lnR>
                      <a:noFill/>
                    </a:lnR>
                    <a:lnT>
                      <a:noFill/>
                    </a:lnT>
                    <a:lnB>
                      <a:noFill/>
                    </a:lnB>
                    <a:solidFill>
                      <a:srgbClr val="E6B8B7"/>
                    </a:solidFill>
                  </a:tcPr>
                </a:tc>
                <a:tc>
                  <a:txBody>
                    <a:bodyPr/>
                    <a:lstStyle/>
                    <a:p>
                      <a:pPr algn="r" fontAlgn="b">
                        <a:buNone/>
                      </a:pPr>
                      <a:r>
                        <a:rPr lang="en-US" sz="700" b="0" i="0" u="none" strike="noStrike">
                          <a:effectLst/>
                          <a:latin typeface="Arial" panose="020B0604020202020204" pitchFamily="34" charset="0"/>
                        </a:rPr>
                        <a:t>518</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524</a:t>
                      </a:r>
                    </a:p>
                  </a:txBody>
                  <a:tcPr marL="4711" marR="4711" marT="4711" marB="0" anchor="b">
                    <a:lnL>
                      <a:noFill/>
                    </a:lnL>
                    <a:lnR>
                      <a:noFill/>
                    </a:lnR>
                    <a:lnT>
                      <a:noFill/>
                    </a:lnT>
                    <a:lnB>
                      <a:noFill/>
                    </a:lnB>
                    <a:noFill/>
                  </a:tcPr>
                </a:tc>
                <a:tc>
                  <a:txBody>
                    <a:bodyPr/>
                    <a:lstStyle/>
                    <a:p>
                      <a:pPr algn="ctr" fontAlgn="b">
                        <a:buNone/>
                      </a:pPr>
                      <a:r>
                        <a:rPr lang="en-US" sz="700" b="0" i="0" u="none" strike="noStrike">
                          <a:effectLst/>
                          <a:latin typeface="Arial" panose="020B0604020202020204" pitchFamily="34" charset="0"/>
                        </a:rPr>
                        <a:t>H</a:t>
                      </a:r>
                    </a:p>
                  </a:txBody>
                  <a:tcPr marL="4711" marR="4711" marT="4711" marB="0" anchor="b">
                    <a:lnL>
                      <a:noFill/>
                    </a:lnL>
                    <a:lnR>
                      <a:noFill/>
                    </a:lnR>
                    <a:lnT>
                      <a:noFill/>
                    </a:lnT>
                    <a:lnB>
                      <a:noFill/>
                    </a:lnB>
                    <a:noFill/>
                  </a:tcPr>
                </a:tc>
                <a:tc>
                  <a:txBody>
                    <a:bodyPr/>
                    <a:lstStyle/>
                    <a:p>
                      <a:pPr algn="ctr" fontAlgn="b">
                        <a:buNone/>
                      </a:pPr>
                      <a:r>
                        <a:rPr lang="en-US" sz="700" b="0" i="0" u="none" strike="noStrike">
                          <a:effectLst/>
                          <a:latin typeface="Arial" panose="020B0604020202020204" pitchFamily="34" charset="0"/>
                        </a:rPr>
                        <a:t>4</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300</a:t>
                      </a:r>
                    </a:p>
                  </a:txBody>
                  <a:tcPr marL="4711" marR="4711" marT="4711" marB="0" anchor="b">
                    <a:lnL>
                      <a:noFill/>
                    </a:lnL>
                    <a:lnR>
                      <a:noFill/>
                    </a:lnR>
                    <a:lnT>
                      <a:noFill/>
                    </a:lnT>
                    <a:lnB>
                      <a:noFill/>
                    </a:lnB>
                    <a:noFill/>
                  </a:tcPr>
                </a:tc>
                <a:tc>
                  <a:txBody>
                    <a:bodyPr/>
                    <a:lstStyle/>
                    <a:p>
                      <a:pPr algn="ctr" fontAlgn="b">
                        <a:buNone/>
                      </a:pPr>
                      <a:r>
                        <a:rPr lang="en-US" sz="700" b="0" i="0" u="none" strike="noStrike">
                          <a:effectLst/>
                          <a:latin typeface="Arial" panose="020B0604020202020204" pitchFamily="34" charset="0"/>
                        </a:rPr>
                        <a:t>H</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a:t>
                      </a:r>
                    </a:p>
                  </a:txBody>
                  <a:tcPr marL="4711" marR="4711" marT="4711" marB="0" anchor="b">
                    <a:lnL>
                      <a:noFill/>
                    </a:lnL>
                    <a:lnR>
                      <a:noFill/>
                    </a:lnR>
                    <a:lnT>
                      <a:noFill/>
                    </a:lnT>
                    <a:lnB>
                      <a:noFill/>
                    </a:lnB>
                    <a:noFill/>
                  </a:tcPr>
                </a:tc>
                <a:tc>
                  <a:txBody>
                    <a:bodyPr/>
                    <a:lstStyle/>
                    <a:p>
                      <a:pPr algn="ctr" fontAlgn="b">
                        <a:buNone/>
                      </a:pPr>
                      <a:r>
                        <a:rPr lang="en-US" sz="700" b="0" i="0" u="none" strike="noStrike">
                          <a:solidFill>
                            <a:srgbClr val="9C0006"/>
                          </a:solidFill>
                          <a:effectLst/>
                          <a:latin typeface="Arial" panose="020B0604020202020204" pitchFamily="34" charset="0"/>
                        </a:rPr>
                        <a:t>D</a:t>
                      </a:r>
                    </a:p>
                  </a:txBody>
                  <a:tcPr marL="4711" marR="4711" marT="4711" marB="0" anchor="b">
                    <a:lnL>
                      <a:noFill/>
                    </a:lnL>
                    <a:lnR>
                      <a:noFill/>
                    </a:lnR>
                    <a:lnT>
                      <a:noFill/>
                    </a:lnT>
                    <a:lnB>
                      <a:noFill/>
                    </a:lnB>
                    <a:solidFill>
                      <a:srgbClr val="FFC7CE"/>
                    </a:solidFill>
                  </a:tcPr>
                </a:tc>
                <a:tc>
                  <a:txBody>
                    <a:bodyPr/>
                    <a:lstStyle/>
                    <a:p>
                      <a:pPr algn="r" fontAlgn="b">
                        <a:buNone/>
                      </a:pPr>
                      <a:r>
                        <a:rPr lang="en-US" sz="700" b="0" i="0" u="none" strike="noStrike">
                          <a:effectLst/>
                          <a:latin typeface="Arial" panose="020B0604020202020204" pitchFamily="34" charset="0"/>
                        </a:rPr>
                        <a:t>292</a:t>
                      </a:r>
                    </a:p>
                  </a:txBody>
                  <a:tcPr marL="4711" marR="4711" marT="4711" marB="0" anchor="b">
                    <a:lnL>
                      <a:noFill/>
                    </a:lnL>
                    <a:lnR>
                      <a:noFill/>
                    </a:lnR>
                    <a:lnT>
                      <a:noFill/>
                    </a:lnT>
                    <a:lnB>
                      <a:noFill/>
                    </a:lnB>
                    <a:noFill/>
                  </a:tcPr>
                </a:tc>
                <a:tc>
                  <a:txBody>
                    <a:bodyPr/>
                    <a:lstStyle/>
                    <a:p>
                      <a:pPr algn="l" fontAlgn="b">
                        <a:buNone/>
                      </a:pPr>
                      <a:endParaRPr lang="en-US" sz="700" b="0" i="0" u="none" strike="noStrike">
                        <a:effectLst/>
                        <a:latin typeface="Arial" panose="020B0604020202020204" pitchFamily="34" charset="0"/>
                      </a:endParaRP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305</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7692</a:t>
                      </a: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FM128 Tower, MA</a:t>
                      </a:r>
                    </a:p>
                  </a:txBody>
                  <a:tcPr marL="4711" marR="4711" marT="4711" marB="0" anchor="b">
                    <a:lnL>
                      <a:noFill/>
                    </a:lnL>
                    <a:lnR>
                      <a:noFill/>
                    </a:lnR>
                    <a:lnT>
                      <a:noFill/>
                    </a:lnT>
                    <a:lnB>
                      <a:noFill/>
                    </a:lnB>
                    <a:noFill/>
                  </a:tcPr>
                </a:tc>
                <a:extLst>
                  <a:ext uri="{0D108BD9-81ED-4DB2-BD59-A6C34878D82A}">
                    <a16:rowId xmlns:a16="http://schemas.microsoft.com/office/drawing/2014/main" val="4088127686"/>
                  </a:ext>
                </a:extLst>
              </a:tr>
              <a:tr h="136044">
                <a:tc>
                  <a:txBody>
                    <a:bodyPr/>
                    <a:lstStyle/>
                    <a:p>
                      <a:pPr algn="r" fontAlgn="b">
                        <a:buNone/>
                      </a:pPr>
                      <a:r>
                        <a:rPr lang="en-US" sz="700" b="0" i="0" u="none" strike="noStrike">
                          <a:effectLst/>
                          <a:latin typeface="Arial" panose="020B0604020202020204" pitchFamily="34" charset="0"/>
                        </a:rPr>
                        <a:t>7</a:t>
                      </a: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a:t>
                      </a: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MA</a:t>
                      </a: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BOSTON</a:t>
                      </a:r>
                    </a:p>
                  </a:txBody>
                  <a:tcPr marL="4711" marR="4711" marT="4711" marB="0" anchor="b">
                    <a:lnL>
                      <a:noFill/>
                    </a:lnL>
                    <a:lnR>
                      <a:noFill/>
                    </a:lnR>
                    <a:lnT>
                      <a:noFill/>
                    </a:lnT>
                    <a:lnB>
                      <a:noFill/>
                    </a:lnB>
                    <a:noFill/>
                  </a:tcPr>
                </a:tc>
                <a:tc>
                  <a:txBody>
                    <a:bodyPr/>
                    <a:lstStyle/>
                    <a:p>
                      <a:pPr algn="l" fontAlgn="b">
                        <a:buNone/>
                      </a:pPr>
                      <a:endParaRPr lang="en-US" sz="700" b="0" i="0" u="none" strike="noStrike">
                        <a:effectLst/>
                        <a:latin typeface="Arial" panose="020B0604020202020204" pitchFamily="34" charset="0"/>
                      </a:endParaRP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WSBK</a:t>
                      </a: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ind.</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38.1</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39</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21</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UHF</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-18</a:t>
                      </a:r>
                    </a:p>
                  </a:txBody>
                  <a:tcPr marL="4711" marR="4711" marT="4711" marB="0" anchor="b">
                    <a:lnL>
                      <a:noFill/>
                    </a:lnL>
                    <a:lnR>
                      <a:noFill/>
                    </a:lnR>
                    <a:lnT>
                      <a:noFill/>
                    </a:lnT>
                    <a:lnB>
                      <a:noFill/>
                    </a:lnB>
                    <a:solidFill>
                      <a:srgbClr val="E6B8B7"/>
                    </a:solidFill>
                  </a:tcPr>
                </a:tc>
                <a:tc>
                  <a:txBody>
                    <a:bodyPr/>
                    <a:lstStyle/>
                    <a:p>
                      <a:pPr algn="r" fontAlgn="b">
                        <a:buNone/>
                      </a:pPr>
                      <a:r>
                        <a:rPr lang="en-US" sz="700" b="0" i="0" u="none" strike="noStrike">
                          <a:effectLst/>
                          <a:latin typeface="Arial" panose="020B0604020202020204" pitchFamily="34" charset="0"/>
                        </a:rPr>
                        <a:t>512</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518</a:t>
                      </a:r>
                    </a:p>
                  </a:txBody>
                  <a:tcPr marL="4711" marR="4711" marT="4711" marB="0" anchor="b">
                    <a:lnL>
                      <a:noFill/>
                    </a:lnL>
                    <a:lnR>
                      <a:noFill/>
                    </a:lnR>
                    <a:lnT>
                      <a:noFill/>
                    </a:lnT>
                    <a:lnB>
                      <a:noFill/>
                    </a:lnB>
                    <a:noFill/>
                  </a:tcPr>
                </a:tc>
                <a:tc>
                  <a:txBody>
                    <a:bodyPr/>
                    <a:lstStyle/>
                    <a:p>
                      <a:pPr algn="ctr" fontAlgn="b">
                        <a:buNone/>
                      </a:pPr>
                      <a:r>
                        <a:rPr lang="en-US" sz="700" b="0" i="0" u="none" strike="noStrike">
                          <a:effectLst/>
                          <a:latin typeface="Arial" panose="020B0604020202020204" pitchFamily="34" charset="0"/>
                        </a:rPr>
                        <a:t>-</a:t>
                      </a:r>
                    </a:p>
                  </a:txBody>
                  <a:tcPr marL="4711" marR="4711" marT="4711" marB="0" anchor="b">
                    <a:lnL>
                      <a:noFill/>
                    </a:lnL>
                    <a:lnR>
                      <a:noFill/>
                    </a:lnR>
                    <a:lnT>
                      <a:noFill/>
                    </a:lnT>
                    <a:lnB>
                      <a:noFill/>
                    </a:lnB>
                    <a:noFill/>
                  </a:tcPr>
                </a:tc>
                <a:tc>
                  <a:txBody>
                    <a:bodyPr/>
                    <a:lstStyle/>
                    <a:p>
                      <a:pPr algn="ctr" fontAlgn="b">
                        <a:buNone/>
                      </a:pPr>
                      <a:r>
                        <a:rPr lang="en-US" sz="700" b="0" i="0" u="none" strike="noStrike">
                          <a:effectLst/>
                          <a:latin typeface="Arial" panose="020B0604020202020204" pitchFamily="34" charset="0"/>
                        </a:rPr>
                        <a:t>8</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135</a:t>
                      </a:r>
                    </a:p>
                  </a:txBody>
                  <a:tcPr marL="4711" marR="4711" marT="4711" marB="0" anchor="b">
                    <a:lnL>
                      <a:noFill/>
                    </a:lnL>
                    <a:lnR>
                      <a:noFill/>
                    </a:lnR>
                    <a:lnT>
                      <a:noFill/>
                    </a:lnT>
                    <a:lnB>
                      <a:noFill/>
                    </a:lnB>
                    <a:noFill/>
                  </a:tcPr>
                </a:tc>
                <a:tc>
                  <a:txBody>
                    <a:bodyPr/>
                    <a:lstStyle/>
                    <a:p>
                      <a:pPr algn="ctr" fontAlgn="b">
                        <a:buNone/>
                      </a:pPr>
                      <a:r>
                        <a:rPr lang="en-US" sz="700" b="0" i="0" u="none" strike="noStrike">
                          <a:effectLst/>
                          <a:latin typeface="Arial" panose="020B0604020202020204" pitchFamily="34" charset="0"/>
                        </a:rPr>
                        <a:t>H</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a:t>
                      </a:r>
                    </a:p>
                  </a:txBody>
                  <a:tcPr marL="4711" marR="4711" marT="4711" marB="0" anchor="b">
                    <a:lnL>
                      <a:noFill/>
                    </a:lnL>
                    <a:lnR>
                      <a:noFill/>
                    </a:lnR>
                    <a:lnT>
                      <a:noFill/>
                    </a:lnT>
                    <a:lnB>
                      <a:noFill/>
                    </a:lnB>
                    <a:noFill/>
                  </a:tcPr>
                </a:tc>
                <a:tc>
                  <a:txBody>
                    <a:bodyPr/>
                    <a:lstStyle/>
                    <a:p>
                      <a:pPr algn="ctr" fontAlgn="b">
                        <a:buNone/>
                      </a:pPr>
                      <a:r>
                        <a:rPr lang="en-US" sz="700" b="0" i="0" u="none" strike="noStrike">
                          <a:effectLst/>
                          <a:latin typeface="Arial" panose="020B0604020202020204" pitchFamily="34" charset="0"/>
                        </a:rPr>
                        <a:t>ND</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390</a:t>
                      </a:r>
                    </a:p>
                  </a:txBody>
                  <a:tcPr marL="4711" marR="4711" marT="4711" marB="0" anchor="b">
                    <a:lnL>
                      <a:noFill/>
                    </a:lnL>
                    <a:lnR>
                      <a:noFill/>
                    </a:lnR>
                    <a:lnT>
                      <a:noFill/>
                    </a:lnT>
                    <a:lnB>
                      <a:noFill/>
                    </a:lnB>
                    <a:noFill/>
                  </a:tcPr>
                </a:tc>
                <a:tc>
                  <a:txBody>
                    <a:bodyPr/>
                    <a:lstStyle/>
                    <a:p>
                      <a:pPr algn="l" fontAlgn="b">
                        <a:buNone/>
                      </a:pPr>
                      <a:endParaRPr lang="en-US" sz="700" b="0" i="0" u="none" strike="noStrike">
                        <a:effectLst/>
                        <a:latin typeface="Arial" panose="020B0604020202020204" pitchFamily="34" charset="0"/>
                      </a:endParaRP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387</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73982</a:t>
                      </a:r>
                    </a:p>
                  </a:txBody>
                  <a:tcPr marL="4711" marR="4711" marT="4711" marB="0" anchor="b">
                    <a:lnL>
                      <a:noFill/>
                    </a:lnL>
                    <a:lnR>
                      <a:noFill/>
                    </a:lnR>
                    <a:lnT>
                      <a:noFill/>
                    </a:lnT>
                    <a:lnB>
                      <a:noFill/>
                    </a:lnB>
                    <a:noFill/>
                  </a:tcPr>
                </a:tc>
                <a:tc>
                  <a:txBody>
                    <a:bodyPr/>
                    <a:lstStyle/>
                    <a:p>
                      <a:pPr algn="l" fontAlgn="b">
                        <a:buNone/>
                      </a:pPr>
                      <a:endParaRPr lang="en-US" sz="700" b="0" i="0" u="none" strike="noStrike">
                        <a:effectLst/>
                        <a:latin typeface="Arial" panose="020B0604020202020204" pitchFamily="34" charset="0"/>
                      </a:endParaRPr>
                    </a:p>
                  </a:txBody>
                  <a:tcPr marL="4711" marR="4711" marT="4711" marB="0" anchor="b">
                    <a:lnL>
                      <a:noFill/>
                    </a:lnL>
                    <a:lnR>
                      <a:noFill/>
                    </a:lnR>
                    <a:lnT>
                      <a:noFill/>
                    </a:lnT>
                    <a:lnB>
                      <a:noFill/>
                    </a:lnB>
                    <a:noFill/>
                  </a:tcPr>
                </a:tc>
                <a:extLst>
                  <a:ext uri="{0D108BD9-81ED-4DB2-BD59-A6C34878D82A}">
                    <a16:rowId xmlns:a16="http://schemas.microsoft.com/office/drawing/2014/main" val="4028950572"/>
                  </a:ext>
                </a:extLst>
              </a:tr>
              <a:tr h="136044">
                <a:tc>
                  <a:txBody>
                    <a:bodyPr/>
                    <a:lstStyle/>
                    <a:p>
                      <a:pPr algn="r" fontAlgn="b">
                        <a:buNone/>
                      </a:pPr>
                      <a:r>
                        <a:rPr lang="en-US" sz="700" b="0" i="0" u="none" strike="noStrike">
                          <a:effectLst/>
                          <a:latin typeface="Arial" panose="020B0604020202020204" pitchFamily="34" charset="0"/>
                        </a:rPr>
                        <a:t>7</a:t>
                      </a: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a:t>
                      </a: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MA</a:t>
                      </a: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BOSTON</a:t>
                      </a: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CAMBRIDGE</a:t>
                      </a: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WLVI</a:t>
                      </a: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CW</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56.1</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41</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35</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UHF</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-6</a:t>
                      </a:r>
                    </a:p>
                  </a:txBody>
                  <a:tcPr marL="4711" marR="4711" marT="4711" marB="0" anchor="b">
                    <a:lnL>
                      <a:noFill/>
                    </a:lnL>
                    <a:lnR>
                      <a:noFill/>
                    </a:lnR>
                    <a:lnT>
                      <a:noFill/>
                    </a:lnT>
                    <a:lnB>
                      <a:noFill/>
                    </a:lnB>
                    <a:solidFill>
                      <a:srgbClr val="E6B8B7"/>
                    </a:solidFill>
                  </a:tcPr>
                </a:tc>
                <a:tc>
                  <a:txBody>
                    <a:bodyPr/>
                    <a:lstStyle/>
                    <a:p>
                      <a:pPr algn="r" fontAlgn="b">
                        <a:buNone/>
                      </a:pPr>
                      <a:r>
                        <a:rPr lang="en-US" sz="700" b="0" i="0" u="none" strike="noStrike">
                          <a:effectLst/>
                          <a:latin typeface="Arial" panose="020B0604020202020204" pitchFamily="34" charset="0"/>
                        </a:rPr>
                        <a:t>596</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602</a:t>
                      </a:r>
                    </a:p>
                  </a:txBody>
                  <a:tcPr marL="4711" marR="4711" marT="4711" marB="0" anchor="b">
                    <a:lnL>
                      <a:noFill/>
                    </a:lnL>
                    <a:lnR>
                      <a:noFill/>
                    </a:lnR>
                    <a:lnT>
                      <a:noFill/>
                    </a:lnT>
                    <a:lnB>
                      <a:noFill/>
                    </a:lnB>
                    <a:noFill/>
                  </a:tcPr>
                </a:tc>
                <a:tc>
                  <a:txBody>
                    <a:bodyPr/>
                    <a:lstStyle/>
                    <a:p>
                      <a:pPr algn="ctr" fontAlgn="b">
                        <a:buNone/>
                      </a:pPr>
                      <a:r>
                        <a:rPr lang="en-US" sz="700" b="0" i="0" u="none" strike="noStrike">
                          <a:effectLst/>
                          <a:latin typeface="Arial" panose="020B0604020202020204" pitchFamily="34" charset="0"/>
                        </a:rPr>
                        <a:t>G</a:t>
                      </a:r>
                    </a:p>
                  </a:txBody>
                  <a:tcPr marL="4711" marR="4711" marT="4711" marB="0" anchor="b">
                    <a:lnL>
                      <a:noFill/>
                    </a:lnL>
                    <a:lnR>
                      <a:noFill/>
                    </a:lnR>
                    <a:lnT>
                      <a:noFill/>
                    </a:lnT>
                    <a:lnB>
                      <a:noFill/>
                    </a:lnB>
                    <a:noFill/>
                  </a:tcPr>
                </a:tc>
                <a:tc>
                  <a:txBody>
                    <a:bodyPr/>
                    <a:lstStyle/>
                    <a:p>
                      <a:pPr algn="ctr" fontAlgn="b">
                        <a:buNone/>
                      </a:pPr>
                      <a:r>
                        <a:rPr lang="en-US" sz="700" b="0" i="0" u="none" strike="noStrike">
                          <a:effectLst/>
                          <a:latin typeface="Arial" panose="020B0604020202020204" pitchFamily="34" charset="0"/>
                        </a:rPr>
                        <a:t>-</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690</a:t>
                      </a:r>
                    </a:p>
                  </a:txBody>
                  <a:tcPr marL="4711" marR="4711" marT="4711" marB="0" anchor="b">
                    <a:lnL>
                      <a:noFill/>
                    </a:lnL>
                    <a:lnR>
                      <a:noFill/>
                    </a:lnR>
                    <a:lnT>
                      <a:noFill/>
                    </a:lnT>
                    <a:lnB>
                      <a:noFill/>
                    </a:lnB>
                    <a:noFill/>
                  </a:tcPr>
                </a:tc>
                <a:tc>
                  <a:txBody>
                    <a:bodyPr/>
                    <a:lstStyle/>
                    <a:p>
                      <a:pPr algn="ctr" fontAlgn="b">
                        <a:buNone/>
                      </a:pPr>
                      <a:r>
                        <a:rPr lang="en-US" sz="700" b="0" i="0" u="none" strike="noStrike">
                          <a:effectLst/>
                          <a:latin typeface="Arial" panose="020B0604020202020204" pitchFamily="34" charset="0"/>
                        </a:rPr>
                        <a:t>H</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a:t>
                      </a:r>
                    </a:p>
                  </a:txBody>
                  <a:tcPr marL="4711" marR="4711" marT="4711" marB="0" anchor="b">
                    <a:lnL>
                      <a:noFill/>
                    </a:lnL>
                    <a:lnR>
                      <a:noFill/>
                    </a:lnR>
                    <a:lnT>
                      <a:noFill/>
                    </a:lnT>
                    <a:lnB>
                      <a:noFill/>
                    </a:lnB>
                    <a:noFill/>
                  </a:tcPr>
                </a:tc>
                <a:tc>
                  <a:txBody>
                    <a:bodyPr/>
                    <a:lstStyle/>
                    <a:p>
                      <a:pPr algn="ctr" fontAlgn="b">
                        <a:buNone/>
                      </a:pPr>
                      <a:r>
                        <a:rPr lang="en-US" sz="700" b="0" i="0" u="none" strike="noStrike">
                          <a:solidFill>
                            <a:srgbClr val="9C0006"/>
                          </a:solidFill>
                          <a:effectLst/>
                          <a:latin typeface="Arial" panose="020B0604020202020204" pitchFamily="34" charset="0"/>
                        </a:rPr>
                        <a:t>D</a:t>
                      </a:r>
                    </a:p>
                  </a:txBody>
                  <a:tcPr marL="4711" marR="4711" marT="4711" marB="0" anchor="b">
                    <a:lnL>
                      <a:noFill/>
                    </a:lnL>
                    <a:lnR>
                      <a:noFill/>
                    </a:lnR>
                    <a:lnT>
                      <a:noFill/>
                    </a:lnT>
                    <a:lnB>
                      <a:noFill/>
                    </a:lnB>
                    <a:solidFill>
                      <a:srgbClr val="FFC7CE"/>
                    </a:solidFill>
                  </a:tcPr>
                </a:tc>
                <a:tc>
                  <a:txBody>
                    <a:bodyPr/>
                    <a:lstStyle/>
                    <a:p>
                      <a:pPr algn="r" fontAlgn="b">
                        <a:buNone/>
                      </a:pPr>
                      <a:r>
                        <a:rPr lang="en-US" sz="700" b="0" i="0" u="none" strike="noStrike">
                          <a:effectLst/>
                          <a:latin typeface="Arial" panose="020B0604020202020204" pitchFamily="34" charset="0"/>
                        </a:rPr>
                        <a:t>346</a:t>
                      </a:r>
                    </a:p>
                  </a:txBody>
                  <a:tcPr marL="4711" marR="4711" marT="4711" marB="0" anchor="b">
                    <a:lnL>
                      <a:noFill/>
                    </a:lnL>
                    <a:lnR>
                      <a:noFill/>
                    </a:lnR>
                    <a:lnT>
                      <a:noFill/>
                    </a:lnT>
                    <a:lnB>
                      <a:noFill/>
                    </a:lnB>
                    <a:noFill/>
                  </a:tcPr>
                </a:tc>
                <a:tc>
                  <a:txBody>
                    <a:bodyPr/>
                    <a:lstStyle/>
                    <a:p>
                      <a:pPr algn="l" fontAlgn="b">
                        <a:buNone/>
                      </a:pPr>
                      <a:endParaRPr lang="en-US" sz="700" b="0" i="0" u="none" strike="noStrike">
                        <a:effectLst/>
                        <a:latin typeface="Arial" panose="020B0604020202020204" pitchFamily="34" charset="0"/>
                      </a:endParaRP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344</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73238</a:t>
                      </a:r>
                    </a:p>
                  </a:txBody>
                  <a:tcPr marL="4711" marR="4711" marT="4711" marB="0" anchor="b">
                    <a:lnL>
                      <a:noFill/>
                    </a:lnL>
                    <a:lnR>
                      <a:noFill/>
                    </a:lnR>
                    <a:lnT>
                      <a:noFill/>
                    </a:lnT>
                    <a:lnB>
                      <a:noFill/>
                    </a:lnB>
                    <a:noFill/>
                  </a:tcPr>
                </a:tc>
                <a:tc>
                  <a:txBody>
                    <a:bodyPr/>
                    <a:lstStyle/>
                    <a:p>
                      <a:pPr algn="l" fontAlgn="b">
                        <a:buNone/>
                      </a:pPr>
                      <a:endParaRPr lang="en-US" sz="700" b="0" i="0" u="none" strike="noStrike">
                        <a:effectLst/>
                        <a:latin typeface="Arial" panose="020B0604020202020204" pitchFamily="34" charset="0"/>
                      </a:endParaRPr>
                    </a:p>
                  </a:txBody>
                  <a:tcPr marL="4711" marR="4711" marT="4711" marB="0" anchor="b">
                    <a:lnL>
                      <a:noFill/>
                    </a:lnL>
                    <a:lnR>
                      <a:noFill/>
                    </a:lnR>
                    <a:lnT>
                      <a:noFill/>
                    </a:lnT>
                    <a:lnB>
                      <a:noFill/>
                    </a:lnB>
                    <a:noFill/>
                  </a:tcPr>
                </a:tc>
                <a:extLst>
                  <a:ext uri="{0D108BD9-81ED-4DB2-BD59-A6C34878D82A}">
                    <a16:rowId xmlns:a16="http://schemas.microsoft.com/office/drawing/2014/main" val="1991862136"/>
                  </a:ext>
                </a:extLst>
              </a:tr>
              <a:tr h="136044">
                <a:tc>
                  <a:txBody>
                    <a:bodyPr/>
                    <a:lstStyle/>
                    <a:p>
                      <a:pPr algn="r" fontAlgn="b">
                        <a:buNone/>
                      </a:pPr>
                      <a:r>
                        <a:rPr lang="en-US" sz="700" b="0" i="0" u="none" strike="noStrike">
                          <a:effectLst/>
                          <a:latin typeface="Arial" panose="020B0604020202020204" pitchFamily="34" charset="0"/>
                        </a:rPr>
                        <a:t>7</a:t>
                      </a: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a:t>
                      </a: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MA</a:t>
                      </a: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BOSTON</a:t>
                      </a:r>
                    </a:p>
                  </a:txBody>
                  <a:tcPr marL="4711" marR="4711" marT="4711" marB="0" anchor="b">
                    <a:lnL>
                      <a:noFill/>
                    </a:lnL>
                    <a:lnR>
                      <a:noFill/>
                    </a:lnR>
                    <a:lnT>
                      <a:noFill/>
                    </a:lnT>
                    <a:lnB>
                      <a:noFill/>
                    </a:lnB>
                    <a:noFill/>
                  </a:tcPr>
                </a:tc>
                <a:tc>
                  <a:txBody>
                    <a:bodyPr/>
                    <a:lstStyle/>
                    <a:p>
                      <a:pPr algn="l" fontAlgn="b">
                        <a:buNone/>
                      </a:pPr>
                      <a:endParaRPr lang="en-US" sz="700" b="0" i="0" u="none" strike="noStrike">
                        <a:effectLst/>
                        <a:latin typeface="Arial" panose="020B0604020202020204" pitchFamily="34" charset="0"/>
                      </a:endParaRP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WHDH</a:t>
                      </a: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NBC</a:t>
                      </a:r>
                    </a:p>
                  </a:txBody>
                  <a:tcPr marL="4711" marR="4711" marT="4711" marB="0" anchor="b">
                    <a:lnL>
                      <a:noFill/>
                    </a:lnL>
                    <a:lnR>
                      <a:noFill/>
                    </a:lnR>
                    <a:lnT>
                      <a:noFill/>
                    </a:lnT>
                    <a:lnB>
                      <a:noFill/>
                    </a:lnB>
                    <a:solidFill>
                      <a:srgbClr val="CCFFCC"/>
                    </a:solidFill>
                  </a:tcPr>
                </a:tc>
                <a:tc>
                  <a:txBody>
                    <a:bodyPr/>
                    <a:lstStyle/>
                    <a:p>
                      <a:pPr algn="r" fontAlgn="b">
                        <a:buNone/>
                      </a:pPr>
                      <a:r>
                        <a:rPr lang="en-US" sz="700" b="0" i="0" u="none" strike="noStrike">
                          <a:effectLst/>
                          <a:latin typeface="Arial" panose="020B0604020202020204" pitchFamily="34" charset="0"/>
                        </a:rPr>
                        <a:t>7.1</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42</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35</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UHF</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-7</a:t>
                      </a:r>
                    </a:p>
                  </a:txBody>
                  <a:tcPr marL="4711" marR="4711" marT="4711" marB="0" anchor="b">
                    <a:lnL>
                      <a:noFill/>
                    </a:lnL>
                    <a:lnR>
                      <a:noFill/>
                    </a:lnR>
                    <a:lnT>
                      <a:noFill/>
                    </a:lnT>
                    <a:lnB>
                      <a:noFill/>
                    </a:lnB>
                    <a:solidFill>
                      <a:srgbClr val="E6B8B7"/>
                    </a:solidFill>
                  </a:tcPr>
                </a:tc>
                <a:tc>
                  <a:txBody>
                    <a:bodyPr/>
                    <a:lstStyle/>
                    <a:p>
                      <a:pPr algn="r" fontAlgn="b">
                        <a:buNone/>
                      </a:pPr>
                      <a:r>
                        <a:rPr lang="en-US" sz="700" b="0" i="0" u="none" strike="noStrike">
                          <a:effectLst/>
                          <a:latin typeface="Arial" panose="020B0604020202020204" pitchFamily="34" charset="0"/>
                        </a:rPr>
                        <a:t>596</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602</a:t>
                      </a:r>
                    </a:p>
                  </a:txBody>
                  <a:tcPr marL="4711" marR="4711" marT="4711" marB="0" anchor="b">
                    <a:lnL>
                      <a:noFill/>
                    </a:lnL>
                    <a:lnR>
                      <a:noFill/>
                    </a:lnR>
                    <a:lnT>
                      <a:noFill/>
                    </a:lnT>
                    <a:lnB>
                      <a:noFill/>
                    </a:lnB>
                    <a:noFill/>
                  </a:tcPr>
                </a:tc>
                <a:tc>
                  <a:txBody>
                    <a:bodyPr/>
                    <a:lstStyle/>
                    <a:p>
                      <a:pPr algn="ctr" fontAlgn="b">
                        <a:buNone/>
                      </a:pPr>
                      <a:r>
                        <a:rPr lang="en-US" sz="700" b="0" i="0" u="none" strike="noStrike">
                          <a:effectLst/>
                          <a:latin typeface="Arial" panose="020B0604020202020204" pitchFamily="34" charset="0"/>
                        </a:rPr>
                        <a:t>H</a:t>
                      </a:r>
                    </a:p>
                  </a:txBody>
                  <a:tcPr marL="4711" marR="4711" marT="4711" marB="0" anchor="b">
                    <a:lnL>
                      <a:noFill/>
                    </a:lnL>
                    <a:lnR>
                      <a:noFill/>
                    </a:lnR>
                    <a:lnT>
                      <a:noFill/>
                    </a:lnT>
                    <a:lnB>
                      <a:noFill/>
                    </a:lnB>
                    <a:noFill/>
                  </a:tcPr>
                </a:tc>
                <a:tc>
                  <a:txBody>
                    <a:bodyPr/>
                    <a:lstStyle/>
                    <a:p>
                      <a:pPr algn="ctr" fontAlgn="b">
                        <a:buNone/>
                      </a:pPr>
                      <a:r>
                        <a:rPr lang="en-US" sz="700" b="0" i="0" u="none" strike="noStrike">
                          <a:effectLst/>
                          <a:latin typeface="Arial" panose="020B0604020202020204" pitchFamily="34" charset="0"/>
                        </a:rPr>
                        <a:t>8</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1000</a:t>
                      </a:r>
                    </a:p>
                  </a:txBody>
                  <a:tcPr marL="4711" marR="4711" marT="4711" marB="0" anchor="b">
                    <a:lnL>
                      <a:noFill/>
                    </a:lnL>
                    <a:lnR>
                      <a:noFill/>
                    </a:lnR>
                    <a:lnT>
                      <a:noFill/>
                    </a:lnT>
                    <a:lnB>
                      <a:noFill/>
                    </a:lnB>
                    <a:noFill/>
                  </a:tcPr>
                </a:tc>
                <a:tc>
                  <a:txBody>
                    <a:bodyPr/>
                    <a:lstStyle/>
                    <a:p>
                      <a:pPr algn="ctr" fontAlgn="b">
                        <a:buNone/>
                      </a:pPr>
                      <a:r>
                        <a:rPr lang="en-US" sz="700" b="0" i="0" u="none" strike="noStrike">
                          <a:effectLst/>
                          <a:latin typeface="Arial" panose="020B0604020202020204" pitchFamily="34" charset="0"/>
                        </a:rPr>
                        <a:t>H</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a:t>
                      </a:r>
                    </a:p>
                  </a:txBody>
                  <a:tcPr marL="4711" marR="4711" marT="4711" marB="0" anchor="b">
                    <a:lnL>
                      <a:noFill/>
                    </a:lnL>
                    <a:lnR>
                      <a:noFill/>
                    </a:lnR>
                    <a:lnT>
                      <a:noFill/>
                    </a:lnT>
                    <a:lnB>
                      <a:noFill/>
                    </a:lnB>
                    <a:noFill/>
                  </a:tcPr>
                </a:tc>
                <a:tc>
                  <a:txBody>
                    <a:bodyPr/>
                    <a:lstStyle/>
                    <a:p>
                      <a:pPr algn="ctr" fontAlgn="b">
                        <a:buNone/>
                      </a:pPr>
                      <a:r>
                        <a:rPr lang="en-US" sz="700" b="0" i="0" u="none" strike="noStrike">
                          <a:effectLst/>
                          <a:latin typeface="Arial" panose="020B0604020202020204" pitchFamily="34" charset="0"/>
                        </a:rPr>
                        <a:t>ND</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288</a:t>
                      </a:r>
                    </a:p>
                  </a:txBody>
                  <a:tcPr marL="4711" marR="4711" marT="4711" marB="0" anchor="b">
                    <a:lnL>
                      <a:noFill/>
                    </a:lnL>
                    <a:lnR>
                      <a:noFill/>
                    </a:lnR>
                    <a:lnT>
                      <a:noFill/>
                    </a:lnT>
                    <a:lnB>
                      <a:noFill/>
                    </a:lnB>
                    <a:noFill/>
                  </a:tcPr>
                </a:tc>
                <a:tc>
                  <a:txBody>
                    <a:bodyPr/>
                    <a:lstStyle/>
                    <a:p>
                      <a:pPr algn="l" fontAlgn="b">
                        <a:buNone/>
                      </a:pPr>
                      <a:endParaRPr lang="en-US" sz="700" b="0" i="0" u="none" strike="noStrike">
                        <a:effectLst/>
                        <a:latin typeface="Arial" panose="020B0604020202020204" pitchFamily="34" charset="0"/>
                      </a:endParaRP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298</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72145</a:t>
                      </a:r>
                    </a:p>
                  </a:txBody>
                  <a:tcPr marL="4711" marR="4711" marT="4711" marB="0" anchor="b">
                    <a:lnL>
                      <a:noFill/>
                    </a:lnL>
                    <a:lnR>
                      <a:noFill/>
                    </a:lnR>
                    <a:lnT>
                      <a:noFill/>
                    </a:lnT>
                    <a:lnB>
                      <a:noFill/>
                    </a:lnB>
                    <a:noFill/>
                  </a:tcPr>
                </a:tc>
                <a:tc>
                  <a:txBody>
                    <a:bodyPr/>
                    <a:lstStyle/>
                    <a:p>
                      <a:pPr algn="l" fontAlgn="b">
                        <a:buNone/>
                      </a:pPr>
                      <a:endParaRPr lang="en-US" sz="700" b="0" i="0" u="none" strike="noStrike">
                        <a:effectLst/>
                        <a:latin typeface="Arial" panose="020B0604020202020204" pitchFamily="34" charset="0"/>
                      </a:endParaRPr>
                    </a:p>
                  </a:txBody>
                  <a:tcPr marL="4711" marR="4711" marT="4711" marB="0" anchor="b">
                    <a:lnL>
                      <a:noFill/>
                    </a:lnL>
                    <a:lnR>
                      <a:noFill/>
                    </a:lnR>
                    <a:lnT>
                      <a:noFill/>
                    </a:lnT>
                    <a:lnB>
                      <a:noFill/>
                    </a:lnB>
                    <a:noFill/>
                  </a:tcPr>
                </a:tc>
                <a:extLst>
                  <a:ext uri="{0D108BD9-81ED-4DB2-BD59-A6C34878D82A}">
                    <a16:rowId xmlns:a16="http://schemas.microsoft.com/office/drawing/2014/main" val="4035111158"/>
                  </a:ext>
                </a:extLst>
              </a:tr>
              <a:tr h="136044">
                <a:tc>
                  <a:txBody>
                    <a:bodyPr/>
                    <a:lstStyle/>
                    <a:p>
                      <a:pPr algn="r" fontAlgn="b">
                        <a:buNone/>
                      </a:pPr>
                      <a:r>
                        <a:rPr lang="en-US" sz="700" b="0" i="0" u="none" strike="noStrike">
                          <a:effectLst/>
                          <a:latin typeface="Arial" panose="020B0604020202020204" pitchFamily="34" charset="0"/>
                        </a:rPr>
                        <a:t>7</a:t>
                      </a: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a:t>
                      </a: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MA</a:t>
                      </a: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BOSTON</a:t>
                      </a:r>
                    </a:p>
                  </a:txBody>
                  <a:tcPr marL="4711" marR="4711" marT="4711" marB="0" anchor="b">
                    <a:lnL>
                      <a:noFill/>
                    </a:lnL>
                    <a:lnR>
                      <a:noFill/>
                    </a:lnR>
                    <a:lnT>
                      <a:noFill/>
                    </a:lnT>
                    <a:lnB>
                      <a:noFill/>
                    </a:lnB>
                    <a:noFill/>
                  </a:tcPr>
                </a:tc>
                <a:tc>
                  <a:txBody>
                    <a:bodyPr/>
                    <a:lstStyle/>
                    <a:p>
                      <a:pPr algn="l" fontAlgn="b">
                        <a:buNone/>
                      </a:pPr>
                      <a:endParaRPr lang="en-US" sz="700" b="0" i="0" u="none" strike="noStrike">
                        <a:effectLst/>
                        <a:latin typeface="Arial" panose="020B0604020202020204" pitchFamily="34" charset="0"/>
                      </a:endParaRP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WGBX</a:t>
                      </a: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PBS</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44.1</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43</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32</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UHF</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-11</a:t>
                      </a:r>
                    </a:p>
                  </a:txBody>
                  <a:tcPr marL="4711" marR="4711" marT="4711" marB="0" anchor="b">
                    <a:lnL>
                      <a:noFill/>
                    </a:lnL>
                    <a:lnR>
                      <a:noFill/>
                    </a:lnR>
                    <a:lnT>
                      <a:noFill/>
                    </a:lnT>
                    <a:lnB>
                      <a:noFill/>
                    </a:lnB>
                    <a:solidFill>
                      <a:srgbClr val="E6B8B7"/>
                    </a:solidFill>
                  </a:tcPr>
                </a:tc>
                <a:tc>
                  <a:txBody>
                    <a:bodyPr/>
                    <a:lstStyle/>
                    <a:p>
                      <a:pPr algn="r" fontAlgn="b">
                        <a:buNone/>
                      </a:pPr>
                      <a:r>
                        <a:rPr lang="en-US" sz="700" b="0" i="0" u="none" strike="noStrike">
                          <a:effectLst/>
                          <a:latin typeface="Arial" panose="020B0604020202020204" pitchFamily="34" charset="0"/>
                        </a:rPr>
                        <a:t>578</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584</a:t>
                      </a:r>
                    </a:p>
                  </a:txBody>
                  <a:tcPr marL="4711" marR="4711" marT="4711" marB="0" anchor="b">
                    <a:lnL>
                      <a:noFill/>
                    </a:lnL>
                    <a:lnR>
                      <a:noFill/>
                    </a:lnR>
                    <a:lnT>
                      <a:noFill/>
                    </a:lnT>
                    <a:lnB>
                      <a:noFill/>
                    </a:lnB>
                    <a:noFill/>
                  </a:tcPr>
                </a:tc>
                <a:tc>
                  <a:txBody>
                    <a:bodyPr/>
                    <a:lstStyle/>
                    <a:p>
                      <a:pPr algn="ctr" fontAlgn="b">
                        <a:buNone/>
                      </a:pPr>
                      <a:r>
                        <a:rPr lang="en-US" sz="700" b="0" i="0" u="none" strike="noStrike">
                          <a:effectLst/>
                          <a:latin typeface="Arial" panose="020B0604020202020204" pitchFamily="34" charset="0"/>
                        </a:rPr>
                        <a:t>H</a:t>
                      </a:r>
                    </a:p>
                  </a:txBody>
                  <a:tcPr marL="4711" marR="4711" marT="4711" marB="0" anchor="b">
                    <a:lnL>
                      <a:noFill/>
                    </a:lnL>
                    <a:lnR>
                      <a:noFill/>
                    </a:lnR>
                    <a:lnT>
                      <a:noFill/>
                    </a:lnT>
                    <a:lnB>
                      <a:noFill/>
                    </a:lnB>
                    <a:noFill/>
                  </a:tcPr>
                </a:tc>
                <a:tc>
                  <a:txBody>
                    <a:bodyPr/>
                    <a:lstStyle/>
                    <a:p>
                      <a:pPr algn="ctr" fontAlgn="b">
                        <a:buNone/>
                      </a:pPr>
                      <a:r>
                        <a:rPr lang="en-US" sz="700" b="0" i="0" u="none" strike="noStrike">
                          <a:effectLst/>
                          <a:latin typeface="Arial" panose="020B0604020202020204" pitchFamily="34" charset="0"/>
                        </a:rPr>
                        <a:t>8</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500</a:t>
                      </a:r>
                    </a:p>
                  </a:txBody>
                  <a:tcPr marL="4711" marR="4711" marT="4711" marB="0" anchor="b">
                    <a:lnL>
                      <a:noFill/>
                    </a:lnL>
                    <a:lnR>
                      <a:noFill/>
                    </a:lnR>
                    <a:lnT>
                      <a:noFill/>
                    </a:lnT>
                    <a:lnB>
                      <a:noFill/>
                    </a:lnB>
                    <a:noFill/>
                  </a:tcPr>
                </a:tc>
                <a:tc>
                  <a:txBody>
                    <a:bodyPr/>
                    <a:lstStyle/>
                    <a:p>
                      <a:pPr algn="ctr" fontAlgn="b">
                        <a:buNone/>
                      </a:pPr>
                      <a:r>
                        <a:rPr lang="en-US" sz="700" b="0" i="0" u="none" strike="noStrike">
                          <a:effectLst/>
                          <a:latin typeface="Arial" panose="020B0604020202020204" pitchFamily="34" charset="0"/>
                        </a:rPr>
                        <a:t>H</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a:t>
                      </a:r>
                    </a:p>
                  </a:txBody>
                  <a:tcPr marL="4711" marR="4711" marT="4711" marB="0" anchor="b">
                    <a:lnL>
                      <a:noFill/>
                    </a:lnL>
                    <a:lnR>
                      <a:noFill/>
                    </a:lnR>
                    <a:lnT>
                      <a:noFill/>
                    </a:lnT>
                    <a:lnB>
                      <a:noFill/>
                    </a:lnB>
                    <a:noFill/>
                  </a:tcPr>
                </a:tc>
                <a:tc>
                  <a:txBody>
                    <a:bodyPr/>
                    <a:lstStyle/>
                    <a:p>
                      <a:pPr algn="ctr" fontAlgn="b">
                        <a:buNone/>
                      </a:pPr>
                      <a:r>
                        <a:rPr lang="en-US" sz="700" b="0" i="0" u="none" strike="noStrike">
                          <a:effectLst/>
                          <a:latin typeface="Arial" panose="020B0604020202020204" pitchFamily="34" charset="0"/>
                        </a:rPr>
                        <a:t>ND</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391</a:t>
                      </a:r>
                    </a:p>
                  </a:txBody>
                  <a:tcPr marL="4711" marR="4711" marT="4711" marB="0" anchor="b">
                    <a:lnL>
                      <a:noFill/>
                    </a:lnL>
                    <a:lnR>
                      <a:noFill/>
                    </a:lnR>
                    <a:lnT>
                      <a:noFill/>
                    </a:lnT>
                    <a:lnB>
                      <a:noFill/>
                    </a:lnB>
                    <a:noFill/>
                  </a:tcPr>
                </a:tc>
                <a:tc>
                  <a:txBody>
                    <a:bodyPr/>
                    <a:lstStyle/>
                    <a:p>
                      <a:pPr algn="l" fontAlgn="b">
                        <a:buNone/>
                      </a:pPr>
                      <a:endParaRPr lang="en-US" sz="700" b="0" i="0" u="none" strike="noStrike">
                        <a:effectLst/>
                        <a:latin typeface="Arial" panose="020B0604020202020204" pitchFamily="34" charset="0"/>
                      </a:endParaRP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387</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72098</a:t>
                      </a:r>
                    </a:p>
                  </a:txBody>
                  <a:tcPr marL="4711" marR="4711" marT="4711" marB="0" anchor="b">
                    <a:lnL>
                      <a:noFill/>
                    </a:lnL>
                    <a:lnR>
                      <a:noFill/>
                    </a:lnR>
                    <a:lnT>
                      <a:noFill/>
                    </a:lnT>
                    <a:lnB>
                      <a:noFill/>
                    </a:lnB>
                    <a:noFill/>
                  </a:tcPr>
                </a:tc>
                <a:tc>
                  <a:txBody>
                    <a:bodyPr/>
                    <a:lstStyle/>
                    <a:p>
                      <a:pPr algn="l" fontAlgn="b">
                        <a:buNone/>
                      </a:pPr>
                      <a:endParaRPr lang="en-US" sz="700" b="0" i="0" u="none" strike="noStrike">
                        <a:effectLst/>
                        <a:latin typeface="Arial" panose="020B0604020202020204" pitchFamily="34" charset="0"/>
                      </a:endParaRPr>
                    </a:p>
                  </a:txBody>
                  <a:tcPr marL="4711" marR="4711" marT="4711" marB="0" anchor="b">
                    <a:lnL>
                      <a:noFill/>
                    </a:lnL>
                    <a:lnR>
                      <a:noFill/>
                    </a:lnR>
                    <a:lnT>
                      <a:noFill/>
                    </a:lnT>
                    <a:lnB>
                      <a:noFill/>
                    </a:lnB>
                    <a:noFill/>
                  </a:tcPr>
                </a:tc>
                <a:extLst>
                  <a:ext uri="{0D108BD9-81ED-4DB2-BD59-A6C34878D82A}">
                    <a16:rowId xmlns:a16="http://schemas.microsoft.com/office/drawing/2014/main" val="794212059"/>
                  </a:ext>
                </a:extLst>
              </a:tr>
              <a:tr h="136044">
                <a:tc>
                  <a:txBody>
                    <a:bodyPr/>
                    <a:lstStyle/>
                    <a:p>
                      <a:pPr algn="r" fontAlgn="b">
                        <a:buNone/>
                      </a:pPr>
                      <a:r>
                        <a:rPr lang="en-US" sz="700" b="0" i="0" u="none" strike="noStrike">
                          <a:effectLst/>
                          <a:latin typeface="Arial" panose="020B0604020202020204" pitchFamily="34" charset="0"/>
                        </a:rPr>
                        <a:t>7</a:t>
                      </a:r>
                    </a:p>
                  </a:txBody>
                  <a:tcPr marL="4711" marR="4711" marT="4711" marB="0" anchor="b">
                    <a:lnL>
                      <a:noFill/>
                    </a:lnL>
                    <a:lnR>
                      <a:noFill/>
                    </a:lnR>
                    <a:lnT>
                      <a:noFill/>
                    </a:lnT>
                    <a:lnB>
                      <a:noFill/>
                    </a:lnB>
                    <a:noFill/>
                  </a:tcPr>
                </a:tc>
                <a:tc>
                  <a:txBody>
                    <a:bodyPr/>
                    <a:lstStyle/>
                    <a:p>
                      <a:pPr algn="l" fontAlgn="b">
                        <a:buNone/>
                      </a:pPr>
                      <a:endParaRPr lang="en-US" sz="700" b="0" i="0" u="none" strike="noStrike">
                        <a:effectLst/>
                        <a:latin typeface="Arial" panose="020B0604020202020204" pitchFamily="34" charset="0"/>
                      </a:endParaRP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MA</a:t>
                      </a: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BOSTON</a:t>
                      </a:r>
                    </a:p>
                  </a:txBody>
                  <a:tcPr marL="4711" marR="4711" marT="4711" marB="0" anchor="b">
                    <a:lnL>
                      <a:noFill/>
                    </a:lnL>
                    <a:lnR>
                      <a:noFill/>
                    </a:lnR>
                    <a:lnT>
                      <a:noFill/>
                    </a:lnT>
                    <a:lnB>
                      <a:noFill/>
                    </a:lnB>
                    <a:noFill/>
                  </a:tcPr>
                </a:tc>
                <a:tc>
                  <a:txBody>
                    <a:bodyPr/>
                    <a:lstStyle/>
                    <a:p>
                      <a:pPr algn="l" fontAlgn="b">
                        <a:buNone/>
                      </a:pPr>
                      <a:endParaRPr lang="en-US" sz="700" b="0" i="0" u="none" strike="noStrike">
                        <a:effectLst/>
                        <a:latin typeface="Arial" panose="020B0604020202020204" pitchFamily="34" charset="0"/>
                      </a:endParaRPr>
                    </a:p>
                  </a:txBody>
                  <a:tcPr marL="4711" marR="4711" marT="4711" marB="0" anchor="b">
                    <a:lnL>
                      <a:noFill/>
                    </a:lnL>
                    <a:lnR>
                      <a:noFill/>
                    </a:lnR>
                    <a:lnT>
                      <a:noFill/>
                    </a:lnT>
                    <a:lnB>
                      <a:noFill/>
                    </a:lnB>
                    <a:noFill/>
                  </a:tcPr>
                </a:tc>
                <a:tc gridSpan="2">
                  <a:txBody>
                    <a:bodyPr/>
                    <a:lstStyle/>
                    <a:p>
                      <a:pPr algn="l" fontAlgn="b">
                        <a:buNone/>
                      </a:pPr>
                      <a:r>
                        <a:rPr lang="en-US" sz="700" b="0" i="0" u="none" strike="noStrike">
                          <a:effectLst/>
                          <a:latin typeface="Arial" panose="020B0604020202020204" pitchFamily="34" charset="0"/>
                        </a:rPr>
                        <a:t>WYCN-CD</a:t>
                      </a:r>
                    </a:p>
                  </a:txBody>
                  <a:tcPr marL="4711" marR="4711" marT="4711" marB="0" anchor="b">
                    <a:lnL>
                      <a:noFill/>
                    </a:lnL>
                    <a:lnR>
                      <a:noFill/>
                    </a:lnR>
                    <a:lnT>
                      <a:noFill/>
                    </a:lnT>
                    <a:lnB>
                      <a:noFill/>
                    </a:lnB>
                    <a:noFill/>
                  </a:tcPr>
                </a:tc>
                <a:tc hMerge="1">
                  <a:txBody>
                    <a:bodyPr/>
                    <a:lstStyle/>
                    <a:p>
                      <a:endParaRPr lang="en-US"/>
                    </a:p>
                  </a:txBody>
                  <a:tcPr/>
                </a:tc>
                <a:tc>
                  <a:txBody>
                    <a:bodyPr/>
                    <a:lstStyle/>
                    <a:p>
                      <a:pPr algn="r" fontAlgn="b">
                        <a:buNone/>
                      </a:pPr>
                      <a:r>
                        <a:rPr lang="en-US" sz="700" b="0" i="0" u="none" strike="noStrike">
                          <a:effectLst/>
                          <a:latin typeface="Arial" panose="020B0604020202020204" pitchFamily="34" charset="0"/>
                        </a:rPr>
                        <a:t>15.1</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43</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32</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UHF</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-11</a:t>
                      </a:r>
                    </a:p>
                  </a:txBody>
                  <a:tcPr marL="4711" marR="4711" marT="4711" marB="0" anchor="b">
                    <a:lnL>
                      <a:noFill/>
                    </a:lnL>
                    <a:lnR>
                      <a:noFill/>
                    </a:lnR>
                    <a:lnT>
                      <a:noFill/>
                    </a:lnT>
                    <a:lnB>
                      <a:noFill/>
                    </a:lnB>
                    <a:solidFill>
                      <a:srgbClr val="E6B8B7"/>
                    </a:solidFill>
                  </a:tcPr>
                </a:tc>
                <a:tc>
                  <a:txBody>
                    <a:bodyPr/>
                    <a:lstStyle/>
                    <a:p>
                      <a:pPr algn="r" fontAlgn="b">
                        <a:buNone/>
                      </a:pPr>
                      <a:r>
                        <a:rPr lang="en-US" sz="700" b="0" i="0" u="none" strike="noStrike">
                          <a:effectLst/>
                          <a:latin typeface="Arial" panose="020B0604020202020204" pitchFamily="34" charset="0"/>
                        </a:rPr>
                        <a:t>578</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584</a:t>
                      </a:r>
                    </a:p>
                  </a:txBody>
                  <a:tcPr marL="4711" marR="4711" marT="4711" marB="0" anchor="b">
                    <a:lnL>
                      <a:noFill/>
                    </a:lnL>
                    <a:lnR>
                      <a:noFill/>
                    </a:lnR>
                    <a:lnT>
                      <a:noFill/>
                    </a:lnT>
                    <a:lnB>
                      <a:noFill/>
                    </a:lnB>
                    <a:noFill/>
                  </a:tcPr>
                </a:tc>
                <a:tc>
                  <a:txBody>
                    <a:bodyPr/>
                    <a:lstStyle/>
                    <a:p>
                      <a:pPr algn="ctr" fontAlgn="b">
                        <a:buNone/>
                      </a:pPr>
                      <a:r>
                        <a:rPr lang="en-US" sz="700" b="0" i="0" u="none" strike="noStrike">
                          <a:effectLst/>
                          <a:latin typeface="Arial" panose="020B0604020202020204" pitchFamily="34" charset="0"/>
                        </a:rPr>
                        <a:t>G</a:t>
                      </a:r>
                    </a:p>
                  </a:txBody>
                  <a:tcPr marL="4711" marR="4711" marT="4711" marB="0" anchor="b">
                    <a:lnL>
                      <a:noFill/>
                    </a:lnL>
                    <a:lnR>
                      <a:noFill/>
                    </a:lnR>
                    <a:lnT>
                      <a:noFill/>
                    </a:lnT>
                    <a:lnB>
                      <a:noFill/>
                    </a:lnB>
                    <a:noFill/>
                  </a:tcPr>
                </a:tc>
                <a:tc>
                  <a:txBody>
                    <a:bodyPr/>
                    <a:lstStyle/>
                    <a:p>
                      <a:pPr algn="ctr" fontAlgn="b">
                        <a:buNone/>
                      </a:pPr>
                      <a:r>
                        <a:rPr lang="en-US" sz="700" b="0" i="0" u="none" strike="noStrike">
                          <a:effectLst/>
                          <a:latin typeface="Arial" panose="020B0604020202020204" pitchFamily="34" charset="0"/>
                        </a:rPr>
                        <a:t>-</a:t>
                      </a:r>
                    </a:p>
                  </a:txBody>
                  <a:tcPr marL="4711" marR="4711" marT="4711" marB="0" anchor="b">
                    <a:lnL>
                      <a:noFill/>
                    </a:lnL>
                    <a:lnR>
                      <a:noFill/>
                    </a:lnR>
                    <a:lnT>
                      <a:noFill/>
                    </a:lnT>
                    <a:lnB>
                      <a:noFill/>
                    </a:lnB>
                    <a:noFill/>
                  </a:tcPr>
                </a:tc>
                <a:tc>
                  <a:txBody>
                    <a:bodyPr/>
                    <a:lstStyle/>
                    <a:p>
                      <a:pPr algn="l" fontAlgn="b">
                        <a:buNone/>
                      </a:pPr>
                      <a:endParaRPr lang="en-US" sz="700" b="0" i="0" u="none" strike="noStrike">
                        <a:effectLst/>
                        <a:latin typeface="Arial" panose="020B0604020202020204" pitchFamily="34" charset="0"/>
                      </a:endParaRPr>
                    </a:p>
                  </a:txBody>
                  <a:tcPr marL="4711" marR="4711" marT="4711" marB="0" anchor="b">
                    <a:lnL>
                      <a:noFill/>
                    </a:lnL>
                    <a:lnR>
                      <a:noFill/>
                    </a:lnR>
                    <a:lnT>
                      <a:noFill/>
                    </a:lnT>
                    <a:lnB>
                      <a:noFill/>
                    </a:lnB>
                    <a:noFill/>
                  </a:tcPr>
                </a:tc>
                <a:tc>
                  <a:txBody>
                    <a:bodyPr/>
                    <a:lstStyle/>
                    <a:p>
                      <a:pPr algn="ctr" fontAlgn="b">
                        <a:buNone/>
                      </a:pPr>
                      <a:endParaRPr lang="en-US" sz="700" b="0" i="0" u="none" strike="noStrike">
                        <a:effectLst/>
                        <a:latin typeface="Arial" panose="020B0604020202020204" pitchFamily="34" charset="0"/>
                      </a:endParaRPr>
                    </a:p>
                  </a:txBody>
                  <a:tcPr marL="4711" marR="4711" marT="4711" marB="0" anchor="b">
                    <a:lnL>
                      <a:noFill/>
                    </a:lnL>
                    <a:lnR>
                      <a:noFill/>
                    </a:lnR>
                    <a:lnT>
                      <a:noFill/>
                    </a:lnT>
                    <a:lnB>
                      <a:noFill/>
                    </a:lnB>
                    <a:noFill/>
                  </a:tcPr>
                </a:tc>
                <a:tc>
                  <a:txBody>
                    <a:bodyPr/>
                    <a:lstStyle/>
                    <a:p>
                      <a:pPr algn="r" fontAlgn="b">
                        <a:buNone/>
                      </a:pPr>
                      <a:endParaRPr lang="en-US" sz="700" b="0" i="0" u="none" strike="noStrike">
                        <a:effectLst/>
                        <a:latin typeface="Arial" panose="020B0604020202020204" pitchFamily="34" charset="0"/>
                      </a:endParaRPr>
                    </a:p>
                  </a:txBody>
                  <a:tcPr marL="4711" marR="4711" marT="4711" marB="0" anchor="b">
                    <a:lnL>
                      <a:noFill/>
                    </a:lnL>
                    <a:lnR>
                      <a:noFill/>
                    </a:lnR>
                    <a:lnT>
                      <a:noFill/>
                    </a:lnT>
                    <a:lnB>
                      <a:noFill/>
                    </a:lnB>
                    <a:noFill/>
                  </a:tcPr>
                </a:tc>
                <a:tc>
                  <a:txBody>
                    <a:bodyPr/>
                    <a:lstStyle/>
                    <a:p>
                      <a:pPr algn="ctr" fontAlgn="b">
                        <a:buNone/>
                      </a:pPr>
                      <a:endParaRPr lang="en-US" sz="700" b="0" i="0" u="none" strike="noStrike">
                        <a:effectLst/>
                        <a:latin typeface="Arial" panose="020B0604020202020204" pitchFamily="34" charset="0"/>
                      </a:endParaRPr>
                    </a:p>
                  </a:txBody>
                  <a:tcPr marL="4711" marR="4711" marT="4711" marB="0" anchor="b">
                    <a:lnL>
                      <a:noFill/>
                    </a:lnL>
                    <a:lnR>
                      <a:noFill/>
                    </a:lnR>
                    <a:lnT>
                      <a:noFill/>
                    </a:lnT>
                    <a:lnB>
                      <a:noFill/>
                    </a:lnB>
                    <a:noFill/>
                  </a:tcPr>
                </a:tc>
                <a:tc>
                  <a:txBody>
                    <a:bodyPr/>
                    <a:lstStyle/>
                    <a:p>
                      <a:pPr algn="l" fontAlgn="b">
                        <a:buNone/>
                      </a:pPr>
                      <a:endParaRPr lang="en-US" sz="700" b="0" i="0" u="none" strike="noStrike">
                        <a:effectLst/>
                        <a:latin typeface="Arial" panose="020B0604020202020204" pitchFamily="34" charset="0"/>
                      </a:endParaRPr>
                    </a:p>
                  </a:txBody>
                  <a:tcPr marL="4711" marR="4711" marT="4711" marB="0" anchor="b">
                    <a:lnL>
                      <a:noFill/>
                    </a:lnL>
                    <a:lnR>
                      <a:noFill/>
                    </a:lnR>
                    <a:lnT>
                      <a:noFill/>
                    </a:lnT>
                    <a:lnB>
                      <a:noFill/>
                    </a:lnB>
                    <a:noFill/>
                  </a:tcPr>
                </a:tc>
                <a:tc>
                  <a:txBody>
                    <a:bodyPr/>
                    <a:lstStyle/>
                    <a:p>
                      <a:pPr algn="l" fontAlgn="b">
                        <a:buNone/>
                      </a:pPr>
                      <a:endParaRPr lang="en-US" sz="700" b="0" i="0" u="none" strike="noStrike">
                        <a:effectLst/>
                        <a:latin typeface="Arial" panose="020B0604020202020204" pitchFamily="34" charset="0"/>
                      </a:endParaRPr>
                    </a:p>
                  </a:txBody>
                  <a:tcPr marL="4711" marR="4711" marT="4711" marB="0" anchor="b">
                    <a:lnL>
                      <a:noFill/>
                    </a:lnL>
                    <a:lnR>
                      <a:noFill/>
                    </a:lnR>
                    <a:lnT>
                      <a:noFill/>
                    </a:lnT>
                    <a:lnB>
                      <a:noFill/>
                    </a:lnB>
                    <a:noFill/>
                  </a:tcPr>
                </a:tc>
                <a:tc>
                  <a:txBody>
                    <a:bodyPr/>
                    <a:lstStyle/>
                    <a:p>
                      <a:pPr algn="l" fontAlgn="b">
                        <a:buNone/>
                      </a:pPr>
                      <a:endParaRPr lang="en-US" sz="700" b="0" i="0" u="none" strike="noStrike">
                        <a:effectLst/>
                        <a:latin typeface="Arial" panose="020B0604020202020204" pitchFamily="34" charset="0"/>
                      </a:endParaRPr>
                    </a:p>
                  </a:txBody>
                  <a:tcPr marL="4711" marR="4711" marT="4711" marB="0" anchor="b">
                    <a:lnL>
                      <a:noFill/>
                    </a:lnL>
                    <a:lnR>
                      <a:noFill/>
                    </a:lnR>
                    <a:lnT>
                      <a:noFill/>
                    </a:lnT>
                    <a:lnB>
                      <a:noFill/>
                    </a:lnB>
                    <a:noFill/>
                  </a:tcPr>
                </a:tc>
                <a:tc>
                  <a:txBody>
                    <a:bodyPr/>
                    <a:lstStyle/>
                    <a:p>
                      <a:pPr algn="l" fontAlgn="b">
                        <a:buNone/>
                      </a:pPr>
                      <a:endParaRPr lang="en-US" sz="700" b="0" i="0" u="none" strike="noStrike">
                        <a:effectLst/>
                        <a:latin typeface="Arial" panose="020B0604020202020204" pitchFamily="34" charset="0"/>
                      </a:endParaRPr>
                    </a:p>
                  </a:txBody>
                  <a:tcPr marL="4711" marR="4711" marT="4711" marB="0" anchor="b">
                    <a:lnL>
                      <a:noFill/>
                    </a:lnL>
                    <a:lnR>
                      <a:noFill/>
                    </a:lnR>
                    <a:lnT>
                      <a:noFill/>
                    </a:lnT>
                    <a:lnB>
                      <a:noFill/>
                    </a:lnB>
                    <a:noFill/>
                  </a:tcPr>
                </a:tc>
                <a:tc>
                  <a:txBody>
                    <a:bodyPr/>
                    <a:lstStyle/>
                    <a:p>
                      <a:pPr algn="l" fontAlgn="b">
                        <a:buNone/>
                      </a:pPr>
                      <a:endParaRPr lang="en-US" sz="700" b="0" i="0" u="none" strike="noStrike">
                        <a:effectLst/>
                        <a:latin typeface="Arial" panose="020B0604020202020204" pitchFamily="34" charset="0"/>
                      </a:endParaRPr>
                    </a:p>
                  </a:txBody>
                  <a:tcPr marL="4711" marR="4711" marT="4711" marB="0" anchor="b">
                    <a:lnL>
                      <a:noFill/>
                    </a:lnL>
                    <a:lnR>
                      <a:noFill/>
                    </a:lnR>
                    <a:lnT>
                      <a:noFill/>
                    </a:lnT>
                    <a:lnB>
                      <a:noFill/>
                    </a:lnB>
                    <a:noFill/>
                  </a:tcPr>
                </a:tc>
                <a:extLst>
                  <a:ext uri="{0D108BD9-81ED-4DB2-BD59-A6C34878D82A}">
                    <a16:rowId xmlns:a16="http://schemas.microsoft.com/office/drawing/2014/main" val="3701410537"/>
                  </a:ext>
                </a:extLst>
              </a:tr>
              <a:tr h="136044">
                <a:tc>
                  <a:txBody>
                    <a:bodyPr/>
                    <a:lstStyle/>
                    <a:p>
                      <a:pPr algn="r" fontAlgn="b">
                        <a:buNone/>
                      </a:pPr>
                      <a:r>
                        <a:rPr lang="en-US" sz="700" b="0" i="0" u="none" strike="noStrike">
                          <a:effectLst/>
                          <a:latin typeface="Arial" panose="020B0604020202020204" pitchFamily="34" charset="0"/>
                        </a:rPr>
                        <a:t>7</a:t>
                      </a: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a:t>
                      </a: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MA</a:t>
                      </a: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BOSTON</a:t>
                      </a: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WORCESTER</a:t>
                      </a: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WYDN</a:t>
                      </a: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day</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48.1</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47</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23</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UHF</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-24</a:t>
                      </a:r>
                    </a:p>
                  </a:txBody>
                  <a:tcPr marL="4711" marR="4711" marT="4711" marB="0" anchor="b">
                    <a:lnL>
                      <a:noFill/>
                    </a:lnL>
                    <a:lnR>
                      <a:noFill/>
                    </a:lnR>
                    <a:lnT>
                      <a:noFill/>
                    </a:lnT>
                    <a:lnB>
                      <a:noFill/>
                    </a:lnB>
                    <a:solidFill>
                      <a:srgbClr val="E6B8B7"/>
                    </a:solidFill>
                  </a:tcPr>
                </a:tc>
                <a:tc>
                  <a:txBody>
                    <a:bodyPr/>
                    <a:lstStyle/>
                    <a:p>
                      <a:pPr algn="r" fontAlgn="b">
                        <a:buNone/>
                      </a:pPr>
                      <a:r>
                        <a:rPr lang="en-US" sz="700" b="0" i="0" u="none" strike="noStrike">
                          <a:effectLst/>
                          <a:latin typeface="Arial" panose="020B0604020202020204" pitchFamily="34" charset="0"/>
                        </a:rPr>
                        <a:t>524</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530</a:t>
                      </a:r>
                    </a:p>
                  </a:txBody>
                  <a:tcPr marL="4711" marR="4711" marT="4711" marB="0" anchor="b">
                    <a:lnL>
                      <a:noFill/>
                    </a:lnL>
                    <a:lnR>
                      <a:noFill/>
                    </a:lnR>
                    <a:lnT>
                      <a:noFill/>
                    </a:lnT>
                    <a:lnB>
                      <a:noFill/>
                    </a:lnB>
                    <a:noFill/>
                  </a:tcPr>
                </a:tc>
                <a:tc>
                  <a:txBody>
                    <a:bodyPr/>
                    <a:lstStyle/>
                    <a:p>
                      <a:pPr algn="ctr" fontAlgn="b">
                        <a:buNone/>
                      </a:pPr>
                      <a:r>
                        <a:rPr lang="en-US" sz="700" b="0" i="0" u="none" strike="noStrike">
                          <a:effectLst/>
                          <a:latin typeface="Arial" panose="020B0604020202020204" pitchFamily="34" charset="0"/>
                        </a:rPr>
                        <a:t>G</a:t>
                      </a:r>
                    </a:p>
                  </a:txBody>
                  <a:tcPr marL="4711" marR="4711" marT="4711" marB="0" anchor="b">
                    <a:lnL>
                      <a:noFill/>
                    </a:lnL>
                    <a:lnR>
                      <a:noFill/>
                    </a:lnR>
                    <a:lnT>
                      <a:noFill/>
                    </a:lnT>
                    <a:lnB>
                      <a:noFill/>
                    </a:lnB>
                    <a:noFill/>
                  </a:tcPr>
                </a:tc>
                <a:tc>
                  <a:txBody>
                    <a:bodyPr/>
                    <a:lstStyle/>
                    <a:p>
                      <a:pPr algn="ctr" fontAlgn="b">
                        <a:buNone/>
                      </a:pPr>
                      <a:r>
                        <a:rPr lang="en-US" sz="700" b="0" i="0" u="none" strike="noStrike">
                          <a:effectLst/>
                          <a:latin typeface="Arial" panose="020B0604020202020204" pitchFamily="34" charset="0"/>
                        </a:rPr>
                        <a:t>-</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84.8</a:t>
                      </a:r>
                    </a:p>
                  </a:txBody>
                  <a:tcPr marL="4711" marR="4711" marT="4711" marB="0" anchor="b">
                    <a:lnL>
                      <a:noFill/>
                    </a:lnL>
                    <a:lnR>
                      <a:noFill/>
                    </a:lnR>
                    <a:lnT>
                      <a:noFill/>
                    </a:lnT>
                    <a:lnB>
                      <a:noFill/>
                    </a:lnB>
                    <a:noFill/>
                  </a:tcPr>
                </a:tc>
                <a:tc>
                  <a:txBody>
                    <a:bodyPr/>
                    <a:lstStyle/>
                    <a:p>
                      <a:pPr algn="ctr" fontAlgn="b">
                        <a:buNone/>
                      </a:pPr>
                      <a:r>
                        <a:rPr lang="en-US" sz="700" b="0" i="0" u="none" strike="noStrike">
                          <a:effectLst/>
                          <a:latin typeface="Arial" panose="020B0604020202020204" pitchFamily="34" charset="0"/>
                        </a:rPr>
                        <a:t>H</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a:t>
                      </a:r>
                    </a:p>
                  </a:txBody>
                  <a:tcPr marL="4711" marR="4711" marT="4711" marB="0" anchor="b">
                    <a:lnL>
                      <a:noFill/>
                    </a:lnL>
                    <a:lnR>
                      <a:noFill/>
                    </a:lnR>
                    <a:lnT>
                      <a:noFill/>
                    </a:lnT>
                    <a:lnB>
                      <a:noFill/>
                    </a:lnB>
                    <a:noFill/>
                  </a:tcPr>
                </a:tc>
                <a:tc>
                  <a:txBody>
                    <a:bodyPr/>
                    <a:lstStyle/>
                    <a:p>
                      <a:pPr algn="ctr" fontAlgn="b">
                        <a:buNone/>
                      </a:pPr>
                      <a:r>
                        <a:rPr lang="en-US" sz="700" b="0" i="0" u="none" strike="noStrike">
                          <a:solidFill>
                            <a:srgbClr val="9C0006"/>
                          </a:solidFill>
                          <a:effectLst/>
                          <a:latin typeface="Arial" panose="020B0604020202020204" pitchFamily="34" charset="0"/>
                        </a:rPr>
                        <a:t>D</a:t>
                      </a:r>
                    </a:p>
                  </a:txBody>
                  <a:tcPr marL="4711" marR="4711" marT="4711" marB="0" anchor="b">
                    <a:lnL>
                      <a:noFill/>
                    </a:lnL>
                    <a:lnR>
                      <a:noFill/>
                    </a:lnR>
                    <a:lnT>
                      <a:noFill/>
                    </a:lnT>
                    <a:lnB>
                      <a:noFill/>
                    </a:lnB>
                    <a:solidFill>
                      <a:srgbClr val="FFC7CE"/>
                    </a:solidFill>
                  </a:tcPr>
                </a:tc>
                <a:tc>
                  <a:txBody>
                    <a:bodyPr/>
                    <a:lstStyle/>
                    <a:p>
                      <a:pPr algn="r" fontAlgn="b">
                        <a:buNone/>
                      </a:pPr>
                      <a:r>
                        <a:rPr lang="en-US" sz="700" b="0" i="0" u="none" strike="noStrike">
                          <a:effectLst/>
                          <a:latin typeface="Arial" panose="020B0604020202020204" pitchFamily="34" charset="0"/>
                        </a:rPr>
                        <a:t>319</a:t>
                      </a:r>
                    </a:p>
                  </a:txBody>
                  <a:tcPr marL="4711" marR="4711" marT="4711" marB="0" anchor="b">
                    <a:lnL>
                      <a:noFill/>
                    </a:lnL>
                    <a:lnR>
                      <a:noFill/>
                    </a:lnR>
                    <a:lnT>
                      <a:noFill/>
                    </a:lnT>
                    <a:lnB>
                      <a:noFill/>
                    </a:lnB>
                    <a:noFill/>
                  </a:tcPr>
                </a:tc>
                <a:tc>
                  <a:txBody>
                    <a:bodyPr/>
                    <a:lstStyle/>
                    <a:p>
                      <a:pPr algn="l" fontAlgn="b">
                        <a:buNone/>
                      </a:pPr>
                      <a:endParaRPr lang="en-US" sz="700" b="0" i="0" u="none" strike="noStrike">
                        <a:effectLst/>
                        <a:latin typeface="Arial" panose="020B0604020202020204" pitchFamily="34" charset="0"/>
                      </a:endParaRP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316</a:t>
                      </a:r>
                    </a:p>
                  </a:txBody>
                  <a:tcPr marL="4711" marR="4711" marT="4711" marB="0" anchor="b">
                    <a:lnL>
                      <a:noFill/>
                    </a:lnL>
                    <a:lnR>
                      <a:noFill/>
                    </a:lnR>
                    <a:lnT>
                      <a:noFill/>
                    </a:lnT>
                    <a:lnB>
                      <a:noFill/>
                    </a:lnB>
                    <a:noFill/>
                  </a:tcPr>
                </a:tc>
                <a:tc>
                  <a:txBody>
                    <a:bodyPr/>
                    <a:lstStyle/>
                    <a:p>
                      <a:pPr algn="r" fontAlgn="b">
                        <a:buNone/>
                      </a:pPr>
                      <a:r>
                        <a:rPr lang="en-US" sz="700" b="0" i="0" u="none" strike="noStrike">
                          <a:effectLst/>
                          <a:latin typeface="Arial" panose="020B0604020202020204" pitchFamily="34" charset="0"/>
                        </a:rPr>
                        <a:t>18783</a:t>
                      </a:r>
                    </a:p>
                  </a:txBody>
                  <a:tcPr marL="4711" marR="4711" marT="4711" marB="0" anchor="b">
                    <a:lnL>
                      <a:noFill/>
                    </a:lnL>
                    <a:lnR>
                      <a:noFill/>
                    </a:lnR>
                    <a:lnT>
                      <a:noFill/>
                    </a:lnT>
                    <a:lnB>
                      <a:noFill/>
                    </a:lnB>
                    <a:noFill/>
                  </a:tcPr>
                </a:tc>
                <a:tc>
                  <a:txBody>
                    <a:bodyPr/>
                    <a:lstStyle/>
                    <a:p>
                      <a:pPr algn="l" fontAlgn="b">
                        <a:buNone/>
                      </a:pPr>
                      <a:r>
                        <a:rPr lang="en-US" sz="700" b="0" i="0" u="none" strike="noStrike">
                          <a:effectLst/>
                          <a:latin typeface="Arial" panose="020B0604020202020204" pitchFamily="34" charset="0"/>
                        </a:rPr>
                        <a:t>CBS Tower, MA</a:t>
                      </a:r>
                    </a:p>
                  </a:txBody>
                  <a:tcPr marL="4711" marR="4711" marT="4711" marB="0" anchor="b">
                    <a:lnL>
                      <a:noFill/>
                    </a:lnL>
                    <a:lnR>
                      <a:noFill/>
                    </a:lnR>
                    <a:lnT>
                      <a:noFill/>
                    </a:lnT>
                    <a:lnB>
                      <a:noFill/>
                    </a:lnB>
                    <a:noFill/>
                  </a:tcPr>
                </a:tc>
                <a:extLst>
                  <a:ext uri="{0D108BD9-81ED-4DB2-BD59-A6C34878D82A}">
                    <a16:rowId xmlns:a16="http://schemas.microsoft.com/office/drawing/2014/main" val="3844350577"/>
                  </a:ext>
                </a:extLst>
              </a:tr>
            </a:tbl>
          </a:graphicData>
        </a:graphic>
      </p:graphicFrame>
      <p:sp>
        <p:nvSpPr>
          <p:cNvPr id="9" name="Rectangle: Rounded Corners 8">
            <a:extLst>
              <a:ext uri="{FF2B5EF4-FFF2-40B4-BE49-F238E27FC236}">
                <a16:creationId xmlns:a16="http://schemas.microsoft.com/office/drawing/2014/main" id="{D8CD2D2E-7BF7-D722-EEC9-A4D56F19EEEF}"/>
              </a:ext>
            </a:extLst>
          </p:cNvPr>
          <p:cNvSpPr/>
          <p:nvPr/>
        </p:nvSpPr>
        <p:spPr>
          <a:xfrm>
            <a:off x="208599" y="1980661"/>
            <a:ext cx="10581321" cy="257175"/>
          </a:xfrm>
          <a:custGeom>
            <a:avLst/>
            <a:gdLst>
              <a:gd name="csX0" fmla="*/ 0 w 10581321"/>
              <a:gd name="csY0" fmla="*/ 123470 h 257175"/>
              <a:gd name="csX1" fmla="*/ 123470 w 10581321"/>
              <a:gd name="csY1" fmla="*/ 0 h 257175"/>
              <a:gd name="csX2" fmla="*/ 904290 w 10581321"/>
              <a:gd name="csY2" fmla="*/ 0 h 257175"/>
              <a:gd name="csX3" fmla="*/ 1375078 w 10581321"/>
              <a:gd name="csY3" fmla="*/ 0 h 257175"/>
              <a:gd name="csX4" fmla="*/ 1742523 w 10581321"/>
              <a:gd name="csY4" fmla="*/ 0 h 257175"/>
              <a:gd name="csX5" fmla="*/ 2419999 w 10581321"/>
              <a:gd name="csY5" fmla="*/ 0 h 257175"/>
              <a:gd name="csX6" fmla="*/ 2890788 w 10581321"/>
              <a:gd name="csY6" fmla="*/ 0 h 257175"/>
              <a:gd name="csX7" fmla="*/ 3671607 w 10581321"/>
              <a:gd name="csY7" fmla="*/ 0 h 257175"/>
              <a:gd name="csX8" fmla="*/ 4039052 w 10581321"/>
              <a:gd name="csY8" fmla="*/ 0 h 257175"/>
              <a:gd name="csX9" fmla="*/ 4819872 w 10581321"/>
              <a:gd name="csY9" fmla="*/ 0 h 257175"/>
              <a:gd name="csX10" fmla="*/ 5083973 w 10581321"/>
              <a:gd name="csY10" fmla="*/ 0 h 257175"/>
              <a:gd name="csX11" fmla="*/ 5658105 w 10581321"/>
              <a:gd name="csY11" fmla="*/ 0 h 257175"/>
              <a:gd name="csX12" fmla="*/ 6232237 w 10581321"/>
              <a:gd name="csY12" fmla="*/ 0 h 257175"/>
              <a:gd name="csX13" fmla="*/ 6703026 w 10581321"/>
              <a:gd name="csY13" fmla="*/ 0 h 257175"/>
              <a:gd name="csX14" fmla="*/ 7483846 w 10581321"/>
              <a:gd name="csY14" fmla="*/ 0 h 257175"/>
              <a:gd name="csX15" fmla="*/ 8264666 w 10581321"/>
              <a:gd name="csY15" fmla="*/ 0 h 257175"/>
              <a:gd name="csX16" fmla="*/ 8632110 w 10581321"/>
              <a:gd name="csY16" fmla="*/ 0 h 257175"/>
              <a:gd name="csX17" fmla="*/ 9206243 w 10581321"/>
              <a:gd name="csY17" fmla="*/ 0 h 257175"/>
              <a:gd name="csX18" fmla="*/ 10457851 w 10581321"/>
              <a:gd name="csY18" fmla="*/ 0 h 257175"/>
              <a:gd name="csX19" fmla="*/ 10581321 w 10581321"/>
              <a:gd name="csY19" fmla="*/ 123470 h 257175"/>
              <a:gd name="csX20" fmla="*/ 10581321 w 10581321"/>
              <a:gd name="csY20" fmla="*/ 133705 h 257175"/>
              <a:gd name="csX21" fmla="*/ 10457851 w 10581321"/>
              <a:gd name="csY21" fmla="*/ 257175 h 257175"/>
              <a:gd name="csX22" fmla="*/ 9987063 w 10581321"/>
              <a:gd name="csY22" fmla="*/ 257175 h 257175"/>
              <a:gd name="csX23" fmla="*/ 9412930 w 10581321"/>
              <a:gd name="csY23" fmla="*/ 257175 h 257175"/>
              <a:gd name="csX24" fmla="*/ 9148829 w 10581321"/>
              <a:gd name="csY24" fmla="*/ 257175 h 257175"/>
              <a:gd name="csX25" fmla="*/ 8884729 w 10581321"/>
              <a:gd name="csY25" fmla="*/ 257175 h 257175"/>
              <a:gd name="csX26" fmla="*/ 8310596 w 10581321"/>
              <a:gd name="csY26" fmla="*/ 257175 h 257175"/>
              <a:gd name="csX27" fmla="*/ 7943152 w 10581321"/>
              <a:gd name="csY27" fmla="*/ 257175 h 257175"/>
              <a:gd name="csX28" fmla="*/ 7265676 w 10581321"/>
              <a:gd name="csY28" fmla="*/ 257175 h 257175"/>
              <a:gd name="csX29" fmla="*/ 6898231 w 10581321"/>
              <a:gd name="csY29" fmla="*/ 257175 h 257175"/>
              <a:gd name="csX30" fmla="*/ 6220755 w 10581321"/>
              <a:gd name="csY30" fmla="*/ 257175 h 257175"/>
              <a:gd name="csX31" fmla="*/ 5956654 w 10581321"/>
              <a:gd name="csY31" fmla="*/ 257175 h 257175"/>
              <a:gd name="csX32" fmla="*/ 5279178 w 10581321"/>
              <a:gd name="csY32" fmla="*/ 257175 h 257175"/>
              <a:gd name="csX33" fmla="*/ 4911733 w 10581321"/>
              <a:gd name="csY33" fmla="*/ 257175 h 257175"/>
              <a:gd name="csX34" fmla="*/ 4647632 w 10581321"/>
              <a:gd name="csY34" fmla="*/ 257175 h 257175"/>
              <a:gd name="csX35" fmla="*/ 4280188 w 10581321"/>
              <a:gd name="csY35" fmla="*/ 257175 h 257175"/>
              <a:gd name="csX36" fmla="*/ 3602712 w 10581321"/>
              <a:gd name="csY36" fmla="*/ 257175 h 257175"/>
              <a:gd name="csX37" fmla="*/ 3235267 w 10581321"/>
              <a:gd name="csY37" fmla="*/ 257175 h 257175"/>
              <a:gd name="csX38" fmla="*/ 2971166 w 10581321"/>
              <a:gd name="csY38" fmla="*/ 257175 h 257175"/>
              <a:gd name="csX39" fmla="*/ 2603721 w 10581321"/>
              <a:gd name="csY39" fmla="*/ 257175 h 257175"/>
              <a:gd name="csX40" fmla="*/ 2132933 w 10581321"/>
              <a:gd name="csY40" fmla="*/ 257175 h 257175"/>
              <a:gd name="csX41" fmla="*/ 1558801 w 10581321"/>
              <a:gd name="csY41" fmla="*/ 257175 h 257175"/>
              <a:gd name="csX42" fmla="*/ 1191356 w 10581321"/>
              <a:gd name="csY42" fmla="*/ 257175 h 257175"/>
              <a:gd name="csX43" fmla="*/ 123470 w 10581321"/>
              <a:gd name="csY43" fmla="*/ 257175 h 257175"/>
              <a:gd name="csX44" fmla="*/ 0 w 10581321"/>
              <a:gd name="csY44" fmla="*/ 133705 h 257175"/>
              <a:gd name="csX45" fmla="*/ 0 w 10581321"/>
              <a:gd name="csY45" fmla="*/ 123470 h 2571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10581321" h="257175" extrusionOk="0">
                <a:moveTo>
                  <a:pt x="0" y="123470"/>
                </a:moveTo>
                <a:cubicBezTo>
                  <a:pt x="-13459" y="46977"/>
                  <a:pt x="36840" y="6920"/>
                  <a:pt x="123470" y="0"/>
                </a:cubicBezTo>
                <a:cubicBezTo>
                  <a:pt x="437835" y="-61198"/>
                  <a:pt x="744894" y="79591"/>
                  <a:pt x="904290" y="0"/>
                </a:cubicBezTo>
                <a:cubicBezTo>
                  <a:pt x="1063686" y="-79591"/>
                  <a:pt x="1176721" y="3130"/>
                  <a:pt x="1375078" y="0"/>
                </a:cubicBezTo>
                <a:cubicBezTo>
                  <a:pt x="1573435" y="-3130"/>
                  <a:pt x="1666102" y="19580"/>
                  <a:pt x="1742523" y="0"/>
                </a:cubicBezTo>
                <a:cubicBezTo>
                  <a:pt x="1818945" y="-19580"/>
                  <a:pt x="2202346" y="3615"/>
                  <a:pt x="2419999" y="0"/>
                </a:cubicBezTo>
                <a:cubicBezTo>
                  <a:pt x="2637652" y="-3615"/>
                  <a:pt x="2776777" y="34987"/>
                  <a:pt x="2890788" y="0"/>
                </a:cubicBezTo>
                <a:cubicBezTo>
                  <a:pt x="3004799" y="-34987"/>
                  <a:pt x="3299282" y="78100"/>
                  <a:pt x="3671607" y="0"/>
                </a:cubicBezTo>
                <a:cubicBezTo>
                  <a:pt x="4043932" y="-78100"/>
                  <a:pt x="3874300" y="17086"/>
                  <a:pt x="4039052" y="0"/>
                </a:cubicBezTo>
                <a:cubicBezTo>
                  <a:pt x="4203805" y="-17086"/>
                  <a:pt x="4603717" y="61335"/>
                  <a:pt x="4819872" y="0"/>
                </a:cubicBezTo>
                <a:cubicBezTo>
                  <a:pt x="5036027" y="-61335"/>
                  <a:pt x="4990977" y="7214"/>
                  <a:pt x="5083973" y="0"/>
                </a:cubicBezTo>
                <a:cubicBezTo>
                  <a:pt x="5176969" y="-7214"/>
                  <a:pt x="5434293" y="41510"/>
                  <a:pt x="5658105" y="0"/>
                </a:cubicBezTo>
                <a:cubicBezTo>
                  <a:pt x="5881917" y="-41510"/>
                  <a:pt x="6054882" y="31998"/>
                  <a:pt x="6232237" y="0"/>
                </a:cubicBezTo>
                <a:cubicBezTo>
                  <a:pt x="6409592" y="-31998"/>
                  <a:pt x="6593129" y="4836"/>
                  <a:pt x="6703026" y="0"/>
                </a:cubicBezTo>
                <a:cubicBezTo>
                  <a:pt x="6812923" y="-4836"/>
                  <a:pt x="7266130" y="87469"/>
                  <a:pt x="7483846" y="0"/>
                </a:cubicBezTo>
                <a:cubicBezTo>
                  <a:pt x="7701562" y="-87469"/>
                  <a:pt x="8069743" y="72120"/>
                  <a:pt x="8264666" y="0"/>
                </a:cubicBezTo>
                <a:cubicBezTo>
                  <a:pt x="8459589" y="-72120"/>
                  <a:pt x="8490036" y="29801"/>
                  <a:pt x="8632110" y="0"/>
                </a:cubicBezTo>
                <a:cubicBezTo>
                  <a:pt x="8774184" y="-29801"/>
                  <a:pt x="9017578" y="21704"/>
                  <a:pt x="9206243" y="0"/>
                </a:cubicBezTo>
                <a:cubicBezTo>
                  <a:pt x="9394908" y="-21704"/>
                  <a:pt x="10083085" y="135843"/>
                  <a:pt x="10457851" y="0"/>
                </a:cubicBezTo>
                <a:cubicBezTo>
                  <a:pt x="10525080" y="-2893"/>
                  <a:pt x="10592671" y="52973"/>
                  <a:pt x="10581321" y="123470"/>
                </a:cubicBezTo>
                <a:cubicBezTo>
                  <a:pt x="10581588" y="126830"/>
                  <a:pt x="10580881" y="129086"/>
                  <a:pt x="10581321" y="133705"/>
                </a:cubicBezTo>
                <a:cubicBezTo>
                  <a:pt x="10593730" y="194535"/>
                  <a:pt x="10515238" y="274328"/>
                  <a:pt x="10457851" y="257175"/>
                </a:cubicBezTo>
                <a:cubicBezTo>
                  <a:pt x="10317195" y="265145"/>
                  <a:pt x="10181570" y="235027"/>
                  <a:pt x="9987063" y="257175"/>
                </a:cubicBezTo>
                <a:cubicBezTo>
                  <a:pt x="9792556" y="279323"/>
                  <a:pt x="9551039" y="193746"/>
                  <a:pt x="9412930" y="257175"/>
                </a:cubicBezTo>
                <a:cubicBezTo>
                  <a:pt x="9274821" y="320604"/>
                  <a:pt x="9231827" y="226774"/>
                  <a:pt x="9148829" y="257175"/>
                </a:cubicBezTo>
                <a:cubicBezTo>
                  <a:pt x="9065831" y="287576"/>
                  <a:pt x="8963112" y="235881"/>
                  <a:pt x="8884729" y="257175"/>
                </a:cubicBezTo>
                <a:cubicBezTo>
                  <a:pt x="8806346" y="278469"/>
                  <a:pt x="8552893" y="222483"/>
                  <a:pt x="8310596" y="257175"/>
                </a:cubicBezTo>
                <a:cubicBezTo>
                  <a:pt x="8068299" y="291867"/>
                  <a:pt x="8074031" y="254098"/>
                  <a:pt x="7943152" y="257175"/>
                </a:cubicBezTo>
                <a:cubicBezTo>
                  <a:pt x="7812273" y="260252"/>
                  <a:pt x="7423414" y="217745"/>
                  <a:pt x="7265676" y="257175"/>
                </a:cubicBezTo>
                <a:cubicBezTo>
                  <a:pt x="7107938" y="296605"/>
                  <a:pt x="6992708" y="236352"/>
                  <a:pt x="6898231" y="257175"/>
                </a:cubicBezTo>
                <a:cubicBezTo>
                  <a:pt x="6803754" y="277998"/>
                  <a:pt x="6414830" y="252116"/>
                  <a:pt x="6220755" y="257175"/>
                </a:cubicBezTo>
                <a:cubicBezTo>
                  <a:pt x="6026680" y="262234"/>
                  <a:pt x="6075173" y="241606"/>
                  <a:pt x="5956654" y="257175"/>
                </a:cubicBezTo>
                <a:cubicBezTo>
                  <a:pt x="5838135" y="272744"/>
                  <a:pt x="5568426" y="249392"/>
                  <a:pt x="5279178" y="257175"/>
                </a:cubicBezTo>
                <a:cubicBezTo>
                  <a:pt x="4989930" y="264958"/>
                  <a:pt x="5069174" y="213246"/>
                  <a:pt x="4911733" y="257175"/>
                </a:cubicBezTo>
                <a:cubicBezTo>
                  <a:pt x="4754293" y="301104"/>
                  <a:pt x="4767711" y="235828"/>
                  <a:pt x="4647632" y="257175"/>
                </a:cubicBezTo>
                <a:cubicBezTo>
                  <a:pt x="4527553" y="278522"/>
                  <a:pt x="4374913" y="239382"/>
                  <a:pt x="4280188" y="257175"/>
                </a:cubicBezTo>
                <a:cubicBezTo>
                  <a:pt x="4185463" y="274968"/>
                  <a:pt x="3796261" y="215055"/>
                  <a:pt x="3602712" y="257175"/>
                </a:cubicBezTo>
                <a:cubicBezTo>
                  <a:pt x="3409163" y="299295"/>
                  <a:pt x="3411327" y="215664"/>
                  <a:pt x="3235267" y="257175"/>
                </a:cubicBezTo>
                <a:cubicBezTo>
                  <a:pt x="3059207" y="298686"/>
                  <a:pt x="3026544" y="256922"/>
                  <a:pt x="2971166" y="257175"/>
                </a:cubicBezTo>
                <a:cubicBezTo>
                  <a:pt x="2915788" y="257428"/>
                  <a:pt x="2682977" y="239593"/>
                  <a:pt x="2603721" y="257175"/>
                </a:cubicBezTo>
                <a:cubicBezTo>
                  <a:pt x="2524465" y="274757"/>
                  <a:pt x="2355078" y="226791"/>
                  <a:pt x="2132933" y="257175"/>
                </a:cubicBezTo>
                <a:cubicBezTo>
                  <a:pt x="1910788" y="287559"/>
                  <a:pt x="1754872" y="201710"/>
                  <a:pt x="1558801" y="257175"/>
                </a:cubicBezTo>
                <a:cubicBezTo>
                  <a:pt x="1362730" y="312640"/>
                  <a:pt x="1300273" y="241120"/>
                  <a:pt x="1191356" y="257175"/>
                </a:cubicBezTo>
                <a:cubicBezTo>
                  <a:pt x="1082440" y="273230"/>
                  <a:pt x="485860" y="220753"/>
                  <a:pt x="123470" y="257175"/>
                </a:cubicBezTo>
                <a:cubicBezTo>
                  <a:pt x="49400" y="246674"/>
                  <a:pt x="-5790" y="204587"/>
                  <a:pt x="0" y="133705"/>
                </a:cubicBezTo>
                <a:cubicBezTo>
                  <a:pt x="-656" y="130649"/>
                  <a:pt x="42" y="127035"/>
                  <a:pt x="0" y="123470"/>
                </a:cubicBezTo>
                <a:close/>
              </a:path>
            </a:pathLst>
          </a:custGeom>
          <a:noFill/>
          <a:ln>
            <a:solidFill>
              <a:srgbClr val="FF0000"/>
            </a:solidFill>
            <a:prstDash val="sysDash"/>
            <a:extLst>
              <a:ext uri="{C807C97D-BFC1-408E-A445-0C87EB9F89A2}">
                <ask:lineSketchStyleProps xmlns:ask="http://schemas.microsoft.com/office/drawing/2018/sketchyshapes" sd="1219033472">
                  <a:prstGeom prst="roundRect">
                    <a:avLst>
                      <a:gd name="adj" fmla="val 48010"/>
                    </a:avLst>
                  </a:prstGeom>
                  <ask:type>
                    <ask:lineSketchScribbl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b="1">
              <a:latin typeface="Arial" pitchFamily="34" charset="0"/>
              <a:cs typeface="Arial" pitchFamily="34" charset="0"/>
            </a:endParaRPr>
          </a:p>
        </p:txBody>
      </p:sp>
      <p:sp>
        <p:nvSpPr>
          <p:cNvPr id="14" name="Heptagon 13">
            <a:extLst>
              <a:ext uri="{FF2B5EF4-FFF2-40B4-BE49-F238E27FC236}">
                <a16:creationId xmlns:a16="http://schemas.microsoft.com/office/drawing/2014/main" id="{B793E281-95EA-D3E0-1ADD-BD84922D3D96}"/>
              </a:ext>
            </a:extLst>
          </p:cNvPr>
          <p:cNvSpPr/>
          <p:nvPr/>
        </p:nvSpPr>
        <p:spPr>
          <a:xfrm>
            <a:off x="32358" y="1893354"/>
            <a:ext cx="352482" cy="352482"/>
          </a:xfrm>
          <a:prstGeom prst="heptagon">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latin typeface="Arial" pitchFamily="34" charset="0"/>
                <a:cs typeface="Arial" pitchFamily="34" charset="0"/>
              </a:rPr>
              <a:t>1</a:t>
            </a:r>
          </a:p>
        </p:txBody>
      </p:sp>
    </p:spTree>
    <p:extLst>
      <p:ext uri="{BB962C8B-B14F-4D97-AF65-F5344CB8AC3E}">
        <p14:creationId xmlns:p14="http://schemas.microsoft.com/office/powerpoint/2010/main" val="36623293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492B3-FC45-0DC0-3215-4EE5EC0CADA2}"/>
              </a:ext>
            </a:extLst>
          </p:cNvPr>
          <p:cNvSpPr>
            <a:spLocks noGrp="1"/>
          </p:cNvSpPr>
          <p:nvPr>
            <p:ph type="title"/>
          </p:nvPr>
        </p:nvSpPr>
        <p:spPr>
          <a:xfrm>
            <a:off x="609602" y="457200"/>
            <a:ext cx="10769600" cy="990600"/>
          </a:xfrm>
        </p:spPr>
        <p:txBody>
          <a:bodyPr anchor="t">
            <a:normAutofit/>
          </a:bodyPr>
          <a:lstStyle/>
          <a:p>
            <a:r>
              <a:rPr lang="en-US"/>
              <a:t>Sample of two DTV Signals (ATSC Modulation)</a:t>
            </a:r>
          </a:p>
        </p:txBody>
      </p:sp>
      <p:sp>
        <p:nvSpPr>
          <p:cNvPr id="12" name="Content Placeholder 2">
            <a:extLst>
              <a:ext uri="{FF2B5EF4-FFF2-40B4-BE49-F238E27FC236}">
                <a16:creationId xmlns:a16="http://schemas.microsoft.com/office/drawing/2014/main" id="{CE77BAD2-F367-A4C4-11FA-6D60BAA2A333}"/>
              </a:ext>
            </a:extLst>
          </p:cNvPr>
          <p:cNvSpPr>
            <a:spLocks noGrp="1"/>
          </p:cNvSpPr>
          <p:nvPr>
            <p:ph sz="half" idx="1"/>
          </p:nvPr>
        </p:nvSpPr>
        <p:spPr>
          <a:xfrm>
            <a:off x="609602" y="1600200"/>
            <a:ext cx="5364478" cy="4648199"/>
          </a:xfrm>
        </p:spPr>
        <p:txBody>
          <a:bodyPr>
            <a:normAutofit lnSpcReduction="10000"/>
          </a:bodyPr>
          <a:lstStyle/>
          <a:p>
            <a:r>
              <a:rPr lang="en-US"/>
              <a:t>Location: CBS Tower (Newton)</a:t>
            </a:r>
          </a:p>
          <a:p>
            <a:r>
              <a:rPr lang="en-US"/>
              <a:t>ATSC Channel: 35 </a:t>
            </a:r>
          </a:p>
          <a:p>
            <a:r>
              <a:rPr lang="en-US" err="1"/>
              <a:t>Freqs</a:t>
            </a:r>
            <a:r>
              <a:rPr lang="en-US"/>
              <a:t>: 596 </a:t>
            </a:r>
            <a:r>
              <a:rPr lang="en-US">
                <a:sym typeface="Wingdings" panose="05000000000000000000" pitchFamily="2" charset="2"/>
              </a:rPr>
              <a:t> 602 MHz</a:t>
            </a:r>
          </a:p>
          <a:p>
            <a:r>
              <a:rPr lang="en-US"/>
              <a:t>Modulation Scheme: ATSC 1.0</a:t>
            </a:r>
          </a:p>
          <a:p>
            <a:pPr lvl="1"/>
            <a:r>
              <a:rPr lang="en-US">
                <a:sym typeface="Wingdings" panose="05000000000000000000" pitchFamily="2" charset="2"/>
              </a:rPr>
              <a:t>Pilot Tone: 596.3 MHz</a:t>
            </a:r>
          </a:p>
          <a:p>
            <a:endParaRPr lang="en-US">
              <a:sym typeface="Wingdings" panose="05000000000000000000" pitchFamily="2" charset="2"/>
            </a:endParaRPr>
          </a:p>
          <a:p>
            <a:r>
              <a:rPr lang="en-US">
                <a:sym typeface="Wingdings" panose="05000000000000000000" pitchFamily="2" charset="2"/>
              </a:rPr>
              <a:t>Location: Univision Tower (Hudson)</a:t>
            </a:r>
          </a:p>
          <a:p>
            <a:r>
              <a:rPr lang="en-US">
                <a:sym typeface="Wingdings" panose="05000000000000000000" pitchFamily="2" charset="2"/>
              </a:rPr>
              <a:t>ATSC Channel: 27</a:t>
            </a:r>
          </a:p>
          <a:p>
            <a:r>
              <a:rPr lang="en-US" err="1"/>
              <a:t>Freqs</a:t>
            </a:r>
            <a:r>
              <a:rPr lang="en-US"/>
              <a:t>: 548 </a:t>
            </a:r>
            <a:r>
              <a:rPr lang="en-US">
                <a:sym typeface="Wingdings" panose="05000000000000000000" pitchFamily="2" charset="2"/>
              </a:rPr>
              <a:t> 554 MHz</a:t>
            </a:r>
          </a:p>
          <a:p>
            <a:r>
              <a:rPr lang="en-US"/>
              <a:t>Modulation Scheme: ATSC 3.0</a:t>
            </a:r>
          </a:p>
          <a:p>
            <a:pPr lvl="1"/>
            <a:r>
              <a:rPr lang="en-US">
                <a:sym typeface="Wingdings" panose="05000000000000000000" pitchFamily="2" charset="2"/>
              </a:rPr>
              <a:t>Pilot Tone: None in this scheme</a:t>
            </a:r>
          </a:p>
          <a:p>
            <a:endParaRPr lang="en-US"/>
          </a:p>
        </p:txBody>
      </p:sp>
      <p:pic>
        <p:nvPicPr>
          <p:cNvPr id="7" name="Content Placeholder 6" descr="A screenshot of a computer&#10;&#10;AI-generated content may be incorrect.">
            <a:extLst>
              <a:ext uri="{FF2B5EF4-FFF2-40B4-BE49-F238E27FC236}">
                <a16:creationId xmlns:a16="http://schemas.microsoft.com/office/drawing/2014/main" id="{2321F787-DB85-34A3-E35E-FD0E76868420}"/>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872389" y="1293875"/>
            <a:ext cx="6400798" cy="4992622"/>
          </a:xfrm>
          <a:noFill/>
        </p:spPr>
      </p:pic>
    </p:spTree>
    <p:extLst>
      <p:ext uri="{BB962C8B-B14F-4D97-AF65-F5344CB8AC3E}">
        <p14:creationId xmlns:p14="http://schemas.microsoft.com/office/powerpoint/2010/main" val="27529011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ABA18-FF89-4924-5564-BF97E2023E76}"/>
              </a:ext>
            </a:extLst>
          </p:cNvPr>
          <p:cNvSpPr>
            <a:spLocks noGrp="1"/>
          </p:cNvSpPr>
          <p:nvPr>
            <p:ph type="title"/>
          </p:nvPr>
        </p:nvSpPr>
        <p:spPr/>
        <p:txBody>
          <a:bodyPr/>
          <a:lstStyle/>
          <a:p>
            <a:r>
              <a:rPr lang="en-US"/>
              <a:t>CBS Tower Info</a:t>
            </a:r>
          </a:p>
        </p:txBody>
      </p:sp>
      <p:sp>
        <p:nvSpPr>
          <p:cNvPr id="3" name="Content Placeholder 2">
            <a:extLst>
              <a:ext uri="{FF2B5EF4-FFF2-40B4-BE49-F238E27FC236}">
                <a16:creationId xmlns:a16="http://schemas.microsoft.com/office/drawing/2014/main" id="{E5AD3BA5-F841-F401-6C5D-54E0260CF48B}"/>
              </a:ext>
            </a:extLst>
          </p:cNvPr>
          <p:cNvSpPr>
            <a:spLocks noGrp="1"/>
          </p:cNvSpPr>
          <p:nvPr>
            <p:ph sz="half" idx="1"/>
          </p:nvPr>
        </p:nvSpPr>
        <p:spPr>
          <a:xfrm>
            <a:off x="609602" y="1600200"/>
            <a:ext cx="10896598" cy="4648199"/>
          </a:xfrm>
        </p:spPr>
        <p:txBody>
          <a:bodyPr/>
          <a:lstStyle/>
          <a:p>
            <a:r>
              <a:rPr lang="en-US"/>
              <a:t>******************************************</a:t>
            </a:r>
          </a:p>
          <a:p>
            <a:r>
              <a:rPr lang="en-US"/>
              <a:t>****   Processing station: station_8_65684</a:t>
            </a:r>
          </a:p>
          <a:p>
            <a:r>
              <a:rPr lang="en-US"/>
              <a:t>******************************************</a:t>
            </a:r>
          </a:p>
          <a:p>
            <a:r>
              <a:rPr lang="en-US"/>
              <a:t>Station Details: 1274' 922 kW Non-Directional (E) | (Vertical ERP: 184 kW)</a:t>
            </a:r>
          </a:p>
          <a:p>
            <a:r>
              <a:rPr lang="en-US"/>
              <a:t>ERP Calc: (55.3 kW + 12.22 dB gain = 922 kW ERP)</a:t>
            </a:r>
          </a:p>
          <a:p>
            <a:r>
              <a:rPr lang="en-US"/>
              <a:t>Coverage: 64.9 mile contour / | 13232.5 sq. mi. area | / Est. Pop. 7,707,431</a:t>
            </a:r>
          </a:p>
          <a:p>
            <a:r>
              <a:rPr lang="en-US"/>
              <a:t>ALT: 1264' AGL; 1417' AMSL; (1003433)</a:t>
            </a:r>
          </a:p>
          <a:p>
            <a:r>
              <a:rPr lang="en-US"/>
              <a:t>Pointing: 0.75° Elec Beam Tilt; | Full Service Filter | Antenna: RF Systems PEP70E-O5-2-T</a:t>
            </a:r>
          </a:p>
          <a:p>
            <a:r>
              <a:rPr lang="en-US"/>
              <a:t>Location: (NAD83)  N 42° 18' 37", W 71° 14' 12" | </a:t>
            </a:r>
            <a:r>
              <a:rPr lang="en-US" err="1"/>
              <a:t>LatLon</a:t>
            </a:r>
            <a:r>
              <a:rPr lang="en-US"/>
              <a:t>: 42.310278,  -71.236667  | Location Name: CBS Tower (MA)</a:t>
            </a:r>
          </a:p>
          <a:p>
            <a:endParaRPr lang="en-US"/>
          </a:p>
        </p:txBody>
      </p:sp>
    </p:spTree>
    <p:extLst>
      <p:ext uri="{BB962C8B-B14F-4D97-AF65-F5344CB8AC3E}">
        <p14:creationId xmlns:p14="http://schemas.microsoft.com/office/powerpoint/2010/main" val="24394544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04A33-F33D-534B-3280-048D12B79AFB}"/>
              </a:ext>
            </a:extLst>
          </p:cNvPr>
          <p:cNvSpPr>
            <a:spLocks noGrp="1"/>
          </p:cNvSpPr>
          <p:nvPr>
            <p:ph type="title"/>
          </p:nvPr>
        </p:nvSpPr>
        <p:spPr/>
        <p:txBody>
          <a:bodyPr/>
          <a:lstStyle/>
          <a:p>
            <a:r>
              <a:rPr lang="en-US"/>
              <a:t>Files used for Analysis</a:t>
            </a:r>
          </a:p>
        </p:txBody>
      </p:sp>
      <p:sp>
        <p:nvSpPr>
          <p:cNvPr id="3" name="Content Placeholder 2">
            <a:extLst>
              <a:ext uri="{FF2B5EF4-FFF2-40B4-BE49-F238E27FC236}">
                <a16:creationId xmlns:a16="http://schemas.microsoft.com/office/drawing/2014/main" id="{8FEA5123-655A-8924-27BF-1F8CF971C9CD}"/>
              </a:ext>
            </a:extLst>
          </p:cNvPr>
          <p:cNvSpPr>
            <a:spLocks noGrp="1"/>
          </p:cNvSpPr>
          <p:nvPr>
            <p:ph sz="half" idx="1"/>
          </p:nvPr>
        </p:nvSpPr>
        <p:spPr>
          <a:xfrm>
            <a:off x="609602" y="1600200"/>
            <a:ext cx="9753598" cy="4648199"/>
          </a:xfrm>
        </p:spPr>
        <p:txBody>
          <a:bodyPr/>
          <a:lstStyle/>
          <a:p>
            <a:r>
              <a:rPr lang="en-US">
                <a:hlinkClick r:id="rId2"/>
              </a:rPr>
              <a:t>RF Budget for Newton</a:t>
            </a:r>
            <a:endParaRPr lang="en-US"/>
          </a:p>
          <a:p>
            <a:r>
              <a:rPr lang="en-US">
                <a:hlinkClick r:id="rId3"/>
              </a:rPr>
              <a:t>RF Budget for Hudson</a:t>
            </a:r>
            <a:endParaRPr lang="en-US"/>
          </a:p>
          <a:p>
            <a:r>
              <a:rPr lang="en-US">
                <a:hlinkClick r:id="rId4"/>
              </a:rPr>
              <a:t>Comparative Analysis</a:t>
            </a:r>
            <a:endParaRPr lang="en-US"/>
          </a:p>
        </p:txBody>
      </p:sp>
    </p:spTree>
    <p:extLst>
      <p:ext uri="{BB962C8B-B14F-4D97-AF65-F5344CB8AC3E}">
        <p14:creationId xmlns:p14="http://schemas.microsoft.com/office/powerpoint/2010/main" val="26091608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6ACA6-2492-D3AF-09AC-94F65304F110}"/>
              </a:ext>
            </a:extLst>
          </p:cNvPr>
          <p:cNvSpPr>
            <a:spLocks noGrp="1"/>
          </p:cNvSpPr>
          <p:nvPr>
            <p:ph type="title"/>
          </p:nvPr>
        </p:nvSpPr>
        <p:spPr/>
        <p:txBody>
          <a:bodyPr/>
          <a:lstStyle/>
          <a:p>
            <a:r>
              <a:rPr lang="en-US"/>
              <a:t>RF Budget Analysis for Hudson Tower</a:t>
            </a:r>
          </a:p>
        </p:txBody>
      </p:sp>
      <p:pic>
        <p:nvPicPr>
          <p:cNvPr id="1026" name="Picture 2">
            <a:extLst>
              <a:ext uri="{FF2B5EF4-FFF2-40B4-BE49-F238E27FC236}">
                <a16:creationId xmlns:a16="http://schemas.microsoft.com/office/drawing/2014/main" id="{C6884427-502B-73E1-9C3D-D5017F5252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7875" y="1211835"/>
            <a:ext cx="8096250" cy="54175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48973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C4832-8980-0379-0ABC-1B16FF33286C}"/>
              </a:ext>
            </a:extLst>
          </p:cNvPr>
          <p:cNvSpPr>
            <a:spLocks noGrp="1"/>
          </p:cNvSpPr>
          <p:nvPr>
            <p:ph type="title"/>
          </p:nvPr>
        </p:nvSpPr>
        <p:spPr/>
        <p:txBody>
          <a:bodyPr/>
          <a:lstStyle/>
          <a:p>
            <a:r>
              <a:rPr lang="en-US"/>
              <a:t>RF Budget Analysis for Newton Tower</a:t>
            </a:r>
          </a:p>
        </p:txBody>
      </p:sp>
      <p:pic>
        <p:nvPicPr>
          <p:cNvPr id="5" name="Picture 4">
            <a:extLst>
              <a:ext uri="{FF2B5EF4-FFF2-40B4-BE49-F238E27FC236}">
                <a16:creationId xmlns:a16="http://schemas.microsoft.com/office/drawing/2014/main" id="{2CFF6FF5-DBEF-68EC-BD12-6D9C8185743D}"/>
              </a:ext>
            </a:extLst>
          </p:cNvPr>
          <p:cNvPicPr>
            <a:picLocks noChangeAspect="1"/>
          </p:cNvPicPr>
          <p:nvPr/>
        </p:nvPicPr>
        <p:blipFill>
          <a:blip r:embed="rId2"/>
          <a:stretch>
            <a:fillRect/>
          </a:stretch>
        </p:blipFill>
        <p:spPr>
          <a:xfrm>
            <a:off x="2176231" y="1355431"/>
            <a:ext cx="7839538" cy="5121569"/>
          </a:xfrm>
          <a:prstGeom prst="rect">
            <a:avLst/>
          </a:prstGeom>
        </p:spPr>
      </p:pic>
    </p:spTree>
    <p:extLst>
      <p:ext uri="{BB962C8B-B14F-4D97-AF65-F5344CB8AC3E}">
        <p14:creationId xmlns:p14="http://schemas.microsoft.com/office/powerpoint/2010/main" val="18028819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3D126-A680-1699-E0AE-3090B1A28B06}"/>
              </a:ext>
            </a:extLst>
          </p:cNvPr>
          <p:cNvSpPr>
            <a:spLocks noGrp="1"/>
          </p:cNvSpPr>
          <p:nvPr>
            <p:ph type="title"/>
          </p:nvPr>
        </p:nvSpPr>
        <p:spPr/>
        <p:txBody>
          <a:bodyPr/>
          <a:lstStyle/>
          <a:p>
            <a:r>
              <a:rPr lang="en-US"/>
              <a:t>Comparative Analysis</a:t>
            </a:r>
          </a:p>
        </p:txBody>
      </p:sp>
      <p:sp>
        <p:nvSpPr>
          <p:cNvPr id="3" name="Content Placeholder 2">
            <a:extLst>
              <a:ext uri="{FF2B5EF4-FFF2-40B4-BE49-F238E27FC236}">
                <a16:creationId xmlns:a16="http://schemas.microsoft.com/office/drawing/2014/main" id="{75E509E6-4DEA-6C5F-0B0E-7FB5E4DE2121}"/>
              </a:ext>
            </a:extLst>
          </p:cNvPr>
          <p:cNvSpPr>
            <a:spLocks noGrp="1"/>
          </p:cNvSpPr>
          <p:nvPr>
            <p:ph sz="half" idx="1"/>
          </p:nvPr>
        </p:nvSpPr>
        <p:spPr>
          <a:xfrm>
            <a:off x="609602" y="1600201"/>
            <a:ext cx="3581398" cy="1524000"/>
          </a:xfrm>
        </p:spPr>
        <p:txBody>
          <a:bodyPr/>
          <a:lstStyle/>
          <a:p>
            <a:pPr marL="0" indent="0">
              <a:buNone/>
            </a:pPr>
            <a:r>
              <a:rPr lang="en-US"/>
              <a:t>Can we detect bistatic targets?</a:t>
            </a:r>
          </a:p>
          <a:p>
            <a:pPr marL="0" indent="0">
              <a:buNone/>
            </a:pPr>
            <a:endParaRPr lang="en-US"/>
          </a:p>
          <a:p>
            <a:pPr marL="0" indent="0">
              <a:buNone/>
            </a:pPr>
            <a:r>
              <a:rPr lang="en-US"/>
              <a:t>Are we using the right hardware to do so?</a:t>
            </a:r>
          </a:p>
        </p:txBody>
      </p:sp>
      <p:pic>
        <p:nvPicPr>
          <p:cNvPr id="5" name="Picture 4">
            <a:extLst>
              <a:ext uri="{FF2B5EF4-FFF2-40B4-BE49-F238E27FC236}">
                <a16:creationId xmlns:a16="http://schemas.microsoft.com/office/drawing/2014/main" id="{A32843DF-3A62-35B9-1530-20C0EECF34AD}"/>
              </a:ext>
            </a:extLst>
          </p:cNvPr>
          <p:cNvPicPr>
            <a:picLocks noChangeAspect="1"/>
          </p:cNvPicPr>
          <p:nvPr/>
        </p:nvPicPr>
        <p:blipFill>
          <a:blip r:embed="rId2"/>
          <a:stretch>
            <a:fillRect/>
          </a:stretch>
        </p:blipFill>
        <p:spPr>
          <a:xfrm>
            <a:off x="3932697" y="1255014"/>
            <a:ext cx="8136610" cy="5145786"/>
          </a:xfrm>
          <a:prstGeom prst="rect">
            <a:avLst/>
          </a:prstGeom>
        </p:spPr>
      </p:pic>
    </p:spTree>
    <p:extLst>
      <p:ext uri="{BB962C8B-B14F-4D97-AF65-F5344CB8AC3E}">
        <p14:creationId xmlns:p14="http://schemas.microsoft.com/office/powerpoint/2010/main" val="27509749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781FA9-E644-03B9-77FF-782A4C40687C}"/>
              </a:ext>
            </a:extLst>
          </p:cNvPr>
          <p:cNvSpPr>
            <a:spLocks noGrp="1"/>
          </p:cNvSpPr>
          <p:nvPr>
            <p:ph type="title"/>
          </p:nvPr>
        </p:nvSpPr>
        <p:spPr/>
        <p:txBody>
          <a:bodyPr/>
          <a:lstStyle/>
          <a:p>
            <a:r>
              <a:rPr lang="en-US"/>
              <a:t>Tim Reeves – First pass review</a:t>
            </a:r>
          </a:p>
        </p:txBody>
      </p:sp>
      <p:sp>
        <p:nvSpPr>
          <p:cNvPr id="3" name="Content Placeholder 2">
            <a:extLst>
              <a:ext uri="{FF2B5EF4-FFF2-40B4-BE49-F238E27FC236}">
                <a16:creationId xmlns:a16="http://schemas.microsoft.com/office/drawing/2014/main" id="{634F0161-CD61-C13A-9E9A-8B56BE98DEEB}"/>
              </a:ext>
            </a:extLst>
          </p:cNvPr>
          <p:cNvSpPr>
            <a:spLocks noGrp="1"/>
          </p:cNvSpPr>
          <p:nvPr>
            <p:ph sz="half" idx="1"/>
          </p:nvPr>
        </p:nvSpPr>
        <p:spPr>
          <a:xfrm>
            <a:off x="609602" y="1600200"/>
            <a:ext cx="11125198" cy="4648199"/>
          </a:xfrm>
        </p:spPr>
        <p:txBody>
          <a:bodyPr/>
          <a:lstStyle/>
          <a:p>
            <a:r>
              <a:rPr lang="en-US" sz="1800"/>
              <a:t>The N320 radio has an input impedance of 50 ohms, so you are left with a couple of choices, you can design the entire system for 50 ohms, all the way from the antenna to the USRP output, or you can use an impedance transformer if you choose to use 75 ohm cables. I would suggest that you make use of 50 ohm characteristic components throughout your entire system.</a:t>
            </a:r>
          </a:p>
          <a:p>
            <a:r>
              <a:rPr lang="en-US" sz="1800"/>
              <a:t>I would encourage you to </a:t>
            </a:r>
            <a:r>
              <a:rPr lang="en-US" sz="1800">
                <a:highlight>
                  <a:srgbClr val="FFFF00"/>
                </a:highlight>
              </a:rPr>
              <a:t>include the antenna </a:t>
            </a:r>
            <a:r>
              <a:rPr lang="en-US" sz="1800"/>
              <a:t>in your analysis, it might make a small difference in the LNA’s gain value.</a:t>
            </a:r>
          </a:p>
          <a:p>
            <a:r>
              <a:rPr lang="en-US" sz="1800"/>
              <a:t>I would encourage you to make use of the </a:t>
            </a:r>
            <a:r>
              <a:rPr lang="en-US" sz="1800">
                <a:highlight>
                  <a:srgbClr val="FFFF00"/>
                </a:highlight>
              </a:rPr>
              <a:t>transmission line elements to model the cables</a:t>
            </a:r>
            <a:r>
              <a:rPr lang="en-US" sz="1800"/>
              <a:t>. Amplifier’s are not bi-directional, and this will have an ever so-slight impact on the RF Budget analysis.</a:t>
            </a:r>
          </a:p>
          <a:p>
            <a:r>
              <a:rPr lang="en-US" sz="1800"/>
              <a:t>Given that this appears to be a receiver system, you may want to </a:t>
            </a:r>
            <a:r>
              <a:rPr lang="en-US" sz="1800">
                <a:highlight>
                  <a:srgbClr val="FFFF00"/>
                </a:highlight>
              </a:rPr>
              <a:t>consider making use of a smaller LC bandpass filter</a:t>
            </a:r>
            <a:r>
              <a:rPr lang="en-US" sz="1800"/>
              <a:t>, rather than the higher performing coaxial cavity filter. I would also suggest that you download the S-parameters for the cavity filter and include them in your initial analysis. An abstracted model of the filter can then be constructed which does not violate a given vendor’s IP. Chebyshev filter’s are typically used in wireless communication transmitters and receivers.</a:t>
            </a:r>
          </a:p>
          <a:p>
            <a:endParaRPr lang="en-US" sz="1800"/>
          </a:p>
          <a:p>
            <a:endParaRPr lang="en-US" sz="1800"/>
          </a:p>
        </p:txBody>
      </p:sp>
    </p:spTree>
    <p:extLst>
      <p:ext uri="{BB962C8B-B14F-4D97-AF65-F5344CB8AC3E}">
        <p14:creationId xmlns:p14="http://schemas.microsoft.com/office/powerpoint/2010/main" val="12116770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C8EA13D-6E5A-B5C0-5159-0D794220559E}"/>
              </a:ext>
            </a:extLst>
          </p:cNvPr>
          <p:cNvSpPr>
            <a:spLocks noGrp="1"/>
          </p:cNvSpPr>
          <p:nvPr>
            <p:ph sz="half" idx="1"/>
          </p:nvPr>
        </p:nvSpPr>
        <p:spPr>
          <a:xfrm>
            <a:off x="457200" y="1447800"/>
            <a:ext cx="11353798" cy="4648199"/>
          </a:xfrm>
        </p:spPr>
        <p:txBody>
          <a:bodyPr/>
          <a:lstStyle/>
          <a:p>
            <a:r>
              <a:rPr lang="en-US"/>
              <a:t>Although it is not going to make any difference to the system performance, you may want to check your SFDR calculations. Third order intermodulation products aren’t going to be a problem for the test system, however, you will want to determine the minimal detectable signal level and the noise power at the output of the LNA. You can get this value from the Noise Power quantity from the RF Budget Analysis.</a:t>
            </a:r>
          </a:p>
          <a:p>
            <a:r>
              <a:rPr lang="en-US"/>
              <a:t>What is the approximate distance that you plan to be away from the CBS tower? That may be a good number to include in the analysis, so that a rough estimate of the power level at the receive antenna can be predicted (When I say rough estimate, this could be +/-10 dB or so, depending on antenna orientation and physical orientation with respect to the antenna).</a:t>
            </a:r>
          </a:p>
        </p:txBody>
      </p:sp>
    </p:spTree>
    <p:extLst>
      <p:ext uri="{BB962C8B-B14F-4D97-AF65-F5344CB8AC3E}">
        <p14:creationId xmlns:p14="http://schemas.microsoft.com/office/powerpoint/2010/main" val="687895551"/>
      </p:ext>
    </p:extLst>
  </p:cSld>
  <p:clrMapOvr>
    <a:masterClrMapping/>
  </p:clrMapOvr>
</p:sld>
</file>

<file path=ppt/theme/theme1.xml><?xml version="1.0" encoding="utf-8"?>
<a:theme xmlns:a="http://schemas.openxmlformats.org/drawingml/2006/main" name="MW_Public_widescreen">
  <a:themeElements>
    <a:clrScheme name="MW">
      <a:dk1>
        <a:srgbClr val="000000"/>
      </a:dk1>
      <a:lt1>
        <a:srgbClr val="FFFFFF"/>
      </a:lt1>
      <a:dk2>
        <a:srgbClr val="0076A8"/>
      </a:dk2>
      <a:lt2>
        <a:srgbClr val="ECF5F8"/>
      </a:lt2>
      <a:accent1>
        <a:srgbClr val="D78824"/>
      </a:accent1>
      <a:accent2>
        <a:srgbClr val="004B87"/>
      </a:accent2>
      <a:accent3>
        <a:srgbClr val="00A9E0"/>
      </a:accent3>
      <a:accent4>
        <a:srgbClr val="F2A900"/>
      </a:accent4>
      <a:accent5>
        <a:srgbClr val="B7302C"/>
      </a:accent5>
      <a:accent6>
        <a:srgbClr val="48A23F"/>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b="1" dirty="0" smtClean="0">
            <a:latin typeface="Arial" pitchFamily="34" charset="0"/>
            <a:cs typeface="Arial"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5">
              <a:lumMod val="7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000" dirty="0">
            <a:latin typeface="Arial" pitchFamily="34" charset="0"/>
            <a:cs typeface="Arial" pitchFamily="34" charset="0"/>
          </a:defRPr>
        </a:defPPr>
      </a:lstStyle>
    </a:txDef>
  </a:objectDefaults>
  <a:extraClrSchemeLst/>
  <a:extLst>
    <a:ext uri="{05A4C25C-085E-4340-85A3-A5531E510DB2}">
      <thm15:themeFamily xmlns:thm15="http://schemas.microsoft.com/office/thememl/2012/main" name="mw_public.potx" id="{77614DB2-AEEA-4C6F-B978-696DC4DCAD1E}" vid="{BAA8EA8E-6A7A-48B5-92CD-28D182738C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a70944c9-f5be-4b0f-89c7-00caf47c665c">
      <Terms xmlns="http://schemas.microsoft.com/office/infopath/2007/PartnerControls"/>
    </lcf76f155ced4ddcb4097134ff3c332f>
    <TaxCatchAll xmlns="19f94994-4311-4823-a682-47492cb9e3e3" xsi:nil="true"/>
    <_ip_UnifiedCompliancePolicyUIAction xmlns="http://schemas.microsoft.com/sharepoint/v3" xsi:nil="true"/>
    <_ip_UnifiedCompliancePolicyProperties xmlns="http://schemas.microsoft.com/sharepoint/v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23E32C3022BA344AE607CE1B766CD2B" ma:contentTypeVersion="20" ma:contentTypeDescription="Create a new document." ma:contentTypeScope="" ma:versionID="5a5fcfb9cc5c272f01249a47aa4133c0">
  <xsd:schema xmlns:xsd="http://www.w3.org/2001/XMLSchema" xmlns:xs="http://www.w3.org/2001/XMLSchema" xmlns:p="http://schemas.microsoft.com/office/2006/metadata/properties" xmlns:ns1="http://schemas.microsoft.com/sharepoint/v3" xmlns:ns2="a70944c9-f5be-4b0f-89c7-00caf47c665c" xmlns:ns3="19f94994-4311-4823-a682-47492cb9e3e3" targetNamespace="http://schemas.microsoft.com/office/2006/metadata/properties" ma:root="true" ma:fieldsID="a22a3b39221887b161ef847201591c90" ns1:_="" ns2:_="" ns3:_="">
    <xsd:import namespace="http://schemas.microsoft.com/sharepoint/v3"/>
    <xsd:import namespace="a70944c9-f5be-4b0f-89c7-00caf47c665c"/>
    <xsd:import namespace="19f94994-4311-4823-a682-47492cb9e3e3"/>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DateTaken" minOccurs="0"/>
                <xsd:element ref="ns2:MediaServiceOCR" minOccurs="0"/>
                <xsd:element ref="ns2:MediaServiceEventHashCode" minOccurs="0"/>
                <xsd:element ref="ns2:MediaServiceGenerationTime" minOccurs="0"/>
                <xsd:element ref="ns2:MediaServiceAutoKeyPoints" minOccurs="0"/>
                <xsd:element ref="ns2:MediaServiceKeyPoints" minOccurs="0"/>
                <xsd:element ref="ns2:MediaLengthInSeconds" minOccurs="0"/>
                <xsd:element ref="ns3:SharedWithUsers" minOccurs="0"/>
                <xsd:element ref="ns3:SharedWithDetails" minOccurs="0"/>
                <xsd:element ref="ns3:TaxCatchAll" minOccurs="0"/>
                <xsd:element ref="ns2:lcf76f155ced4ddcb4097134ff3c332f" minOccurs="0"/>
                <xsd:element ref="ns1:_ip_UnifiedCompliancePolicyProperties" minOccurs="0"/>
                <xsd:element ref="ns1:_ip_UnifiedCompliancePolicyUIAction"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3" nillable="true" ma:displayName="Unified Compliance Policy Properties" ma:hidden="true" ma:internalName="_ip_UnifiedCompliancePolicyProperties">
      <xsd:simpleType>
        <xsd:restriction base="dms:Note"/>
      </xsd:simpleType>
    </xsd:element>
    <xsd:element name="_ip_UnifiedCompliancePolicyUIAction" ma:index="24"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70944c9-f5be-4b0f-89c7-00caf47c665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LengthInSeconds" ma:index="17"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c2fbcc8-9673-4dab-87c4-578ccfafc19c" ma:termSetId="09814cd3-568e-fe90-9814-8d621ff8fb84" ma:anchorId="fba54fb3-c3e1-fe81-a776-ca4b69148c4d" ma:open="true" ma:isKeyword="false">
      <xsd:complexType>
        <xsd:sequence>
          <xsd:element ref="pc:Terms" minOccurs="0" maxOccurs="1"/>
        </xsd:sequence>
      </xsd:complexType>
    </xsd:element>
    <xsd:element name="MediaServiceLocation" ma:index="25" nillable="true" ma:displayName="Location" ma:descrip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9f94994-4311-4823-a682-47492cb9e3e3"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3782cf2d-0c7e-4ff1-a1db-b4d157ce0b53}" ma:internalName="TaxCatchAll" ma:showField="CatchAllData" ma:web="19f94994-4311-4823-a682-47492cb9e3e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B61DF2E-245C-45DF-A9A5-EABECEA4295F}">
  <ds:schemaRefs>
    <ds:schemaRef ds:uri="http://schemas.microsoft.com/sharepoint/v3/contenttype/forms"/>
  </ds:schemaRefs>
</ds:datastoreItem>
</file>

<file path=customXml/itemProps2.xml><?xml version="1.0" encoding="utf-8"?>
<ds:datastoreItem xmlns:ds="http://schemas.openxmlformats.org/officeDocument/2006/customXml" ds:itemID="{73B851B7-D313-4E85-A1E0-5976CFE11EC3}">
  <ds:schemaRefs>
    <ds:schemaRef ds:uri="19f94994-4311-4823-a682-47492cb9e3e3"/>
    <ds:schemaRef ds:uri="a70944c9-f5be-4b0f-89c7-00caf47c665c"/>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D1439A1B-61DB-461C-83F7-A0353C9BF2B7}">
  <ds:schemaRefs>
    <ds:schemaRef ds:uri="19f94994-4311-4823-a682-47492cb9e3e3"/>
    <ds:schemaRef ds:uri="a70944c9-f5be-4b0f-89c7-00caf47c665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blank</Template>
  <TotalTime>0</TotalTime>
  <Words>1237</Words>
  <Application>Microsoft Office PowerPoint</Application>
  <PresentationFormat>Widescreen</PresentationFormat>
  <Paragraphs>455</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Courier New</vt:lpstr>
      <vt:lpstr>Wingdings</vt:lpstr>
      <vt:lpstr>MW_Public_widescreen</vt:lpstr>
      <vt:lpstr>Flight Test: RF Budget Analysis</vt:lpstr>
      <vt:lpstr>RF Budget Analysis Based on Link Budget and Previously estimated requirements</vt:lpstr>
      <vt:lpstr>RF Budget Analysis – Spec out additional filter and amplifier</vt:lpstr>
      <vt:lpstr>Univision Tower  548 - 554 MHz Google Maps Link</vt:lpstr>
      <vt:lpstr>Sample of two DTV Signals (ATSC Modulation)</vt:lpstr>
      <vt:lpstr>CBS Tower Info</vt:lpstr>
      <vt:lpstr>Files used for Analysis</vt:lpstr>
      <vt:lpstr>RF Budget Analysis for Hudson Tower</vt:lpstr>
      <vt:lpstr>RF Budget Analysis for Newton Tower</vt:lpstr>
      <vt:lpstr>Comparative Analysis</vt:lpstr>
      <vt:lpstr>Tim Reeves – First pass review</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Pat Williamson</dc:creator>
  <cp:keywords>Version 23.0</cp:keywords>
  <dc:description/>
  <cp:lastModifiedBy>Pat Williamson</cp:lastModifiedBy>
  <cp:revision>1</cp:revision>
  <dcterms:created xsi:type="dcterms:W3CDTF">2025-12-08T16:02:17Z</dcterms:created>
  <dcterms:modified xsi:type="dcterms:W3CDTF">2026-02-19T18:38:41Z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441712758</vt:i4>
  </property>
  <property fmtid="{D5CDD505-2E9C-101B-9397-08002B2CF9AE}" pid="3" name="_NewReviewCycle">
    <vt:lpwstr/>
  </property>
  <property fmtid="{D5CDD505-2E9C-101B-9397-08002B2CF9AE}" pid="4" name="_EmailSubject">
    <vt:lpwstr>Quick PPT question</vt:lpwstr>
  </property>
  <property fmtid="{D5CDD505-2E9C-101B-9397-08002B2CF9AE}" pid="5" name="_AuthorEmail">
    <vt:lpwstr>Julie.Cornell@mathworks.com</vt:lpwstr>
  </property>
  <property fmtid="{D5CDD505-2E9C-101B-9397-08002B2CF9AE}" pid="6" name="_AuthorEmailDisplayName">
    <vt:lpwstr>Julie Cornell</vt:lpwstr>
  </property>
  <property fmtid="{D5CDD505-2E9C-101B-9397-08002B2CF9AE}" pid="7" name="ContentTypeId">
    <vt:lpwstr>0x010100E23E32C3022BA344AE607CE1B766CD2B</vt:lpwstr>
  </property>
  <property fmtid="{D5CDD505-2E9C-101B-9397-08002B2CF9AE}" pid="8" name="Order">
    <vt:r8>47491500</vt:r8>
  </property>
  <property fmtid="{D5CDD505-2E9C-101B-9397-08002B2CF9AE}" pid="9" name="xd_Signature">
    <vt:bool>false</vt:bool>
  </property>
  <property fmtid="{D5CDD505-2E9C-101B-9397-08002B2CF9AE}" pid="10" name="xd_ProgID">
    <vt:lpwstr/>
  </property>
  <property fmtid="{D5CDD505-2E9C-101B-9397-08002B2CF9AE}" pid="11" name="ComplianceAssetId">
    <vt:lpwstr/>
  </property>
  <property fmtid="{D5CDD505-2E9C-101B-9397-08002B2CF9AE}" pid="12" name="TemplateUrl">
    <vt:lpwstr/>
  </property>
  <property fmtid="{D5CDD505-2E9C-101B-9397-08002B2CF9AE}" pid="13" name="MediaServiceImageTags">
    <vt:lpwstr/>
  </property>
</Properties>
</file>