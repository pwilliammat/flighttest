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8A38-7057-894D-3594-9A5266C2A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0F3D0-3E86-FBFC-C6EC-0F7B66E2C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74B4D-0731-3216-320A-D52D0A67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86E41-DE59-CDE8-875E-74C2CAB3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CA81-2FCC-E60F-5DEB-D9C7503D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5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7DA2-DB87-44AC-A7EF-9E3D0BD5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35D1-B912-F675-D414-79F4231B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C301F-45BC-AAF0-6E19-FF52CEEE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EC66B-9BA9-4046-3F9A-382A9480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B1670-27F1-9B9C-7164-BCF009C5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3344-04C8-8707-6C98-6DE58462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47BC3-4D01-1939-20DD-AF7B37A2E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B6499-DB73-DA4A-FA6F-80A5777B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68761-4C7E-430A-87BC-D5E313D9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B3F31-0171-8A1D-F9D1-2018D3FA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4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D650-BFA1-0BE9-6C02-7DB52EA3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F18B1-483D-A1B8-E003-FF1FC5A51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623BB-95C5-292E-1FBC-6DAE07179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5AF6F-3681-5105-D8AD-C7E4941E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7ADA4-D602-49BB-F9FD-7A6003BC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96B7B-A3B0-F7D5-B5FA-C3D1E720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5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73FD-02D2-027B-0F69-62360A3F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01E82-6748-2F5A-EDBD-E5E68EEDA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2CCBB-489C-3D43-BFE1-BCE634931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9B264-2459-49E6-B43B-63AF465DB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42D2-7DFA-A7AA-A7B2-1C89E56E9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20416-C1C2-FCE2-D8D4-E4027D33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A9E2A-2864-A4F4-E048-22A331B6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02056-CA6D-5D7C-CDD4-43747F136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8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DEBA-B90B-9FBE-89CD-6E14401B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BFC3E-4558-BBBC-2828-E13A52D5B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36900-5DE1-2AB3-D394-BE9525F3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3ACBC-4E4D-B89D-5DE1-C73805ED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3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B9859-5619-D8CD-36E8-AC26D262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95369-9608-D1D1-76A4-E3D3DED4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FB54E-759B-014B-0959-0E97FE5D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7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C96D-5F31-0D3D-21F9-2B5C3ECF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F49F-2576-B042-6C9F-A710BE4A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E5CA8-4FB1-0088-AEF6-7CAC96FE8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50099-4EF3-8892-7A19-2EEF76EE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CAAA-1CF6-BF14-068F-68AEF767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0235A-8209-BE02-6F0C-22202D77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8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DA80-2687-879D-7CF4-91FC9EF0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46BD1-685F-8B22-7F00-CE93A8830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F646F-C141-3921-31F3-AAF9CAFDE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464AE-4B94-C694-3AB2-3FBE94EB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C614D-8413-3462-2E5A-5147C86A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CCD97-B776-AF82-7332-550B4236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4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0D25-93EC-B484-77D7-130F0277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61CB2-6EDE-4DC7-E32B-F7FE771CF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230A4-2FA8-CEF6-1327-834F5074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3A716-FB40-E181-C6F1-48EE9085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B3C39-14A5-FD91-5BA3-55BA57B7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6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B9454-3444-AA97-9034-3FB99D7AA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3A25F-5119-B1C8-41A6-8CEFFF28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2318-92AA-415F-B59F-5710B9656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C53C-39DB-0C7E-782D-F66EC6A3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66C9E-6275-7AD5-1C65-A546E3E6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0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CAF37-AAED-487C-56ED-26C05FB5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0A63A-989A-3326-3D2C-E9E4C8F9E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2562-0D8D-BAA7-EBC1-3A71CC180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FA8FC-CE09-4681-9C33-0DC8E1184EB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B4CE5-95A8-52E1-DB8A-B12796B99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71DF-776C-C8EA-C804-F4D063BE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7B60E-0A1B-4DBB-9EC5-3083EC55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8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EADBA-EA4C-2EC1-D84B-B90D88C248ED}"/>
              </a:ext>
            </a:extLst>
          </p:cNvPr>
          <p:cNvSpPr txBox="1"/>
          <p:nvPr/>
        </p:nvSpPr>
        <p:spPr>
          <a:xfrm>
            <a:off x="457200" y="203200"/>
            <a:ext cx="112776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2400" b="1">
                <a:solidFill>
                  <a:srgbClr val="1F2937"/>
                </a:solidFill>
                <a:latin typeface="Aptos" panose="020B0004020202020204" pitchFamily="34" charset="0"/>
              </a:rPr>
              <a:t>BistaticDataAnalysis Active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B4EDF-3DB0-C238-1A53-ECE9D2A5A0CF}"/>
              </a:ext>
            </a:extLst>
          </p:cNvPr>
          <p:cNvSpPr txBox="1"/>
          <p:nvPr/>
        </p:nvSpPr>
        <p:spPr>
          <a:xfrm>
            <a:off x="914400" y="609600"/>
            <a:ext cx="10363200" cy="24622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Top-level entrypoint inside folder: runBistaticAnalysisSession.m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91985-ECEF-9A8D-7A1F-6BA5E5B53E46}"/>
              </a:ext>
            </a:extLst>
          </p:cNvPr>
          <p:cNvSpPr txBox="1"/>
          <p:nvPr/>
        </p:nvSpPr>
        <p:spPr>
          <a:xfrm>
            <a:off x="355600" y="863600"/>
            <a:ext cx="5334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475569"/>
                </a:solidFill>
                <a:latin typeface="Aptos" panose="020B0004020202020204" pitchFamily="34" charset="0"/>
              </a:rPr>
              <a:t>Mainline: IQ to Range-Doppler tracks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FC059-7DD3-169D-2CDE-0633D93874BC}"/>
              </a:ext>
            </a:extLst>
          </p:cNvPr>
          <p:cNvSpPr txBox="1"/>
          <p:nvPr/>
        </p:nvSpPr>
        <p:spPr>
          <a:xfrm>
            <a:off x="3835400" y="3556000"/>
            <a:ext cx="5080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7C3AED"/>
                </a:solidFill>
                <a:latin typeface="Aptos" panose="020B0004020202020204" pitchFamily="34" charset="0"/>
              </a:rPr>
              <a:t>Truth branch: ADS-B evaluation of detector outputs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DA30BF80-1963-020F-9C15-D8C4B8DAF3E8}"/>
              </a:ext>
            </a:extLst>
          </p:cNvPr>
          <p:cNvSpPr/>
          <p:nvPr/>
        </p:nvSpPr>
        <p:spPr>
          <a:xfrm>
            <a:off x="127000" y="1219200"/>
            <a:ext cx="1143000" cy="1041400"/>
          </a:xfrm>
          <a:prstGeom prst="flowChartInputOutput">
            <a:avLst/>
          </a:prstGeom>
          <a:solidFill>
            <a:srgbClr val="204E79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Session
inputs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28A26C9-8246-40D4-7190-DCD2E63A8640}"/>
              </a:ext>
            </a:extLst>
          </p:cNvPr>
          <p:cNvSpPr/>
          <p:nvPr/>
        </p:nvSpPr>
        <p:spPr>
          <a:xfrm>
            <a:off x="1346200" y="1219200"/>
            <a:ext cx="1092200" cy="1041400"/>
          </a:xfrm>
          <a:prstGeom prst="flowChartProcess">
            <a:avLst/>
          </a:prstGeom>
          <a:solidFill>
            <a:srgbClr val="0B5E9D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runBistatic
Analysis
Session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368DEB62-B818-73E0-EDD3-C1EC48EAB2C6}"/>
              </a:ext>
            </a:extLst>
          </p:cNvPr>
          <p:cNvSpPr/>
          <p:nvPr/>
        </p:nvSpPr>
        <p:spPr>
          <a:xfrm>
            <a:off x="2514600" y="1219200"/>
            <a:ext cx="1422400" cy="1041400"/>
          </a:xfrm>
          <a:prstGeom prst="flowChartProcess">
            <a:avLst/>
          </a:prstGeom>
          <a:solidFill>
            <a:srgbClr val="087E8B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analyzeBistaticData
+ processOnePart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B7AAE8C-B12B-4408-7182-938A1357806B}"/>
              </a:ext>
            </a:extLst>
          </p:cNvPr>
          <p:cNvSpPr/>
          <p:nvPr/>
        </p:nvSpPr>
        <p:spPr>
          <a:xfrm>
            <a:off x="4013200" y="1219200"/>
            <a:ext cx="1016000" cy="1041400"/>
          </a:xfrm>
          <a:prstGeom prst="flowChartProcess">
            <a:avLst/>
          </a:prstGeom>
          <a:solidFill>
            <a:srgbClr val="485C76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 panose="020B0004020202020204" pitchFamily="34" charset="0"/>
              </a:rPr>
              <a:t>loadIQData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345EF557-5586-77C7-DC88-862B1196FD66}"/>
              </a:ext>
            </a:extLst>
          </p:cNvPr>
          <p:cNvSpPr/>
          <p:nvPr/>
        </p:nvSpPr>
        <p:spPr>
          <a:xfrm>
            <a:off x="5105400" y="1219200"/>
            <a:ext cx="1270000" cy="1041400"/>
          </a:xfrm>
          <a:prstGeom prst="flowChartProcess">
            <a:avLst/>
          </a:prstGeom>
          <a:solidFill>
            <a:srgbClr val="54697F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checkRefQuality
+ DPI lag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BE56836-C9E0-0F84-C7B1-4CECCBA3E5F5}"/>
              </a:ext>
            </a:extLst>
          </p:cNvPr>
          <p:cNvSpPr/>
          <p:nvPr/>
        </p:nvSpPr>
        <p:spPr>
          <a:xfrm>
            <a:off x="6451600" y="1219200"/>
            <a:ext cx="1371600" cy="1041400"/>
          </a:xfrm>
          <a:prstGeom prst="flowChartProcess">
            <a:avLst/>
          </a:prstGeom>
          <a:solidFill>
            <a:srgbClr val="64748B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mitigateClutter
+ createRDM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6F70C525-AE2F-C7CE-AEC5-4B2D48612E6E}"/>
              </a:ext>
            </a:extLst>
          </p:cNvPr>
          <p:cNvSpPr/>
          <p:nvPr/>
        </p:nvSpPr>
        <p:spPr>
          <a:xfrm>
            <a:off x="7899400" y="1219200"/>
            <a:ext cx="1397000" cy="1041400"/>
          </a:xfrm>
          <a:prstGeom prst="flowChartProcess">
            <a:avLst/>
          </a:prstGeom>
          <a:solidFill>
            <a:srgbClr val="D97706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NCI + whitening
+ detectTargets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0FB97881-1E41-0EEB-C7F9-18C4BED725C2}"/>
              </a:ext>
            </a:extLst>
          </p:cNvPr>
          <p:cNvSpPr/>
          <p:nvPr/>
        </p:nvSpPr>
        <p:spPr>
          <a:xfrm>
            <a:off x="9372600" y="1219200"/>
            <a:ext cx="1092200" cy="1041400"/>
          </a:xfrm>
          <a:prstGeom prst="flowChartProcess">
            <a:avLst/>
          </a:prstGeom>
          <a:solidFill>
            <a:srgbClr val="B45309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Aggregate
detections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32AFE3E9-3959-5469-A47F-016BA2123383}"/>
              </a:ext>
            </a:extLst>
          </p:cNvPr>
          <p:cNvSpPr/>
          <p:nvPr/>
        </p:nvSpPr>
        <p:spPr>
          <a:xfrm>
            <a:off x="10541000" y="1219200"/>
            <a:ext cx="1524000" cy="1041400"/>
          </a:xfrm>
          <a:prstGeom prst="flowChartProcess">
            <a:avLst/>
          </a:prstGeom>
          <a:solidFill>
            <a:srgbClr val="15803D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trackTargets + init KF
+ RD viewers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40511-D3BC-D1D6-0DFE-F540E6387C31}"/>
              </a:ext>
            </a:extLst>
          </p:cNvPr>
          <p:cNvCxnSpPr/>
          <p:nvPr/>
        </p:nvCxnSpPr>
        <p:spPr>
          <a:xfrm>
            <a:off x="12700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C71E4F-2A29-8B36-BFF5-4D821ACEC396}"/>
              </a:ext>
            </a:extLst>
          </p:cNvPr>
          <p:cNvCxnSpPr/>
          <p:nvPr/>
        </p:nvCxnSpPr>
        <p:spPr>
          <a:xfrm>
            <a:off x="24384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E9B993-6644-0DB7-4F0A-EFE4D00C29DF}"/>
              </a:ext>
            </a:extLst>
          </p:cNvPr>
          <p:cNvCxnSpPr/>
          <p:nvPr/>
        </p:nvCxnSpPr>
        <p:spPr>
          <a:xfrm>
            <a:off x="39370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36C475-E087-1041-071E-E2C44E9E8AAC}"/>
              </a:ext>
            </a:extLst>
          </p:cNvPr>
          <p:cNvCxnSpPr/>
          <p:nvPr/>
        </p:nvCxnSpPr>
        <p:spPr>
          <a:xfrm>
            <a:off x="50292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DD44C5-EBB3-27FA-61E4-53B98A1C278F}"/>
              </a:ext>
            </a:extLst>
          </p:cNvPr>
          <p:cNvCxnSpPr/>
          <p:nvPr/>
        </p:nvCxnSpPr>
        <p:spPr>
          <a:xfrm>
            <a:off x="63754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C65094-DAAB-14E4-BB72-A04B713EBE7D}"/>
              </a:ext>
            </a:extLst>
          </p:cNvPr>
          <p:cNvCxnSpPr/>
          <p:nvPr/>
        </p:nvCxnSpPr>
        <p:spPr>
          <a:xfrm>
            <a:off x="78232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C43CF7-72DD-73D7-F09A-DF35FF6259EA}"/>
              </a:ext>
            </a:extLst>
          </p:cNvPr>
          <p:cNvCxnSpPr/>
          <p:nvPr/>
        </p:nvCxnSpPr>
        <p:spPr>
          <a:xfrm>
            <a:off x="92964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2D4472-EFB1-B29D-C827-0A6D5CC10CB3}"/>
              </a:ext>
            </a:extLst>
          </p:cNvPr>
          <p:cNvCxnSpPr/>
          <p:nvPr/>
        </p:nvCxnSpPr>
        <p:spPr>
          <a:xfrm>
            <a:off x="10464800" y="1739900"/>
            <a:ext cx="76200" cy="0"/>
          </a:xfrm>
          <a:prstGeom prst="line">
            <a:avLst/>
          </a:prstGeom>
          <a:ln w="25400">
            <a:solidFill>
              <a:srgbClr val="6B728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3A191166-62FE-D426-C813-27725E549E27}"/>
              </a:ext>
            </a:extLst>
          </p:cNvPr>
          <p:cNvSpPr/>
          <p:nvPr/>
        </p:nvSpPr>
        <p:spPr>
          <a:xfrm>
            <a:off x="9359900" y="3886200"/>
            <a:ext cx="1117600" cy="889000"/>
          </a:xfrm>
          <a:prstGeom prst="flowChartProcess">
            <a:avLst/>
          </a:prstGeom>
          <a:solidFill>
            <a:srgbClr val="9370DB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975" b="1">
                <a:solidFill>
                  <a:srgbClr val="FFFFFF"/>
                </a:solidFill>
                <a:latin typeface="Aptos" panose="020B0004020202020204" pitchFamily="34" charset="0"/>
              </a:rPr>
              <a:t>assessTruthVs
Detections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F00C274-4E45-792F-0EC1-02F4E3A91C8B}"/>
              </a:ext>
            </a:extLst>
          </p:cNvPr>
          <p:cNvSpPr/>
          <p:nvPr/>
        </p:nvSpPr>
        <p:spPr>
          <a:xfrm>
            <a:off x="10629900" y="3886200"/>
            <a:ext cx="1219200" cy="889000"/>
          </a:xfrm>
          <a:prstGeom prst="flowChartProcess">
            <a:avLst/>
          </a:prstGeom>
          <a:solidFill>
            <a:srgbClr val="6D28D9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runDetectionTruth
Diagnostics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64FF2B94-70CC-653B-A900-151DCC23727B}"/>
              </a:ext>
            </a:extLst>
          </p:cNvPr>
          <p:cNvSpPr/>
          <p:nvPr/>
        </p:nvSpPr>
        <p:spPr>
          <a:xfrm>
            <a:off x="8166100" y="3886200"/>
            <a:ext cx="1041400" cy="889000"/>
          </a:xfrm>
          <a:prstGeom prst="flowChartProcess">
            <a:avLst/>
          </a:prstGeom>
          <a:solidFill>
            <a:srgbClr val="8B5CF6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975" b="1">
                <a:solidFill>
                  <a:srgbClr val="FFFFFF"/>
                </a:solidFill>
                <a:latin typeface="Aptos" panose="020B0004020202020204" pitchFamily="34" charset="0"/>
              </a:rPr>
              <a:t>alignTruthTo
Radar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7BA233F5-BB72-7AA8-F785-EB7CDDA02F59}"/>
              </a:ext>
            </a:extLst>
          </p:cNvPr>
          <p:cNvSpPr/>
          <p:nvPr/>
        </p:nvSpPr>
        <p:spPr>
          <a:xfrm>
            <a:off x="6972300" y="3886200"/>
            <a:ext cx="1041400" cy="889000"/>
          </a:xfrm>
          <a:prstGeom prst="flowChartProcess">
            <a:avLst/>
          </a:prstGeom>
          <a:solidFill>
            <a:srgbClr val="7E3AF2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adsbToBistatic</a:t>
            </a: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CEC66BB4-23E4-5C85-ED45-BC3EA82DA249}"/>
              </a:ext>
            </a:extLst>
          </p:cNvPr>
          <p:cNvSpPr/>
          <p:nvPr/>
        </p:nvSpPr>
        <p:spPr>
          <a:xfrm>
            <a:off x="5651500" y="3886200"/>
            <a:ext cx="1168400" cy="889000"/>
          </a:xfrm>
          <a:prstGeom prst="flowChartProcess">
            <a:avLst/>
          </a:prstGeom>
          <a:solidFill>
            <a:srgbClr val="6D28D9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loadADSBTruth
+ getRadarEpoch</a:t>
            </a:r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8E35857D-8B73-CADB-7356-B72ED790B2B8}"/>
              </a:ext>
            </a:extLst>
          </p:cNvPr>
          <p:cNvSpPr/>
          <p:nvPr/>
        </p:nvSpPr>
        <p:spPr>
          <a:xfrm>
            <a:off x="4457700" y="3886200"/>
            <a:ext cx="1041400" cy="889000"/>
          </a:xfrm>
          <a:prstGeom prst="flowChartInputOutput">
            <a:avLst/>
          </a:prstGeom>
          <a:solidFill>
            <a:srgbClr val="5B21B6"/>
          </a:solidFill>
          <a:ln w="1778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025" b="1">
                <a:solidFill>
                  <a:srgbClr val="FFFFFF"/>
                </a:solidFill>
                <a:latin typeface="Aptos" panose="020B0004020202020204" pitchFamily="34" charset="0"/>
              </a:rPr>
              <a:t>ADS-B
truth files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43E77-812A-7A07-348E-3232D350F1AE}"/>
              </a:ext>
            </a:extLst>
          </p:cNvPr>
          <p:cNvCxnSpPr/>
          <p:nvPr/>
        </p:nvCxnSpPr>
        <p:spPr>
          <a:xfrm>
            <a:off x="5499100" y="4330700"/>
            <a:ext cx="152400" cy="0"/>
          </a:xfrm>
          <a:prstGeom prst="line">
            <a:avLst/>
          </a:prstGeom>
          <a:ln w="25400">
            <a:solidFill>
              <a:srgbClr val="7C3AE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C36A56-E205-09B2-6FE1-1EA80275EDD8}"/>
              </a:ext>
            </a:extLst>
          </p:cNvPr>
          <p:cNvCxnSpPr/>
          <p:nvPr/>
        </p:nvCxnSpPr>
        <p:spPr>
          <a:xfrm>
            <a:off x="6819900" y="4330700"/>
            <a:ext cx="152400" cy="0"/>
          </a:xfrm>
          <a:prstGeom prst="line">
            <a:avLst/>
          </a:prstGeom>
          <a:ln w="25400">
            <a:solidFill>
              <a:srgbClr val="7C3AE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41C6CA-4B64-FF29-A7E6-28E7716C0F49}"/>
              </a:ext>
            </a:extLst>
          </p:cNvPr>
          <p:cNvCxnSpPr/>
          <p:nvPr/>
        </p:nvCxnSpPr>
        <p:spPr>
          <a:xfrm>
            <a:off x="8013700" y="4330700"/>
            <a:ext cx="152400" cy="0"/>
          </a:xfrm>
          <a:prstGeom prst="line">
            <a:avLst/>
          </a:prstGeom>
          <a:ln w="25400">
            <a:solidFill>
              <a:srgbClr val="7C3AE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C707F7-429A-01C9-68C4-3A43EEE78202}"/>
              </a:ext>
            </a:extLst>
          </p:cNvPr>
          <p:cNvCxnSpPr/>
          <p:nvPr/>
        </p:nvCxnSpPr>
        <p:spPr>
          <a:xfrm>
            <a:off x="9207500" y="4330700"/>
            <a:ext cx="152400" cy="0"/>
          </a:xfrm>
          <a:prstGeom prst="line">
            <a:avLst/>
          </a:prstGeom>
          <a:ln w="25400">
            <a:solidFill>
              <a:srgbClr val="7C3AE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02502D1-EDD4-C302-1521-33FD8FEBC2ED}"/>
              </a:ext>
            </a:extLst>
          </p:cNvPr>
          <p:cNvCxnSpPr/>
          <p:nvPr/>
        </p:nvCxnSpPr>
        <p:spPr>
          <a:xfrm>
            <a:off x="10477500" y="4330700"/>
            <a:ext cx="152400" cy="0"/>
          </a:xfrm>
          <a:prstGeom prst="line">
            <a:avLst/>
          </a:prstGeom>
          <a:ln w="25400">
            <a:solidFill>
              <a:srgbClr val="7C3AE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8EEB545-C1E9-0D38-B559-EC5FF7F75A33}"/>
              </a:ext>
            </a:extLst>
          </p:cNvPr>
          <p:cNvCxnSpPr/>
          <p:nvPr/>
        </p:nvCxnSpPr>
        <p:spPr>
          <a:xfrm>
            <a:off x="9918700" y="2260600"/>
            <a:ext cx="0" cy="1625600"/>
          </a:xfrm>
          <a:prstGeom prst="line">
            <a:avLst/>
          </a:prstGeom>
          <a:ln w="25400">
            <a:solidFill>
              <a:srgbClr val="7C3AED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A0A36F-DE78-AF63-5B72-CB84E741C163}"/>
              </a:ext>
            </a:extLst>
          </p:cNvPr>
          <p:cNvSpPr txBox="1"/>
          <p:nvPr/>
        </p:nvSpPr>
        <p:spPr>
          <a:xfrm>
            <a:off x="9029700" y="2946400"/>
            <a:ext cx="1778000" cy="38472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950" b="1">
                <a:solidFill>
                  <a:srgbClr val="7C3AED"/>
                </a:solidFill>
                <a:latin typeface="Aptos" panose="020B0004020202020204" pitchFamily="34" charset="0"/>
              </a:rPr>
              <a:t>detections
for evaluation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E3A488-8DE4-43B4-B84B-48268EA8A509}"/>
              </a:ext>
            </a:extLst>
          </p:cNvPr>
          <p:cNvSpPr txBox="1"/>
          <p:nvPr/>
        </p:nvSpPr>
        <p:spPr>
          <a:xfrm>
            <a:off x="2133600" y="5867400"/>
            <a:ext cx="79248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900">
                <a:solidFill>
                  <a:srgbClr val="475569"/>
                </a:solidFill>
                <a:latin typeface="Aptos" panose="020B0004020202020204" pitchFamily="34" charset="0"/>
              </a:rPr>
              <a:t>Truth branch evaluates detector outputs; it does not feed back into detection generation.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A3C963-3D78-1C6F-5E18-A9E4EFE75C96}"/>
              </a:ext>
            </a:extLst>
          </p:cNvPr>
          <p:cNvSpPr txBox="1"/>
          <p:nvPr/>
        </p:nvSpPr>
        <p:spPr>
          <a:xfrm>
            <a:off x="1524000" y="6273800"/>
            <a:ext cx="9144000" cy="22313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850">
                <a:solidFill>
                  <a:srgbClr val="475569"/>
                </a:solidFill>
                <a:latin typeface="Aptos" panose="020B0004020202020204" pitchFamily="34" charset="0"/>
              </a:rPr>
              <a:t>Source: runBistaticAnalysisSession, analyzeBistaticData, processOnePart, trackTargets, and ADS-B truth evaluation helpers</a:t>
            </a:r>
          </a:p>
        </p:txBody>
      </p:sp>
    </p:spTree>
    <p:extLst>
      <p:ext uri="{BB962C8B-B14F-4D97-AF65-F5344CB8AC3E}">
        <p14:creationId xmlns:p14="http://schemas.microsoft.com/office/powerpoint/2010/main" val="395546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 Williamson</dc:creator>
  <cp:lastModifiedBy>Pat Williamson</cp:lastModifiedBy>
  <cp:revision>1</cp:revision>
  <dcterms:created xsi:type="dcterms:W3CDTF">2026-07-13T16:06:56Z</dcterms:created>
  <dcterms:modified xsi:type="dcterms:W3CDTF">2026-07-13T16:06:56Z</dcterms:modified>
</cp:coreProperties>
</file>